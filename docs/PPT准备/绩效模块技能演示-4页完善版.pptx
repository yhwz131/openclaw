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55秒。完整绩效管理还包括目标设定、过程辅导和改进跟踪，一期只聚焦最适合标准化的360反馈聚合。脚本负责校验与计算，Agent负责理解评语，人负责最终评级。系统不输出S/A/B/C/D，产物只作为主管面谈和校准复核的输入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约1分15秒。DOCX反馈先解析为JSON，评价人姓名被物理改写为角色代号。check_feedback检查字段、五维、1到5整数，并确认至少有上级和自评；失败列出问题并exit 1。aggregate再跑同一套规则，防止绕过前置检查。平均分、最小值、最大值和视角极差全部由脚本计算，aggregated-data.json是下游唯一数字基准。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1分20秒。极差大于等于1.0只触发疑似分歧，不是业务结论。员工1责任心极差刚好1.00，机械层触发关注；但读完评语后发现各方都认可其负责，只对责任范围是否延伸到复盘和协作期待不同，语义层将其归为共识。看板数字只取aggregated-data.json，判定和卡片只取aggregated-report.md，自身不重新算分，也不输出评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约3分钟。先运行yuangong1-noself-demo，脚本指出缺少self并exit 1，不产生聚合结果。再切换完整yuangong1，展示四类视角和角色代号，运行aggregate生成唯一数字基准，最后打开Canvas看板，确认有雷达图、对照表、共识和分歧，但没有S/A/B/C/D评级。收口：脚本保证完整和稳定，Agent帮助理解反馈，人保留最终决定。培训若已保留手写代码，本模块只运行现有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01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05  PERFORMANCE · POSITIONING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绩效 Agent：把360反馈转化为可复核的面谈材料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一期聚焦360反馈聚合，不替代目标管理，也不输出S/A/B/C/D最终评级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2194560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0D8FF"/>
                </a:solidFill>
                <a:latin typeface="微软雅黑"/>
                <a:ea typeface="微软雅黑"/>
              </a:rPr>
              <a:t>反馈摄入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084832" y="2478024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304288" y="21945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04288" y="2194560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00D8FF"/>
                </a:solidFill>
                <a:latin typeface="微软雅黑"/>
                <a:ea typeface="微软雅黑"/>
              </a:rPr>
              <a:t>评价人脱敏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950208" y="2478024"/>
            <a:ext cx="18288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169664" y="21945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9664" y="2194560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A421"/>
                </a:solidFill>
                <a:latin typeface="微软雅黑"/>
                <a:ea typeface="微软雅黑"/>
              </a:rPr>
              <a:t>数据校验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815584" y="2478024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035040" y="21945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0" y="2194560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FFA421"/>
                </a:solidFill>
                <a:latin typeface="微软雅黑"/>
                <a:ea typeface="微软雅黑"/>
              </a:rPr>
              <a:t>机械聚合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680960" y="2478024"/>
            <a:ext cx="18288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900416" y="21945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0416" y="2194560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8C7CFF"/>
                </a:solidFill>
                <a:latin typeface="微软雅黑"/>
                <a:ea typeface="微软雅黑"/>
              </a:rPr>
              <a:t>语义分析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546336" y="2478024"/>
            <a:ext cx="182880" cy="0"/>
          </a:xfrm>
          <a:prstGeom prst="line">
            <a:avLst/>
          </a:prstGeom>
          <a:ln w="13970">
            <a:solidFill>
              <a:srgbClr val="8C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765792" y="2194560"/>
            <a:ext cx="1645920" cy="56692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65792" y="2194560"/>
            <a:ext cx="16459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26D098"/>
                </a:solidFill>
                <a:latin typeface="微软雅黑"/>
                <a:ea typeface="微软雅黑"/>
              </a:rPr>
              <a:t>HTML看板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8912" y="3154680"/>
            <a:ext cx="3566160" cy="1609344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8912" y="3154680"/>
            <a:ext cx="73152" cy="1609344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" y="3282696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D8FF"/>
                </a:solidFill>
                <a:latin typeface="微软雅黑"/>
                <a:ea typeface="微软雅黑"/>
              </a:rPr>
              <a:t>脚本负责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" y="3685032"/>
            <a:ext cx="3200400" cy="9692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校验结构与分值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计算平均分、极差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形成唯一数字基准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97680" y="3154680"/>
            <a:ext cx="3566160" cy="1609344"/>
          </a:xfrm>
          <a:prstGeom prst="roundRect">
            <a:avLst>
              <a:gd name="adj" fmla="val 8000"/>
            </a:avLst>
          </a:prstGeom>
          <a:solidFill>
            <a:srgbClr val="201B55">
              <a:alpha val="97000"/>
            </a:srgbClr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7680" y="3154680"/>
            <a:ext cx="73152" cy="1609344"/>
          </a:xfrm>
          <a:prstGeom prst="rect">
            <a:avLst/>
          </a:prstGeom>
          <a:solidFill>
            <a:srgbClr val="8C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80560" y="3282696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C7CFF"/>
                </a:solidFill>
                <a:latin typeface="微软雅黑"/>
                <a:ea typeface="微软雅黑"/>
              </a:rPr>
              <a:t>Agent负责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80560" y="3685032"/>
            <a:ext cx="3200400" cy="9692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读取多方评语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分析共识与分歧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生成面谈问题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56448" y="3154680"/>
            <a:ext cx="3566160" cy="1609344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56448" y="3154680"/>
            <a:ext cx="73152" cy="1609344"/>
          </a:xfrm>
          <a:prstGeom prst="rect">
            <a:avLst/>
          </a:prstGeom>
          <a:solidFill>
            <a:srgbClr val="FFA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39328" y="3282696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A421"/>
                </a:solidFill>
                <a:latin typeface="微软雅黑"/>
                <a:ea typeface="微软雅黑"/>
              </a:rPr>
              <a:t>人工负责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39328" y="3685032"/>
            <a:ext cx="3200400" cy="9692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直接主管初评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隔级主管复核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200" b="0">
                <a:solidFill>
                  <a:srgbClr val="E9F8FF"/>
                </a:solidFill>
                <a:latin typeface="微软雅黑"/>
                <a:ea typeface="微软雅黑"/>
              </a:rPr>
              <a:t>校准会确认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8912" y="5102352"/>
            <a:ext cx="11301984" cy="877824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15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5230368"/>
            <a:ext cx="1088136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15A66"/>
                </a:solidFill>
                <a:latin typeface="微软雅黑"/>
                <a:ea typeface="微软雅黑"/>
              </a:rPr>
              <a:t>明确边界｜聚合数据 + 综合分析 + 看板 = 面谈输入材料 ≠ 绩效评级结果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02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05  DATA GATE · DETERMINISTIC AGGREGATION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先脱敏、再校验、后聚合：不让脏数据进入评分基准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评价人身份最小化｜check前置闸门｜aggregate二次校验｜数字全部由脚本计算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2029968" cy="93268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" y="231343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" y="2276856"/>
            <a:ext cx="1353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80" b="1">
                <a:solidFill>
                  <a:srgbClr val="E9F8FF"/>
                </a:solidFill>
                <a:latin typeface="微软雅黑"/>
                <a:ea typeface="微软雅黑"/>
              </a:rPr>
              <a:t>压缩包摄入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2651760"/>
            <a:ext cx="17007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9EC2D8"/>
                </a:solidFill>
                <a:latin typeface="微软雅黑"/>
                <a:ea typeface="微软雅黑"/>
              </a:rPr>
              <a:t>DOCX → JSON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68880" y="2660904"/>
            <a:ext cx="22860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724912" y="2194560"/>
            <a:ext cx="2029968" cy="93268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2072" y="231343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00D8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27832" y="2276856"/>
            <a:ext cx="1353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80" b="1">
                <a:solidFill>
                  <a:srgbClr val="E9F8FF"/>
                </a:solidFill>
                <a:latin typeface="微软雅黑"/>
                <a:ea typeface="微软雅黑"/>
              </a:rPr>
              <a:t>角色代号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9504" y="2651760"/>
            <a:ext cx="17007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9EC2D8"/>
                </a:solidFill>
                <a:latin typeface="微软雅黑"/>
                <a:ea typeface="微软雅黑"/>
              </a:rPr>
              <a:t>物理脱敏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754880" y="2660904"/>
            <a:ext cx="228600" cy="0"/>
          </a:xfrm>
          <a:prstGeom prst="line">
            <a:avLst/>
          </a:prstGeom>
          <a:ln w="13970">
            <a:solidFill>
              <a:srgbClr val="00D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010912" y="2194560"/>
            <a:ext cx="2029968" cy="93268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48072" y="231343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FA421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13832" y="2276856"/>
            <a:ext cx="1353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80" b="1">
                <a:solidFill>
                  <a:srgbClr val="E9F8FF"/>
                </a:solidFill>
                <a:latin typeface="微软雅黑"/>
                <a:ea typeface="微软雅黑"/>
              </a:rPr>
              <a:t>前置校验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75504" y="2651760"/>
            <a:ext cx="17007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9EC2D8"/>
                </a:solidFill>
                <a:latin typeface="微软雅黑"/>
                <a:ea typeface="微软雅黑"/>
              </a:rPr>
              <a:t>退出码 0 / 1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040880" y="2660904"/>
            <a:ext cx="22860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296912" y="2194560"/>
            <a:ext cx="2029968" cy="93268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34072" y="231343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FFA421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99832" y="2276856"/>
            <a:ext cx="1353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80" b="1">
                <a:solidFill>
                  <a:srgbClr val="E9F8FF"/>
                </a:solidFill>
                <a:latin typeface="微软雅黑"/>
                <a:ea typeface="微软雅黑"/>
              </a:rPr>
              <a:t>二次校验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61504" y="2651760"/>
            <a:ext cx="17007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9EC2D8"/>
                </a:solidFill>
                <a:latin typeface="微软雅黑"/>
                <a:ea typeface="微软雅黑"/>
              </a:rPr>
              <a:t>拒绝绕过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326880" y="2660904"/>
            <a:ext cx="228600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582912" y="2194560"/>
            <a:ext cx="2029968" cy="932688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20072" y="2313432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26D098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85832" y="2276856"/>
            <a:ext cx="1353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80" b="1">
                <a:solidFill>
                  <a:srgbClr val="E9F8FF"/>
                </a:solidFill>
                <a:latin typeface="微软雅黑"/>
                <a:ea typeface="微软雅黑"/>
              </a:rPr>
              <a:t>机械聚合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47504" y="2651760"/>
            <a:ext cx="17007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0">
                <a:solidFill>
                  <a:srgbClr val="9EC2D8"/>
                </a:solidFill>
                <a:latin typeface="微软雅黑"/>
                <a:ea typeface="微软雅黑"/>
              </a:rPr>
              <a:t>唯一数字基准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8912" y="3456432"/>
            <a:ext cx="3584448" cy="1417320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" y="3456432"/>
            <a:ext cx="73152" cy="14173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1792" y="3584448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D8FF"/>
                </a:solidFill>
                <a:latin typeface="微软雅黑"/>
                <a:ea typeface="微软雅黑"/>
              </a:rPr>
              <a:t>身份最小化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3986784"/>
            <a:ext cx="321868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80" b="0">
                <a:solidFill>
                  <a:srgbClr val="E9F8FF"/>
                </a:solidFill>
                <a:latin typeface="微软雅黑"/>
                <a:ea typeface="微软雅黑"/>
              </a:rPr>
              <a:t>领导1 · 同事1 · 下属1 · 自评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80" b="0">
                <a:solidFill>
                  <a:srgbClr val="E9F8FF"/>
                </a:solidFill>
                <a:latin typeface="微软雅黑"/>
                <a:ea typeface="微软雅黑"/>
              </a:rPr>
              <a:t>真人姓名不进入报告和看板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97680" y="3456432"/>
            <a:ext cx="3584448" cy="1417320"/>
          </a:xfrm>
          <a:prstGeom prst="roundRect">
            <a:avLst>
              <a:gd name="adj" fmla="val 8000"/>
            </a:avLst>
          </a:prstGeom>
          <a:solidFill>
            <a:srgbClr val="561726">
              <a:alpha val="97000"/>
            </a:srgbClr>
          </a:solidFill>
          <a:ln w="12700">
            <a:solidFill>
              <a:srgbClr val="F15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97680" y="3456432"/>
            <a:ext cx="73152" cy="1417320"/>
          </a:xfrm>
          <a:prstGeom prst="rect">
            <a:avLst/>
          </a:prstGeom>
          <a:solidFill>
            <a:srgbClr val="F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0560" y="3584448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15A66"/>
                </a:solidFill>
                <a:latin typeface="微软雅黑"/>
                <a:ea typeface="微软雅黑"/>
              </a:rPr>
              <a:t>完整性闸门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3986784"/>
            <a:ext cx="321868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80" b="0">
                <a:solidFill>
                  <a:srgbClr val="E9F8FF"/>
                </a:solidFill>
                <a:latin typeface="微软雅黑"/>
                <a:ea typeface="微软雅黑"/>
              </a:rPr>
              <a:t>五维完整 · 评分1—5整数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80" b="0">
                <a:solidFill>
                  <a:srgbClr val="E9F8FF"/>
                </a:solidFill>
                <a:latin typeface="微软雅黑"/>
                <a:ea typeface="微软雅黑"/>
              </a:rPr>
              <a:t>至少有上级 + 自评｜失败 exit 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56448" y="3456432"/>
            <a:ext cx="3584448" cy="1417320"/>
          </a:xfrm>
          <a:prstGeom prst="roundRect">
            <a:avLst>
              <a:gd name="adj" fmla="val 8000"/>
            </a:avLst>
          </a:prstGeom>
          <a:solidFill>
            <a:srgbClr val="085057">
              <a:alpha val="97000"/>
            </a:srgbClr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56448" y="3456432"/>
            <a:ext cx="73152" cy="1417320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39328" y="3584448"/>
            <a:ext cx="321868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6D098"/>
                </a:solidFill>
                <a:latin typeface="微软雅黑"/>
                <a:ea typeface="微软雅黑"/>
              </a:rPr>
              <a:t>确定性计算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9328" y="3986784"/>
            <a:ext cx="321868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80" b="0">
                <a:solidFill>
                  <a:srgbClr val="E9F8FF"/>
                </a:solidFill>
                <a:latin typeface="微软雅黑"/>
                <a:ea typeface="微软雅黑"/>
              </a:rPr>
              <a:t>平均分 · 最小值 · 最大值 · 极差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80" b="0">
                <a:solidFill>
                  <a:srgbClr val="E9F8FF"/>
                </a:solidFill>
                <a:latin typeface="微软雅黑"/>
                <a:ea typeface="微软雅黑"/>
              </a:rPr>
              <a:t>aggregated-data.json 是唯一基准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38912" y="5148072"/>
            <a:ext cx="11301984" cy="84124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5285232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8C7CFF"/>
                </a:solidFill>
                <a:latin typeface="微软雅黑"/>
                <a:ea typeface="微软雅黑"/>
              </a:rPr>
              <a:t>法律锚点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20240" y="5230368"/>
            <a:ext cx="9509760" cy="4937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60" b="0">
                <a:solidFill>
                  <a:srgbClr val="E9F8FF"/>
                </a:solidFill>
                <a:latin typeface="微软雅黑"/>
                <a:ea typeface="微软雅黑"/>
              </a:rPr>
              <a:t>《个人信息保护法》第六条｜只处理完成反馈分析所必需的信息，不让评价人真实身份进入聚合产物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03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05  SIGNAL ≠ VERDICT · SEMANTIC LAYER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机械信号只负责提醒，业务结论必须结合评语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极差≥1.0只标记“疑似分歧”；看板判定来自综合分析报告，不照搬机械阈值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2194560"/>
            <a:ext cx="73152" cy="129844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2322576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0D8FF"/>
                </a:solidFill>
                <a:latin typeface="微软雅黑"/>
                <a:ea typeface="微软雅黑"/>
              </a:rPr>
              <a:t>机械层｜脚本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2724912"/>
            <a:ext cx="23774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四视角 × 五维度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计算平均分与视角极差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极差≥1.0 → 疑似分歧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" y="3675887"/>
            <a:ext cx="2743200" cy="1298448"/>
          </a:xfrm>
          <a:prstGeom prst="roundRect">
            <a:avLst>
              <a:gd name="adj" fmla="val 8000"/>
            </a:avLst>
          </a:prstGeom>
          <a:solidFill>
            <a:srgbClr val="201B55">
              <a:alpha val="97000"/>
            </a:srgbClr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8912" y="3675887"/>
            <a:ext cx="73152" cy="1298448"/>
          </a:xfrm>
          <a:prstGeom prst="rect">
            <a:avLst/>
          </a:prstGeom>
          <a:solidFill>
            <a:srgbClr val="8C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3803903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8C7CFF"/>
                </a:solidFill>
                <a:latin typeface="微软雅黑"/>
                <a:ea typeface="微软雅黑"/>
              </a:rPr>
              <a:t>语义层｜Agent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" y="4206239"/>
            <a:ext cx="23774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读取各视角原始评语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判断叙事是否真正冲突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形成归因假设与面谈问题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810512" y="3493008"/>
            <a:ext cx="0" cy="164592"/>
          </a:xfrm>
          <a:prstGeom prst="line">
            <a:avLst/>
          </a:prstGeom>
          <a:ln w="13970">
            <a:solidFill>
              <a:srgbClr val="8C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429000" y="2194560"/>
            <a:ext cx="2240280" cy="27797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39312" y="2377440"/>
            <a:ext cx="1819656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A421"/>
                </a:solidFill>
                <a:latin typeface="微软雅黑"/>
                <a:ea typeface="微软雅黑"/>
              </a:rPr>
              <a:t>关键案例｜责任心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49039" y="2816352"/>
            <a:ext cx="1600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900" b="1">
                <a:solidFill>
                  <a:srgbClr val="00D8FF"/>
                </a:solidFill>
                <a:latin typeface="微软雅黑"/>
                <a:ea typeface="微软雅黑"/>
              </a:rPr>
              <a:t>极差 = 1.00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67328" y="3310128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67328" y="3310128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1">
                <a:solidFill>
                  <a:srgbClr val="FFA421"/>
                </a:solidFill>
                <a:latin typeface="微软雅黑"/>
                <a:ea typeface="微软雅黑"/>
              </a:rPr>
              <a:t>机械：疑似分歧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44568" y="3639312"/>
            <a:ext cx="0" cy="182879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3767328" y="3840480"/>
            <a:ext cx="1554480" cy="310896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67328" y="3840480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19" b="1">
                <a:solidFill>
                  <a:srgbClr val="26D098"/>
                </a:solidFill>
                <a:latin typeface="微软雅黑"/>
                <a:ea typeface="微软雅黑"/>
              </a:rPr>
              <a:t>语义：共识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39312" y="4279392"/>
            <a:ext cx="1819656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方向一致，只是对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80" b="0">
                <a:solidFill>
                  <a:srgbClr val="E9F8FF"/>
                </a:solidFill>
                <a:latin typeface="微软雅黑"/>
                <a:ea typeface="微软雅黑"/>
              </a:rPr>
              <a:t>“责任范围”期待不同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07024" y="2194560"/>
            <a:ext cx="5833872" cy="3200400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99048" y="2331720"/>
            <a:ext cx="544982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6D098"/>
                </a:solidFill>
                <a:latin typeface="微软雅黑"/>
                <a:ea typeface="微软雅黑"/>
              </a:rPr>
              <a:t>真实看板证据｜员工1 · 模拟数据</a:t>
            </a:r>
          </a:p>
        </p:txBody>
      </p:sp>
      <p:pic>
        <p:nvPicPr>
          <p:cNvPr id="66" name="Picture 65" descr="dashboard-score-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660904"/>
            <a:ext cx="5449824" cy="2514600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38912" y="5559552"/>
            <a:ext cx="11301984" cy="47548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5559552"/>
            <a:ext cx="10936224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1">
                <a:solidFill>
                  <a:srgbClr val="00D8FF"/>
                </a:solidFill>
                <a:latin typeface="微软雅黑"/>
                <a:ea typeface="微软雅黑"/>
              </a:rPr>
              <a:t>数字只取 aggregated-data.json｜判定与卡片只取 aggregated-report.md｜看板不重新算分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1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1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941832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0" y="2834640"/>
            <a:ext cx="12191695" cy="475488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0" y="5522975"/>
            <a:ext cx="12191695" cy="475489"/>
          </a:xfrm>
          <a:prstGeom prst="line">
            <a:avLst/>
          </a:prstGeom>
          <a:ln w="10160">
            <a:solidFill>
              <a:srgbClr val="0445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803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3796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98480" y="658368"/>
            <a:ext cx="685800" cy="5907024"/>
          </a:xfrm>
          <a:prstGeom prst="line">
            <a:avLst/>
          </a:prstGeom>
          <a:ln w="8890">
            <a:solidFill>
              <a:srgbClr val="032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48640" y="135331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7004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95160" y="1618488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64240" y="4389120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0" y="5559552"/>
            <a:ext cx="73152" cy="73152"/>
          </a:xfrm>
          <a:prstGeom prst="ellipse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00584"/>
            <a:ext cx="20116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小慧 · HR数字员工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231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40233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方案规划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5623560" y="109728"/>
            <a:ext cx="1527048" cy="356616"/>
          </a:xfrm>
          <a:prstGeom prst="parallelogram">
            <a:avLst/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02163B"/>
                </a:solidFill>
                <a:latin typeface="微软雅黑"/>
                <a:ea typeface="微软雅黑"/>
              </a:rPr>
              <a:t>技能演示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2237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完整流程</a:t>
            </a:r>
          </a:p>
        </p:txBody>
      </p:sp>
      <p:sp>
        <p:nvSpPr>
          <p:cNvPr id="25" name="Parallelogram 24"/>
          <p:cNvSpPr/>
          <p:nvPr/>
        </p:nvSpPr>
        <p:spPr>
          <a:xfrm>
            <a:off x="8823960" y="109728"/>
            <a:ext cx="1527048" cy="356616"/>
          </a:xfrm>
          <a:prstGeom prst="parallelogram">
            <a:avLst/>
          </a:prstGeom>
          <a:solidFill>
            <a:srgbClr val="04457D">
              <a:alpha val="82000"/>
            </a:srgbClr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109728"/>
            <a:ext cx="1527048" cy="3566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9EC2D8"/>
                </a:solidFill>
                <a:latin typeface="微软雅黑"/>
                <a:ea typeface="微软雅黑"/>
              </a:rPr>
              <a:t>成果展望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6768" y="109728"/>
            <a:ext cx="1051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9EC2D8"/>
                </a:solidFill>
                <a:latin typeface="微软雅黑"/>
                <a:ea typeface="微软雅黑"/>
              </a:rPr>
              <a:t>04 / 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"/>
            <a:ext cx="12191695" cy="411480"/>
          </a:xfrm>
          <a:prstGeom prst="rect">
            <a:avLst/>
          </a:prstGeom>
          <a:solidFill>
            <a:srgbClr val="02163B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722376"/>
            <a:ext cx="8229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EC2D8"/>
                </a:solidFill>
                <a:latin typeface="微软雅黑"/>
                <a:ea typeface="微软雅黑"/>
              </a:rPr>
              <a:t>技能地图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615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总控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招聘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入职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71616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71616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培训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0104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0D8FF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0104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2163B"/>
                </a:solidFill>
                <a:latin typeface="微软雅黑"/>
                <a:ea typeface="微软雅黑"/>
              </a:rPr>
              <a:t>绩效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8592" y="713232"/>
            <a:ext cx="1444752" cy="265176"/>
          </a:xfrm>
          <a:prstGeom prst="roundRect">
            <a:avLst>
              <a:gd name="adj" fmla="val 8000"/>
            </a:avLst>
          </a:prstGeom>
          <a:solidFill>
            <a:srgbClr val="032B5C"/>
          </a:solidFill>
          <a:ln w="12700">
            <a:solidFill>
              <a:srgbClr val="126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713232"/>
            <a:ext cx="14447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0">
                <a:solidFill>
                  <a:srgbClr val="9EC2D8"/>
                </a:solidFill>
                <a:latin typeface="微软雅黑"/>
                <a:ea typeface="微软雅黑"/>
              </a:rPr>
              <a:t>行政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" y="1170432"/>
            <a:ext cx="45720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05  FAIL CLOSED · LIVE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" y="1399032"/>
            <a:ext cx="1115568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优设标题黑"/>
                <a:ea typeface="优设标题黑"/>
              </a:rPr>
              <a:t>缺少关键视角，系统宁可停止，也不生成“伪360”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" y="1901952"/>
            <a:ext cx="685800" cy="45720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80160" y="1819656"/>
            <a:ext cx="1014984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9EC2D8"/>
                </a:solidFill>
                <a:latin typeface="微软雅黑"/>
                <a:ea typeface="微软雅黑"/>
              </a:rPr>
              <a:t>现场演示：缺自评失败 → 完整样本通过 → 机械聚合 → 打开看板；本模块不手写代码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" y="2194560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561726">
              <a:alpha val="97000"/>
            </a:srgbClr>
          </a:solidFill>
          <a:ln w="12700">
            <a:solidFill>
              <a:srgbClr val="F15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8912" y="2194560"/>
            <a:ext cx="73152" cy="1389888"/>
          </a:xfrm>
          <a:prstGeom prst="rect">
            <a:avLst/>
          </a:prstGeom>
          <a:solidFill>
            <a:srgbClr val="F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" y="2322576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15A66"/>
                </a:solidFill>
                <a:latin typeface="微软雅黑"/>
                <a:ea typeface="微软雅黑"/>
              </a:rPr>
              <a:t>01｜失败样本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2724912"/>
            <a:ext cx="30175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yuangong1-noself-demo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仅上级 + 平级，没有 self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预期：退出码 1，不进入聚合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822191" y="2889504"/>
            <a:ext cx="310896" cy="0"/>
          </a:xfrm>
          <a:prstGeom prst="line">
            <a:avLst/>
          </a:prstGeom>
          <a:ln w="13970">
            <a:solidFill>
              <a:srgbClr val="F1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160520" y="2194560"/>
            <a:ext cx="3383280" cy="1389888"/>
          </a:xfrm>
          <a:prstGeom prst="roundRect">
            <a:avLst>
              <a:gd name="adj" fmla="val 8000"/>
            </a:avLst>
          </a:prstGeom>
          <a:solidFill>
            <a:srgbClr val="032B5C">
              <a:alpha val="97000"/>
            </a:srgbClr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60520" y="2194560"/>
            <a:ext cx="73152" cy="1389888"/>
          </a:xfrm>
          <a:prstGeom prst="rect">
            <a:avLst/>
          </a:prstGeom>
          <a:solidFill>
            <a:srgbClr val="FFA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2322576"/>
            <a:ext cx="3017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A421"/>
                </a:solidFill>
                <a:latin typeface="微软雅黑"/>
                <a:ea typeface="微软雅黑"/>
              </a:rPr>
              <a:t>02｜完整样本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2724912"/>
            <a:ext cx="30175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yuangong1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上级 · 平级 · 下属 · 自评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预期：校验通过，角色代号可见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543800" y="2889504"/>
            <a:ext cx="310896" cy="0"/>
          </a:xfrm>
          <a:prstGeom prst="line">
            <a:avLst/>
          </a:prstGeom>
          <a:ln w="13970">
            <a:solidFill>
              <a:srgbClr val="FFA4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882127" y="2194560"/>
            <a:ext cx="3840480" cy="1389888"/>
          </a:xfrm>
          <a:prstGeom prst="roundRect">
            <a:avLst>
              <a:gd name="adj" fmla="val 8000"/>
            </a:avLst>
          </a:prstGeom>
          <a:solidFill>
            <a:srgbClr val="085057">
              <a:alpha val="97000"/>
            </a:srgbClr>
          </a:solidFill>
          <a:ln w="12700">
            <a:solidFill>
              <a:srgbClr val="26D0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82127" y="2194560"/>
            <a:ext cx="73152" cy="1389888"/>
          </a:xfrm>
          <a:prstGeom prst="rect">
            <a:avLst/>
          </a:prstGeom>
          <a:solidFill>
            <a:srgbClr val="26D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65007" y="2322576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26D098"/>
                </a:solidFill>
                <a:latin typeface="微软雅黑"/>
                <a:ea typeface="微软雅黑"/>
              </a:rPr>
              <a:t>03｜聚合与看板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7" y="2724912"/>
            <a:ext cx="347472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aggregated-data.json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雷达图 · 对照表 · 共识/分歧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130" b="0">
                <a:solidFill>
                  <a:srgbClr val="E9F8FF"/>
                </a:solidFill>
                <a:latin typeface="微软雅黑"/>
                <a:ea typeface="微软雅黑"/>
              </a:rPr>
              <a:t>页面不出现 S/A/B/C/D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38912" y="3822191"/>
            <a:ext cx="7635240" cy="1572768"/>
          </a:xfrm>
          <a:prstGeom prst="roundRect">
            <a:avLst>
              <a:gd name="adj" fmla="val 8000"/>
            </a:avLst>
          </a:prstGeom>
          <a:solidFill>
            <a:srgbClr val="00112C"/>
          </a:solidFill>
          <a:ln w="12700">
            <a:solidFill>
              <a:srgbClr val="00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3968496"/>
            <a:ext cx="72237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0D8FF"/>
                </a:solidFill>
                <a:latin typeface="微软雅黑"/>
                <a:ea typeface="微软雅黑"/>
              </a:rPr>
              <a:t>现场命令｜现行 Skill 入口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4242816"/>
            <a:ext cx="7223760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$ python3 skills/aggregating-360-feedback/scripts/check_feedback.py \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    feedback-360/source_feedback/yuangong1-noself-demo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$ python3 skills/aggregating-360-feedback/scripts/check_feedback.py \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    feedback-360/source_feedback/yuangong1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$ python3 skills/aggregating-360-feedback/scripts/aggregate.py \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    feedback-360/source_feedback/yuangong1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$ bash skills/generating-360-dashboard/scripts/build_dashboard.sh \</a:t>
            </a:r>
          </a:p>
          <a:p>
            <a:pPr algn="l">
              <a:lnSpc>
                <a:spcPct val="78000"/>
              </a:lnSpc>
              <a:spcAft>
                <a:spcPts val="200"/>
              </a:spcAft>
            </a:pPr>
            <a:r>
              <a:rPr sz="770" b="0">
                <a:solidFill>
                  <a:srgbClr val="E9F8FF"/>
                </a:solidFill>
                <a:latin typeface="Courier New"/>
                <a:ea typeface="Courier New"/>
              </a:rPr>
              <a:t>    feedback-360/source_feedback/yuangong1 --publish --force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02752" y="3822191"/>
            <a:ext cx="3419856" cy="1572768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8C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03920" y="3968496"/>
            <a:ext cx="30175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8C7CFF"/>
                </a:solidFill>
                <a:latin typeface="微软雅黑"/>
                <a:ea typeface="微软雅黑"/>
              </a:rPr>
              <a:t>最终决策仍由人完成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03920" y="4407408"/>
            <a:ext cx="3017520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微软雅黑"/>
                <a:ea typeface="微软雅黑"/>
              </a:rPr>
              <a:t>直接主管初评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微软雅黑"/>
                <a:ea typeface="微软雅黑"/>
              </a:rPr>
              <a:t>→ 隔级主管复核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20" b="0">
                <a:solidFill>
                  <a:srgbClr val="E9F8FF"/>
                </a:solidFill>
                <a:latin typeface="微软雅黑"/>
                <a:ea typeface="微软雅黑"/>
              </a:rPr>
              <a:t>→ 校准会确认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8912" y="5596128"/>
            <a:ext cx="11301984" cy="438912"/>
          </a:xfrm>
          <a:prstGeom prst="roundRect">
            <a:avLst>
              <a:gd name="adj" fmla="val 8000"/>
            </a:avLst>
          </a:prstGeom>
          <a:solidFill>
            <a:srgbClr val="04457D"/>
          </a:solidFill>
          <a:ln w="12700">
            <a:solidFill>
              <a:srgbClr val="FFA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" y="5596128"/>
            <a:ext cx="10936224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80" b="1">
                <a:solidFill>
                  <a:srgbClr val="FFA421"/>
                </a:solidFill>
                <a:latin typeface="微软雅黑"/>
                <a:ea typeface="微软雅黑"/>
              </a:rPr>
              <a:t>《个人信息保护法》第二十四条｜对个人权益有重大影响的决定，不应仅由自动化结果完成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小慧 · 绩效模块技能演示完善版</dc:title>
  <dc:subject>360反馈双闸门、评价人匿名化、确定性聚合、语义分层与人在回路</dc:subject>
  <dc:creator>小慧项目团队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