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4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4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【男2】行政封面（约 25 秒）</a:t>
            </a:r>
          </a:p>
          <a:p/>
          <a:p>
            <a:r>
              <a:t>【接过女1，走到台中】</a:t>
            </a:r>
          </a:p>
          <a:p/>
          <a:p>
            <a:r>
              <a:t>谢谢。行政 Agent 有三项业务。【指左】制度答疑：先检索 14 份制度原文，照原文答、标出处，个案和争议交给 HR。【指中】员工数据查询：飞书先认人，网关按人发工具，闸门脚本在读数据前判身份，只有 HR 能读 HCM。【指右】HR 月报：6 张台账，脚本算 18 个指标，每个数字回核到来源，模型只转述、不改数。</a:t>
            </a:r>
          </a:p>
          <a:p/>
          <a:p>
            <a:r>
              <a:t>这是第三道坎：查得不清。今天现场演示前两项。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【男2】人与 Agent 的边界：有据可查（约 60 秒）</a:t>
            </a:r>
          </a:p>
          <a:p/>
          <a:p>
            <a:r>
              <a:t>先看人与 Agent 的边界。公司 14 份制度原文放在腾讯 IMA 知识库，Agent 答一个问题分四步。</a:t>
            </a:r>
          </a:p>
          <a:p/>
          <a:p>
            <a:r>
              <a:t>【指上方四步】先判断该不该答；再检索原文，找不到就停；只按原文作答，不补常识、不改数字；最后标出处，写明依据是哪份制度。</a:t>
            </a:r>
          </a:p>
          <a:p/>
          <a:p>
            <a:r>
              <a:t>【指左侧红线】第一步看的是五条红线：个人金额和个人数据、个案争议、法律定性和仲裁、知识库里没有依据、审批和最终决定。碰到任何一条，判断权交给人。</a:t>
            </a:r>
          </a:p>
          <a:p/>
          <a:p>
            <a:r>
              <a:t>【指右侧实测】比如“加班没有加班费，是不是违法克扣”：调休优先、结算口径这些规则照答，带出处；他自己的工资条、是否违法，转人工。规则照答，个案交给人。这四步，就是把企业的规写进流程。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【男2】人与人的边界：三层代码（约 1 分 20 秒）</a:t>
            </a:r>
          </a:p>
          <a:p/>
          <a:p>
            <a:r>
              <a:t>再看人与人的边界。</a:t>
            </a:r>
          </a:p>
          <a:p/>
          <a:p>
            <a:r>
              <a:t>【指顶部“为什么管”】先说为什么要管。工资、考勤这类数据，是员工的个人信息，同事之间无权互查。一旦被看到，轻则攀比、不满，重则外泄、引发劳动纠纷，公司要担个人信息保护的责任。今天拿薪资举例，因为它最具体：给没给，一眼就看得出来。</a:t>
            </a:r>
          </a:p>
          <a:p/>
          <a:p>
            <a:r>
              <a:t>管住它，靠三层，都写在配置和脚本里。</a:t>
            </a:r>
          </a:p>
          <a:p/>
          <a:p>
            <a:r>
              <a:t>【指卡片①】第一层，飞书网关认人。配置里 dmPolicy 写的是 pairing：没配对的账号发消息，只收到一个配对码，消息根本不交给 Agent。群里也只认白名单里的群。</a:t>
            </a:r>
          </a:p>
          <a:p/>
          <a:p>
            <a:r>
              <a:t>【指卡片②】第二层，网关按人发工具。toolsBySender 按飞书发送人分配：HR 能读能写；其他人只能读，改文件的工具一律拿不到。发送人是飞书网关给出的，不看消息里写了什么。</a:t>
            </a:r>
          </a:p>
          <a:p/>
          <a:p>
            <a:r>
              <a:t>【指卡片③】第三层，闸门脚本在读数据之前判。查薪资的命令第一行就是 require_hr_data：HR 放行；已登记的非 HR、没登记的，一律退出码 3，后面那行查询脚本根本不运行。模型手里没有这条数据，也就谈不上说漏嘴。</a:t>
            </a:r>
          </a:p>
          <a:p/>
          <a:p>
            <a:r>
              <a:t>《个人信息保护法》要求的最小必要和操作权限，我们写成了这三层代码：这就是把法写进代码。下面用三个飞书身份现场跑一遍，跑完打开真实记录核对。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【男2】链路演示：三个飞书身份，五句话走完两条边界（约 4 分 30 秒）</a:t>
            </a:r>
          </a:p>
          <a:p/>
          <a:p>
            <a:r>
              <a:t>【走到演示机。三台飞书：员工账号、未登记账号、HR 账号，都打开与行政小慧的对话】</a:t>
            </a:r>
          </a:p>
          <a:p/>
          <a:p>
            <a:r>
              <a:t>前两句看人与 Agent 的边界；后三句是同一句话，只换发送人。</a:t>
            </a:r>
          </a:p>
          <a:p/>
          <a:p>
            <a:r>
              <a:t>### ① 员工问年假（约 40 秒）</a:t>
            </a:r>
          </a:p>
          <a:p/>
          <a:p>
            <a:r>
              <a:t>【员工账号发送】“我入职满3年了，年假有几天？”</a:t>
            </a:r>
          </a:p>
          <a:p/>
          <a:p>
            <a:r>
              <a:t>答复 5 天，末尾标着“政策依据：《03-假期政策》”，还提醒工龄以 HR 核定为准。</a:t>
            </a:r>
          </a:p>
          <a:p/>
          <a:p>
            <a:r>
              <a:t>### ② 员工问维权（约 50 秒）</a:t>
            </a:r>
          </a:p>
          <a:p/>
          <a:p>
            <a:r>
              <a:t>【员工账号发送】“加班20小时没有加班费，这是违法克扣吧？怎么维权？”</a:t>
            </a:r>
          </a:p>
          <a:p/>
          <a:p>
            <a:r>
              <a:t>它先按《02-考勤与加班政策》讲调休优先和结算口径，带出处；再说明个人工资条和是否违法这两部分，转人工 HR。规则照答，个案交给人。</a:t>
            </a:r>
          </a:p>
          <a:p/>
          <a:p>
            <a:r>
              <a:t>### ③ 员工查薪资（约 15 秒）</a:t>
            </a:r>
          </a:p>
          <a:p/>
          <a:p>
            <a:r>
              <a:t>【员工账号发送】“请查询员工1的合同薪资”</a:t>
            </a:r>
          </a:p>
          <a:p/>
          <a:p>
            <a:r>
              <a:t>拒绝。没有姓名，没有金额。是谁拒的，最后到记录里看。</a:t>
            </a:r>
          </a:p>
          <a:p/>
          <a:p>
            <a:r>
              <a:t>### ④ 未登记身份查同一条（约 15 秒）</a:t>
            </a:r>
          </a:p>
          <a:p/>
          <a:p>
            <a:r>
              <a:t>【换未登记账号，发送一字不差的同一句】“请查询员工1的合同薪资”</a:t>
            </a:r>
          </a:p>
          <a:p/>
          <a:p>
            <a:r>
              <a:t>只收到一个配对码，消息没有交给 Agent。没登记的身份，什么都干不了。</a:t>
            </a:r>
          </a:p>
          <a:p/>
          <a:p>
            <a:r>
              <a:t>### ⑤ HR 查同一条（约 15 秒）</a:t>
            </a:r>
          </a:p>
          <a:p/>
          <a:p>
            <a:r>
              <a:t>【换 HR 账号，发送同一句】“请查询员工1的合同薪资”</a:t>
            </a:r>
          </a:p>
          <a:p/>
          <a:p>
            <a:r>
              <a:t>过闸，读 HCM：员工1，后端工程师，合同薪资 32K。同一句话，只换了发送人。</a:t>
            </a:r>
          </a:p>
          <a:p/>
          <a:p>
            <a:r>
              <a:t>### 核对：打开真实执行记录（约 30 秒）</a:t>
            </a:r>
          </a:p>
          <a:p/>
          <a:p>
            <a:r>
              <a:t>【切到终端，在 workspace-er-admin 目录执行】`bash demo/show-gate.sh`</a:t>
            </a:r>
          </a:p>
          <a:p/>
          <a:p>
            <a:r>
              <a:t>这是刚才两次查询的真实执行记录。【指员工那条】网关给出的发送人是员工；闸门返回 allowed false，退出码 3，数据没有读取：拒绝的是脚本，不是模型临场发挥。【指 HR 那条】HR 这条放行，读到的正是 32K。【指最下面】未登记的账号停在待配对列表里，消息没有交给 Agent。</a:t>
            </a:r>
          </a:p>
          <a:p/>
          <a:p>
            <a:r>
              <a:t>这就是刚才那页的三层代码，在现场各管了一次。</a:t>
            </a:r>
          </a:p>
          <a:p/>
          <a:p>
            <a:r>
              <a:t>【回台】</a:t>
            </a:r>
          </a:p>
          <a:p/>
          <a:p>
            <a:r>
              <a:t>答有出处，个案交给人；没权限读不到；没登记进不来。两条边界，都不由模型说了算。</a:t>
            </a:r>
          </a:p>
          <a:p/>
          <a:p>
            <a:r>
              <a:t>【网络异常时播放备用录屏，并说明是备用录屏】</a:t>
            </a:r>
          </a:p>
          <a:p/>
          <a:p>
            <a:r>
              <a:t>交棒绩效（约 15 秒）</a:t>
            </a:r>
          </a:p>
          <a:p>
            <a:r>
              <a:t>我的行政模块，让国家的法和企业的规同时落进了系统。可有一类事，代码和流程都不该替人做主：评价一个人。接下来我队友的绩效模块，将会体现最后一句：把决定留给人。有请我的队友。</a:t>
            </a:r>
          </a:p>
          <a:p/>
          <a:p>
            <a:r>
              <a:t>【→ 女2 绩效】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6832" y="0"/>
            <a:ext cx="12192635" cy="6858000"/>
          </a:xfrm>
          <a:prstGeom prst="rect">
            <a:avLst/>
          </a:prstGeom>
          <a:gradFill flip="none" rotWithShape="1">
            <a:gsLst>
              <a:gs pos="25000">
                <a:srgbClr val="00082A"/>
              </a:gs>
              <a:gs pos="66000">
                <a:srgbClr val="000C3D"/>
              </a:gs>
              <a:gs pos="77000">
                <a:srgbClr val="00082A"/>
              </a:gs>
              <a:gs pos="44000">
                <a:srgbClr val="000D42"/>
              </a:gs>
            </a:gsLst>
            <a:lin ang="189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思源黑体 Bold" panose="020B0800000000000000" pitchFamily="34" charset="-122"/>
              <a:ea typeface="思源黑体 Bold" panose="020B0800000000000000" pitchFamily="34" charset="-122"/>
            </a:endParaRPr>
          </a:p>
        </p:txBody>
      </p:sp>
      <p:pic>
        <p:nvPicPr>
          <p:cNvPr id="1026" name="Picture 2" descr="查看图片"/>
          <p:cNvPicPr>
            <a:picLocks noChangeAspect="1" noChangeArrowheads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32" y="12700"/>
            <a:ext cx="12192635" cy="683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组合 8"/>
          <p:cNvGrpSpPr/>
          <p:nvPr userDrawn="1"/>
        </p:nvGrpSpPr>
        <p:grpSpPr>
          <a:xfrm>
            <a:off x="-6832" y="0"/>
            <a:ext cx="12192635" cy="6858000"/>
            <a:chOff x="-1000053" y="0"/>
            <a:chExt cx="12192000" cy="6858000"/>
          </a:xfrm>
        </p:grpSpPr>
        <p:sp>
          <p:nvSpPr>
            <p:cNvPr id="10" name="矩形 9"/>
            <p:cNvSpPr/>
            <p:nvPr userDrawn="1"/>
          </p:nvSpPr>
          <p:spPr>
            <a:xfrm flipH="1" flipV="1">
              <a:off x="-1000053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17CFF">
                    <a:alpha val="58000"/>
                  </a:srgbClr>
                </a:gs>
                <a:gs pos="28000">
                  <a:srgbClr val="062374">
                    <a:alpha val="0"/>
                  </a:srgbClr>
                </a:gs>
                <a:gs pos="69000">
                  <a:srgbClr val="062374">
                    <a:alpha val="0"/>
                  </a:srgbClr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white"/>
                </a:solidFill>
                <a:latin typeface="Arial" panose="020B0604020202020204" pitchFamily="34" charset="0"/>
                <a:ea typeface="思源黑体 CN Regular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-1000053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153DD">
                    <a:alpha val="79000"/>
                  </a:srgbClr>
                </a:gs>
                <a:gs pos="33000">
                  <a:srgbClr val="062374">
                    <a:alpha val="0"/>
                  </a:srgbClr>
                </a:gs>
                <a:gs pos="62000">
                  <a:srgbClr val="062374">
                    <a:alpha val="0"/>
                  </a:srgbClr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white"/>
                </a:solidFill>
                <a:latin typeface="Arial" panose="020B0604020202020204" pitchFamily="34" charset="0"/>
                <a:ea typeface="思源黑体 CN Regular"/>
              </a:endParaRPr>
            </a:p>
          </p:txBody>
        </p:sp>
      </p:grpSp>
      <p:pic>
        <p:nvPicPr>
          <p:cNvPr id="1065" name="图片 1064" descr="图片包含 星星, 灯光&#10;&#10;AI 生成的内容可能不正确。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37" t="39040"/>
          <a:stretch>
            <a:fillRect/>
          </a:stretch>
        </p:blipFill>
        <p:spPr>
          <a:xfrm>
            <a:off x="-6832" y="0"/>
            <a:ext cx="2027771" cy="2932602"/>
          </a:xfrm>
          <a:prstGeom prst="rect">
            <a:avLst/>
          </a:prstGeom>
        </p:spPr>
      </p:pic>
      <p:pic>
        <p:nvPicPr>
          <p:cNvPr id="1066" name="图片 1065" descr="图片包含 星星, 灯光&#10;&#10;AI 生成的内容可能不正确。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19" t="39040"/>
          <a:stretch>
            <a:fillRect/>
          </a:stretch>
        </p:blipFill>
        <p:spPr>
          <a:xfrm flipH="1">
            <a:off x="10183788" y="0"/>
            <a:ext cx="2015679" cy="2932602"/>
          </a:xfrm>
          <a:prstGeom prst="rect">
            <a:avLst/>
          </a:prstGeom>
        </p:spPr>
      </p:pic>
      <p:grpSp>
        <p:nvGrpSpPr>
          <p:cNvPr id="1101" name="组合 1100"/>
          <p:cNvGrpSpPr/>
          <p:nvPr/>
        </p:nvGrpSpPr>
        <p:grpSpPr>
          <a:xfrm>
            <a:off x="-33300" y="189345"/>
            <a:ext cx="3338647" cy="853638"/>
            <a:chOff x="-33298" y="189345"/>
            <a:chExt cx="3338473" cy="853638"/>
          </a:xfrm>
        </p:grpSpPr>
        <p:grpSp>
          <p:nvGrpSpPr>
            <p:cNvPr id="1102" name="组合 1101"/>
            <p:cNvGrpSpPr/>
            <p:nvPr/>
          </p:nvGrpSpPr>
          <p:grpSpPr>
            <a:xfrm>
              <a:off x="-33298" y="189345"/>
              <a:ext cx="1076968" cy="853638"/>
              <a:chOff x="-33298" y="189345"/>
              <a:chExt cx="1076968" cy="853638"/>
            </a:xfrm>
          </p:grpSpPr>
          <p:grpSp>
            <p:nvGrpSpPr>
              <p:cNvPr id="1111" name="组合 1110"/>
              <p:cNvGrpSpPr/>
              <p:nvPr/>
            </p:nvGrpSpPr>
            <p:grpSpPr>
              <a:xfrm>
                <a:off x="90556" y="189345"/>
                <a:ext cx="953114" cy="853638"/>
                <a:chOff x="6015410" y="2702146"/>
                <a:chExt cx="1355962" cy="1214442"/>
              </a:xfrm>
            </p:grpSpPr>
            <p:grpSp>
              <p:nvGrpSpPr>
                <p:cNvPr id="1113" name="组合 1112"/>
                <p:cNvGrpSpPr/>
                <p:nvPr/>
              </p:nvGrpSpPr>
              <p:grpSpPr>
                <a:xfrm>
                  <a:off x="6156930" y="2702146"/>
                  <a:ext cx="1214442" cy="1214442"/>
                  <a:chOff x="2907510" y="158266"/>
                  <a:chExt cx="8032397" cy="8032397"/>
                </a:xfrm>
              </p:grpSpPr>
              <p:sp>
                <p:nvSpPr>
                  <p:cNvPr id="1115" name="椭圆 1114"/>
                  <p:cNvSpPr/>
                  <p:nvPr/>
                </p:nvSpPr>
                <p:spPr>
                  <a:xfrm>
                    <a:off x="2907510" y="158266"/>
                    <a:ext cx="8032397" cy="8032397"/>
                  </a:xfrm>
                  <a:prstGeom prst="ellipse">
                    <a:avLst/>
                  </a:prstGeom>
                  <a:gradFill flip="none" rotWithShape="1">
                    <a:gsLst>
                      <a:gs pos="59000">
                        <a:srgbClr val="002060">
                          <a:alpha val="0"/>
                        </a:srgbClr>
                      </a:gs>
                      <a:gs pos="100000">
                        <a:srgbClr val="0066FF">
                          <a:alpha val="13000"/>
                        </a:srgbClr>
                      </a:gs>
                    </a:gsLst>
                    <a:lin ang="10800000" scaled="1"/>
                    <a:tileRect/>
                  </a:gradFill>
                  <a:ln w="9921">
                    <a:gradFill flip="none" rotWithShape="1">
                      <a:gsLst>
                        <a:gs pos="0">
                          <a:srgbClr val="0066FF"/>
                        </a:gs>
                        <a:gs pos="28000">
                          <a:srgbClr val="0066FF">
                            <a:alpha val="0"/>
                          </a:srgbClr>
                        </a:gs>
                      </a:gsLst>
                      <a:lin ang="0" scaled="1"/>
                      <a:tileRect/>
                    </a:gra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71433" tIns="35717" rIns="71433" bIns="35717" rtlCol="0" anchor="ctr"/>
                  <a:lstStyle/>
                  <a:p>
                    <a:pPr algn="ctr"/>
                    <a:endParaRPr lang="zh-CN" altLang="en-US" sz="1405" dirty="0">
                      <a:solidFill>
                        <a:prstClr val="white"/>
                      </a:solidFill>
                      <a:latin typeface="思源黑体 Bold" panose="020B0800000000000000" pitchFamily="34" charset="-122"/>
                      <a:ea typeface="思源黑体 Bold" panose="020B0800000000000000" pitchFamily="34" charset="-122"/>
                      <a:sym typeface="微软雅黑" panose="020B0503020204020204" charset="-122"/>
                    </a:endParaRPr>
                  </a:p>
                </p:txBody>
              </p:sp>
              <p:sp>
                <p:nvSpPr>
                  <p:cNvPr id="1116" name="椭圆 1115"/>
                  <p:cNvSpPr/>
                  <p:nvPr/>
                </p:nvSpPr>
                <p:spPr>
                  <a:xfrm>
                    <a:off x="3488516" y="739272"/>
                    <a:ext cx="6870392" cy="6870392"/>
                  </a:xfrm>
                  <a:prstGeom prst="ellipse">
                    <a:avLst/>
                  </a:prstGeom>
                  <a:gradFill flip="none" rotWithShape="1">
                    <a:gsLst>
                      <a:gs pos="59000">
                        <a:srgbClr val="002060">
                          <a:alpha val="0"/>
                        </a:srgbClr>
                      </a:gs>
                      <a:gs pos="100000">
                        <a:srgbClr val="0066FF">
                          <a:alpha val="13000"/>
                        </a:srgbClr>
                      </a:gs>
                    </a:gsLst>
                    <a:lin ang="10800000" scaled="1"/>
                    <a:tileRect/>
                  </a:gradFill>
                  <a:ln w="9921">
                    <a:gradFill flip="none" rotWithShape="1">
                      <a:gsLst>
                        <a:gs pos="0">
                          <a:srgbClr val="0066FF"/>
                        </a:gs>
                        <a:gs pos="28000">
                          <a:srgbClr val="0066FF">
                            <a:alpha val="0"/>
                          </a:srgbClr>
                        </a:gs>
                      </a:gsLst>
                      <a:lin ang="0" scaled="1"/>
                      <a:tileRect/>
                    </a:gra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71433" tIns="35717" rIns="71433" bIns="35717" rtlCol="0" anchor="ctr"/>
                  <a:lstStyle/>
                  <a:p>
                    <a:pPr algn="ctr"/>
                    <a:endParaRPr lang="zh-CN" altLang="en-US" sz="1405" dirty="0">
                      <a:solidFill>
                        <a:prstClr val="white"/>
                      </a:solidFill>
                      <a:latin typeface="思源黑体 Bold" panose="020B0800000000000000" pitchFamily="34" charset="-122"/>
                      <a:ea typeface="思源黑体 Bold" panose="020B0800000000000000" pitchFamily="34" charset="-122"/>
                      <a:sym typeface="微软雅黑" panose="020B0503020204020204" charset="-122"/>
                    </a:endParaRPr>
                  </a:p>
                </p:txBody>
              </p:sp>
            </p:grpSp>
            <p:pic>
              <p:nvPicPr>
                <p:cNvPr id="1114" name="图片 1113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55869" b="12547"/>
                <a:stretch>
                  <a:fillRect/>
                </a:stretch>
              </p:blipFill>
              <p:spPr>
                <a:xfrm rot="5400000">
                  <a:off x="5919194" y="3013436"/>
                  <a:ext cx="784296" cy="591863"/>
                </a:xfrm>
                <a:prstGeom prst="rect">
                  <a:avLst/>
                </a:prstGeom>
                <a:effectLst/>
              </p:spPr>
            </p:pic>
          </p:grpSp>
          <p:pic>
            <p:nvPicPr>
              <p:cNvPr id="1112" name="Picture 6" descr="查看图片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3298" y="195681"/>
                <a:ext cx="557620" cy="8290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103" name="直接连接符 1102"/>
            <p:cNvCxnSpPr/>
            <p:nvPr/>
          </p:nvCxnSpPr>
          <p:spPr>
            <a:xfrm>
              <a:off x="0" y="1031081"/>
              <a:ext cx="2992993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00FFFF">
                      <a:alpha val="0"/>
                    </a:srgbClr>
                  </a:gs>
                  <a:gs pos="82000">
                    <a:srgbClr val="00FFFF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直接连接符 1103"/>
            <p:cNvCxnSpPr/>
            <p:nvPr/>
          </p:nvCxnSpPr>
          <p:spPr>
            <a:xfrm flipV="1">
              <a:off x="2992993" y="602456"/>
              <a:ext cx="255032" cy="428625"/>
            </a:xfrm>
            <a:prstGeom prst="line">
              <a:avLst/>
            </a:prstGeom>
            <a:ln>
              <a:solidFill>
                <a:srgbClr val="00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5" name="椭圆 1104"/>
            <p:cNvSpPr/>
            <p:nvPr/>
          </p:nvSpPr>
          <p:spPr>
            <a:xfrm>
              <a:off x="3228975" y="527264"/>
              <a:ext cx="76200" cy="76200"/>
            </a:xfrm>
            <a:prstGeom prst="ellipse">
              <a:avLst/>
            </a:prstGeom>
            <a:noFill/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Bold" panose="020B0800000000000000" pitchFamily="34" charset="-122"/>
                <a:ea typeface="思源黑体 Bold" panose="020B0800000000000000" pitchFamily="34" charset="-122"/>
              </a:endParaRPr>
            </a:p>
          </p:txBody>
        </p:sp>
        <p:grpSp>
          <p:nvGrpSpPr>
            <p:cNvPr id="1106" name="组合 1105"/>
            <p:cNvGrpSpPr/>
            <p:nvPr/>
          </p:nvGrpSpPr>
          <p:grpSpPr>
            <a:xfrm>
              <a:off x="1094081" y="940594"/>
              <a:ext cx="1956127" cy="92868"/>
              <a:chOff x="-6594134" y="756485"/>
              <a:chExt cx="9927313" cy="471306"/>
            </a:xfrm>
          </p:grpSpPr>
          <p:cxnSp>
            <p:nvCxnSpPr>
              <p:cNvPr id="1108" name="直接连接符 1107"/>
              <p:cNvCxnSpPr/>
              <p:nvPr/>
            </p:nvCxnSpPr>
            <p:spPr>
              <a:xfrm>
                <a:off x="850106" y="1183481"/>
                <a:ext cx="2295287" cy="0"/>
              </a:xfrm>
              <a:prstGeom prst="line">
                <a:avLst/>
              </a:prstGeom>
              <a:ln w="31750">
                <a:solidFill>
                  <a:srgbClr val="00FFFF"/>
                </a:solidFill>
              </a:ln>
              <a:effectLst>
                <a:glow rad="88900">
                  <a:srgbClr val="0066FF">
                    <a:alpha val="24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9" name="直接连接符 1108"/>
              <p:cNvCxnSpPr/>
              <p:nvPr/>
            </p:nvCxnSpPr>
            <p:spPr>
              <a:xfrm flipV="1">
                <a:off x="3080531" y="756485"/>
                <a:ext cx="252648" cy="471306"/>
              </a:xfrm>
              <a:prstGeom prst="line">
                <a:avLst/>
              </a:prstGeom>
              <a:ln w="31750">
                <a:solidFill>
                  <a:srgbClr val="00FFFF"/>
                </a:solidFill>
              </a:ln>
              <a:effectLst>
                <a:glow rad="88900">
                  <a:srgbClr val="0066FF">
                    <a:alpha val="24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0" name="直接连接符 1109"/>
              <p:cNvCxnSpPr/>
              <p:nvPr/>
            </p:nvCxnSpPr>
            <p:spPr>
              <a:xfrm>
                <a:off x="-6594134" y="1183481"/>
                <a:ext cx="1456744" cy="0"/>
              </a:xfrm>
              <a:prstGeom prst="line">
                <a:avLst/>
              </a:prstGeom>
              <a:ln w="31750">
                <a:solidFill>
                  <a:srgbClr val="00FFFF"/>
                </a:solidFill>
              </a:ln>
              <a:effectLst>
                <a:glow rad="88900">
                  <a:srgbClr val="0066FF">
                    <a:alpha val="24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76" name="组合 1075"/>
          <p:cNvGrpSpPr/>
          <p:nvPr/>
        </p:nvGrpSpPr>
        <p:grpSpPr>
          <a:xfrm>
            <a:off x="8038035" y="440904"/>
            <a:ext cx="1559800" cy="725004"/>
            <a:chOff x="3120509" y="440904"/>
            <a:chExt cx="1559719" cy="725004"/>
          </a:xfrm>
        </p:grpSpPr>
        <p:grpSp>
          <p:nvGrpSpPr>
            <p:cNvPr id="1095" name="组合 1094"/>
            <p:cNvGrpSpPr/>
            <p:nvPr/>
          </p:nvGrpSpPr>
          <p:grpSpPr>
            <a:xfrm>
              <a:off x="3120509" y="440904"/>
              <a:ext cx="1559719" cy="725004"/>
              <a:chOff x="3120509" y="440904"/>
              <a:chExt cx="1559719" cy="725004"/>
            </a:xfrm>
          </p:grpSpPr>
          <p:sp>
            <p:nvSpPr>
              <p:cNvPr id="1097" name="平行四边形 1096"/>
              <p:cNvSpPr/>
              <p:nvPr/>
            </p:nvSpPr>
            <p:spPr>
              <a:xfrm>
                <a:off x="3120509" y="616164"/>
                <a:ext cx="1559719" cy="371896"/>
              </a:xfrm>
              <a:prstGeom prst="parallelogram">
                <a:avLst>
                  <a:gd name="adj" fmla="val 56374"/>
                </a:avLst>
              </a:prstGeom>
              <a:gradFill flip="none" rotWithShape="1">
                <a:gsLst>
                  <a:gs pos="0">
                    <a:srgbClr val="0066FF"/>
                  </a:gs>
                  <a:gs pos="56000">
                    <a:srgbClr val="002060">
                      <a:alpha val="0"/>
                    </a:srgbClr>
                  </a:gs>
                  <a:gs pos="49000">
                    <a:srgbClr val="002060">
                      <a:alpha val="0"/>
                    </a:srgbClr>
                  </a:gs>
                  <a:gs pos="100000">
                    <a:srgbClr val="0066FF"/>
                  </a:gs>
                </a:gsLst>
                <a:lin ang="2700000" scaled="1"/>
                <a:tileRect/>
              </a:gradFill>
              <a:ln w="63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Bold" panose="020B0800000000000000" pitchFamily="34" charset="-122"/>
                  <a:ea typeface="思源黑体 Bold" panose="020B0800000000000000" pitchFamily="34" charset="-122"/>
                </a:endParaRPr>
              </a:p>
            </p:txBody>
          </p:sp>
          <p:pic>
            <p:nvPicPr>
              <p:cNvPr id="1098" name="Picture 4" descr="查看图片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76544" y="440904"/>
                <a:ext cx="1218609" cy="3561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9" name="Picture 4" descr="查看图片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49516" y="809756"/>
                <a:ext cx="1024059" cy="3561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96" name="文本框 1095"/>
            <p:cNvSpPr txBox="1"/>
            <p:nvPr/>
          </p:nvSpPr>
          <p:spPr>
            <a:xfrm>
              <a:off x="3290158" y="618740"/>
              <a:ext cx="1220420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zh-CN" altLang="en-US" sz="1800" b="1" kern="1200" dirty="0">
                  <a:gradFill>
                    <a:gsLst>
                      <a:gs pos="63000">
                        <a:srgbClr val="9DE1F9"/>
                      </a:gs>
                      <a:gs pos="0">
                        <a:srgbClr val="00FFFF"/>
                      </a:gs>
                      <a:gs pos="43000">
                        <a:schemeClr val="bg1"/>
                      </a:gs>
                      <a:gs pos="85000">
                        <a:srgbClr val="00B0F0"/>
                      </a:gs>
                    </a:gsLst>
                    <a:lin ang="2700000" scaled="1"/>
                  </a:gradFill>
                  <a:latin typeface="思源黑体 Bold" panose="020B0800000000000000" pitchFamily="34" charset="-122"/>
                  <a:ea typeface="思源黑体 Bold" panose="020B0800000000000000" pitchFamily="34" charset="-122"/>
                  <a:cs typeface="+mn-cs"/>
                </a:rPr>
                <a:t>项目成果</a:t>
              </a:r>
              <a:endParaRPr lang="zh-CN" altLang="en-US" sz="1800" b="1" kern="1200" dirty="0">
                <a:gradFill>
                  <a:gsLst>
                    <a:gs pos="63000">
                      <a:srgbClr val="9DE1F9"/>
                    </a:gs>
                    <a:gs pos="0">
                      <a:srgbClr val="00FFFF"/>
                    </a:gs>
                    <a:gs pos="43000">
                      <a:schemeClr val="bg1"/>
                    </a:gs>
                    <a:gs pos="85000">
                      <a:srgbClr val="00B0F0"/>
                    </a:gs>
                  </a:gsLst>
                  <a:lin ang="2700000" scaled="1"/>
                </a:gra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endParaRPr>
            </a:p>
          </p:txBody>
        </p:sp>
      </p:grpSp>
      <p:grpSp>
        <p:nvGrpSpPr>
          <p:cNvPr id="1079" name="组合 1078"/>
          <p:cNvGrpSpPr/>
          <p:nvPr/>
        </p:nvGrpSpPr>
        <p:grpSpPr>
          <a:xfrm>
            <a:off x="5582658" y="616170"/>
            <a:ext cx="1388341" cy="371896"/>
            <a:chOff x="6984086" y="616170"/>
            <a:chExt cx="1388269" cy="371896"/>
          </a:xfrm>
        </p:grpSpPr>
        <p:sp>
          <p:nvSpPr>
            <p:cNvPr id="1089" name="平行四边形 1088"/>
            <p:cNvSpPr/>
            <p:nvPr/>
          </p:nvSpPr>
          <p:spPr>
            <a:xfrm>
              <a:off x="6984086" y="616170"/>
              <a:ext cx="1388269" cy="371896"/>
            </a:xfrm>
            <a:prstGeom prst="parallelogram">
              <a:avLst>
                <a:gd name="adj" fmla="val 56374"/>
              </a:avLst>
            </a:prstGeom>
            <a:solidFill>
              <a:srgbClr val="0066FF">
                <a:alpha val="24000"/>
              </a:srgbClr>
            </a:solidFill>
            <a:ln w="31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Bold" panose="020B0800000000000000" pitchFamily="34" charset="-122"/>
                <a:ea typeface="思源黑体 Bold" panose="020B0800000000000000" pitchFamily="34" charset="-122"/>
              </a:endParaRPr>
            </a:p>
          </p:txBody>
        </p:sp>
        <p:sp>
          <p:nvSpPr>
            <p:cNvPr id="1090" name="文本框 1089"/>
            <p:cNvSpPr txBox="1"/>
            <p:nvPr/>
          </p:nvSpPr>
          <p:spPr>
            <a:xfrm>
              <a:off x="7068010" y="648230"/>
              <a:ext cx="1220420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zh-CN" altLang="en-US" sz="1400" b="1" kern="1200" dirty="0">
                  <a:solidFill>
                    <a:srgbClr val="00B0F0">
                      <a:alpha val="48000"/>
                    </a:srgbClr>
                  </a:solidFill>
                  <a:latin typeface="思源黑体 Bold" panose="020B0800000000000000" pitchFamily="34" charset="-122"/>
                  <a:ea typeface="思源黑体 Bold" panose="020B0800000000000000" pitchFamily="34" charset="-122"/>
                  <a:cs typeface="+mn-cs"/>
                </a:rPr>
                <a:t>发展历程</a:t>
              </a:r>
              <a:endParaRPr lang="zh-CN" altLang="en-US" sz="1400" b="1" kern="1200" dirty="0">
                <a:solidFill>
                  <a:srgbClr val="00B0F0">
                    <a:alpha val="48000"/>
                  </a:srgbClr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endParaRPr>
            </a:p>
          </p:txBody>
        </p:sp>
      </p:grpSp>
      <p:grpSp>
        <p:nvGrpSpPr>
          <p:cNvPr id="1080" name="组合 1079"/>
          <p:cNvGrpSpPr/>
          <p:nvPr/>
        </p:nvGrpSpPr>
        <p:grpSpPr>
          <a:xfrm>
            <a:off x="6807371" y="616170"/>
            <a:ext cx="1388341" cy="371896"/>
            <a:chOff x="8214795" y="616170"/>
            <a:chExt cx="1388269" cy="371896"/>
          </a:xfrm>
        </p:grpSpPr>
        <p:sp>
          <p:nvSpPr>
            <p:cNvPr id="1087" name="平行四边形 1086"/>
            <p:cNvSpPr/>
            <p:nvPr/>
          </p:nvSpPr>
          <p:spPr>
            <a:xfrm>
              <a:off x="8214795" y="616170"/>
              <a:ext cx="1388269" cy="371896"/>
            </a:xfrm>
            <a:prstGeom prst="parallelogram">
              <a:avLst>
                <a:gd name="adj" fmla="val 56374"/>
              </a:avLst>
            </a:prstGeom>
            <a:solidFill>
              <a:srgbClr val="0066FF">
                <a:alpha val="24000"/>
              </a:srgbClr>
            </a:solidFill>
            <a:ln w="31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Bold" panose="020B0800000000000000" pitchFamily="34" charset="-122"/>
                <a:ea typeface="思源黑体 Bold" panose="020B0800000000000000" pitchFamily="34" charset="-122"/>
              </a:endParaRPr>
            </a:p>
          </p:txBody>
        </p:sp>
        <p:sp>
          <p:nvSpPr>
            <p:cNvPr id="1088" name="文本框 1087"/>
            <p:cNvSpPr txBox="1"/>
            <p:nvPr/>
          </p:nvSpPr>
          <p:spPr>
            <a:xfrm>
              <a:off x="8298719" y="648230"/>
              <a:ext cx="1220420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zh-CN" altLang="en-US" sz="1400" b="1" kern="1200" dirty="0">
                  <a:solidFill>
                    <a:srgbClr val="00B0F0">
                      <a:alpha val="48000"/>
                    </a:srgbClr>
                  </a:solidFill>
                  <a:latin typeface="思源黑体 Bold" panose="020B0800000000000000" pitchFamily="34" charset="-122"/>
                  <a:ea typeface="思源黑体 Bold" panose="020B0800000000000000" pitchFamily="34" charset="-122"/>
                  <a:cs typeface="+mn-cs"/>
                </a:rPr>
                <a:t>盈利模式</a:t>
              </a:r>
              <a:endParaRPr lang="zh-CN" altLang="en-US" sz="1400" b="1" kern="1200" dirty="0">
                <a:solidFill>
                  <a:srgbClr val="00B0F0">
                    <a:alpha val="48000"/>
                  </a:srgbClr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endParaRPr>
            </a:p>
          </p:txBody>
        </p:sp>
      </p:grpSp>
      <p:grpSp>
        <p:nvGrpSpPr>
          <p:cNvPr id="1081" name="组合 1080"/>
          <p:cNvGrpSpPr/>
          <p:nvPr/>
        </p:nvGrpSpPr>
        <p:grpSpPr>
          <a:xfrm>
            <a:off x="9446109" y="616170"/>
            <a:ext cx="1388341" cy="371896"/>
            <a:chOff x="9445504" y="616170"/>
            <a:chExt cx="1388269" cy="371896"/>
          </a:xfrm>
        </p:grpSpPr>
        <p:sp>
          <p:nvSpPr>
            <p:cNvPr id="1085" name="平行四边形 1084"/>
            <p:cNvSpPr/>
            <p:nvPr/>
          </p:nvSpPr>
          <p:spPr>
            <a:xfrm>
              <a:off x="9445504" y="616170"/>
              <a:ext cx="1388269" cy="371896"/>
            </a:xfrm>
            <a:prstGeom prst="parallelogram">
              <a:avLst>
                <a:gd name="adj" fmla="val 56374"/>
              </a:avLst>
            </a:prstGeom>
            <a:solidFill>
              <a:srgbClr val="0066FF">
                <a:alpha val="24000"/>
              </a:srgbClr>
            </a:solidFill>
            <a:ln w="31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Bold" panose="020B0800000000000000" pitchFamily="34" charset="-122"/>
                <a:ea typeface="思源黑体 Bold" panose="020B0800000000000000" pitchFamily="34" charset="-122"/>
              </a:endParaRPr>
            </a:p>
          </p:txBody>
        </p:sp>
        <p:sp>
          <p:nvSpPr>
            <p:cNvPr id="1086" name="文本框 1085"/>
            <p:cNvSpPr txBox="1"/>
            <p:nvPr/>
          </p:nvSpPr>
          <p:spPr>
            <a:xfrm>
              <a:off x="9529428" y="648230"/>
              <a:ext cx="1220420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00B0F0">
                      <a:alpha val="48000"/>
                    </a:srgbClr>
                  </a:solidFill>
                  <a:latin typeface="思源黑体 Bold" panose="020B0800000000000000" pitchFamily="34" charset="-122"/>
                  <a:ea typeface="思源黑体 Bold" panose="020B0800000000000000" pitchFamily="34" charset="-122"/>
                </a:rPr>
                <a:t>团队介绍</a:t>
              </a:r>
              <a:endParaRPr lang="zh-CN" altLang="en-US" sz="1400" b="1" dirty="0">
                <a:solidFill>
                  <a:srgbClr val="00B0F0">
                    <a:alpha val="48000"/>
                  </a:srgbClr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</a:endParaRPr>
            </a:p>
          </p:txBody>
        </p:sp>
      </p:grpSp>
      <p:grpSp>
        <p:nvGrpSpPr>
          <p:cNvPr id="1082" name="组合 1081"/>
          <p:cNvGrpSpPr/>
          <p:nvPr/>
        </p:nvGrpSpPr>
        <p:grpSpPr>
          <a:xfrm>
            <a:off x="10676772" y="616170"/>
            <a:ext cx="1388341" cy="371896"/>
            <a:chOff x="10676216" y="616170"/>
            <a:chExt cx="1388269" cy="371896"/>
          </a:xfrm>
        </p:grpSpPr>
        <p:sp>
          <p:nvSpPr>
            <p:cNvPr id="1083" name="平行四边形 1082"/>
            <p:cNvSpPr/>
            <p:nvPr/>
          </p:nvSpPr>
          <p:spPr>
            <a:xfrm>
              <a:off x="10676216" y="616170"/>
              <a:ext cx="1388269" cy="371896"/>
            </a:xfrm>
            <a:prstGeom prst="parallelogram">
              <a:avLst>
                <a:gd name="adj" fmla="val 56374"/>
              </a:avLst>
            </a:prstGeom>
            <a:solidFill>
              <a:srgbClr val="0066FF">
                <a:alpha val="24000"/>
              </a:srgbClr>
            </a:solidFill>
            <a:ln w="31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Bold" panose="020B0800000000000000" pitchFamily="34" charset="-122"/>
                <a:ea typeface="思源黑体 Bold" panose="020B0800000000000000" pitchFamily="34" charset="-122"/>
              </a:endParaRPr>
            </a:p>
          </p:txBody>
        </p:sp>
        <p:sp>
          <p:nvSpPr>
            <p:cNvPr id="1084" name="文本框 1083"/>
            <p:cNvSpPr txBox="1"/>
            <p:nvPr/>
          </p:nvSpPr>
          <p:spPr>
            <a:xfrm>
              <a:off x="10760140" y="648230"/>
              <a:ext cx="1220420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00B0F0">
                      <a:alpha val="48000"/>
                    </a:srgbClr>
                  </a:solidFill>
                  <a:latin typeface="思源黑体 Bold" panose="020B0800000000000000" pitchFamily="34" charset="-122"/>
                  <a:ea typeface="思源黑体 Bold" panose="020B0800000000000000" pitchFamily="34" charset="-122"/>
                </a:rPr>
                <a:t>社会影响</a:t>
              </a:r>
              <a:endParaRPr lang="zh-CN" altLang="en-US" sz="1400" b="1" dirty="0">
                <a:solidFill>
                  <a:srgbClr val="00B0F0">
                    <a:alpha val="48000"/>
                  </a:srgbClr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</a:endParaRPr>
            </a:p>
          </p:txBody>
        </p:sp>
      </p:grpSp>
      <p:grpSp>
        <p:nvGrpSpPr>
          <p:cNvPr id="6" name="组合 5"/>
          <p:cNvGrpSpPr/>
          <p:nvPr userDrawn="1"/>
        </p:nvGrpSpPr>
        <p:grpSpPr>
          <a:xfrm>
            <a:off x="3121330" y="616170"/>
            <a:ext cx="1388341" cy="371896"/>
            <a:chOff x="4522668" y="616170"/>
            <a:chExt cx="1388269" cy="371896"/>
          </a:xfrm>
        </p:grpSpPr>
        <p:sp>
          <p:nvSpPr>
            <p:cNvPr id="8" name="平行四边形 7"/>
            <p:cNvSpPr/>
            <p:nvPr/>
          </p:nvSpPr>
          <p:spPr>
            <a:xfrm>
              <a:off x="4522668" y="616170"/>
              <a:ext cx="1388269" cy="371896"/>
            </a:xfrm>
            <a:prstGeom prst="parallelogram">
              <a:avLst>
                <a:gd name="adj" fmla="val 56374"/>
              </a:avLst>
            </a:prstGeom>
            <a:solidFill>
              <a:srgbClr val="0066FF">
                <a:alpha val="24000"/>
              </a:srgbClr>
            </a:solidFill>
            <a:ln w="31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Bold" panose="020B0800000000000000" pitchFamily="34" charset="-122"/>
                <a:ea typeface="思源黑体 Bold" panose="020B0800000000000000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606592" y="648230"/>
              <a:ext cx="1220420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00B0F0">
                      <a:alpha val="48000"/>
                    </a:srgbClr>
                  </a:solidFill>
                  <a:latin typeface="思源黑体 Bold" panose="020B0800000000000000" pitchFamily="34" charset="-122"/>
                  <a:ea typeface="思源黑体 Bold" panose="020B0800000000000000" pitchFamily="34" charset="-122"/>
                </a:rPr>
                <a:t>项目背景</a:t>
              </a:r>
              <a:endParaRPr lang="zh-CN" altLang="en-US" sz="1400" b="1" dirty="0">
                <a:solidFill>
                  <a:srgbClr val="00B0F0">
                    <a:alpha val="48000"/>
                  </a:srgbClr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</a:endParaRPr>
            </a:p>
          </p:txBody>
        </p:sp>
      </p:grpSp>
      <p:pic>
        <p:nvPicPr>
          <p:cNvPr id="22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832" y="5545394"/>
            <a:ext cx="12206300" cy="1299903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4351994" y="616170"/>
            <a:ext cx="1388341" cy="371896"/>
            <a:chOff x="5753377" y="616170"/>
            <a:chExt cx="1388269" cy="371896"/>
          </a:xfrm>
        </p:grpSpPr>
        <p:sp>
          <p:nvSpPr>
            <p:cNvPr id="23" name="平行四边形 22"/>
            <p:cNvSpPr/>
            <p:nvPr/>
          </p:nvSpPr>
          <p:spPr>
            <a:xfrm>
              <a:off x="5753377" y="616170"/>
              <a:ext cx="1388269" cy="371896"/>
            </a:xfrm>
            <a:prstGeom prst="parallelogram">
              <a:avLst>
                <a:gd name="adj" fmla="val 56374"/>
              </a:avLst>
            </a:prstGeom>
            <a:solidFill>
              <a:srgbClr val="0066FF">
                <a:alpha val="24000"/>
              </a:srgbClr>
            </a:solidFill>
            <a:ln w="31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Bold" panose="020B0800000000000000" pitchFamily="34" charset="-122"/>
                <a:ea typeface="思源黑体 Bold" panose="020B0800000000000000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837301" y="648230"/>
              <a:ext cx="1220420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zh-CN" altLang="en-US" sz="1400" b="1" kern="1200" dirty="0">
                  <a:solidFill>
                    <a:srgbClr val="00B0F0">
                      <a:alpha val="48000"/>
                    </a:srgbClr>
                  </a:solidFill>
                  <a:latin typeface="思源黑体 Bold" panose="020B0800000000000000" pitchFamily="34" charset="-122"/>
                  <a:ea typeface="思源黑体 Bold" panose="020B0800000000000000" pitchFamily="34" charset="-122"/>
                  <a:cs typeface="+mn-cs"/>
                </a:rPr>
                <a:t>项目概述</a:t>
              </a:r>
              <a:endParaRPr lang="zh-CN" altLang="en-US" sz="1400" b="1" kern="1200" dirty="0">
                <a:solidFill>
                  <a:srgbClr val="00B0F0">
                    <a:alpha val="48000"/>
                  </a:srgbClr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6B8A">
                  <a:alpha val="24000"/>
                </a:srgbClr>
              </a:gs>
              <a:gs pos="20000">
                <a:srgbClr val="FF6B8A">
                  <a:alpha val="8000"/>
                </a:srgbClr>
              </a:gs>
              <a:gs pos="40000">
                <a:srgbClr val="FF6B8A">
                  <a:alpha val="0"/>
                </a:srgbClr>
              </a:gs>
              <a:gs pos="100000">
                <a:srgbClr val="FF6B8A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318" y="941832"/>
            <a:ext cx="12191695" cy="475488"/>
          </a:xfrm>
          <a:prstGeom prst="line">
            <a:avLst/>
          </a:prstGeom>
          <a:ln w="10160">
            <a:solidFill>
              <a:srgbClr val="FF6B8A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18" y="2834640"/>
            <a:ext cx="12191695" cy="475488"/>
          </a:xfrm>
          <a:prstGeom prst="line">
            <a:avLst/>
          </a:prstGeom>
          <a:ln w="10160">
            <a:solidFill>
              <a:srgbClr val="FF6B8A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18" y="5522975"/>
            <a:ext cx="12191695" cy="475489"/>
          </a:xfrm>
          <a:prstGeom prst="line">
            <a:avLst/>
          </a:prstGeom>
          <a:ln w="10160">
            <a:solidFill>
              <a:srgbClr val="FF6B8A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79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67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827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79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958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438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478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558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4238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358" y="167195"/>
            <a:ext cx="2194560" cy="25082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小慧 · HR数字员工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Parallelogram 16"/>
          <p:cNvSpPr/>
          <p:nvPr/>
        </p:nvSpPr>
        <p:spPr>
          <a:xfrm>
            <a:off x="274351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51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Parallelogram 18"/>
          <p:cNvSpPr/>
          <p:nvPr/>
        </p:nvSpPr>
        <p:spPr>
          <a:xfrm>
            <a:off x="475519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519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方案规划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Parallelogram 20"/>
          <p:cNvSpPr/>
          <p:nvPr/>
        </p:nvSpPr>
        <p:spPr>
          <a:xfrm>
            <a:off x="6766878" y="109728"/>
            <a:ext cx="1920240" cy="365760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87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技能演示</a:t>
            </a:r>
            <a:endParaRPr sz="13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Parallelogram 22"/>
          <p:cNvSpPr/>
          <p:nvPr/>
        </p:nvSpPr>
        <p:spPr>
          <a:xfrm>
            <a:off x="877855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55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成果展望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17086" y="177419"/>
            <a:ext cx="105156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24 / 38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8" y="658368"/>
            <a:ext cx="12191695" cy="420624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790" y="761111"/>
            <a:ext cx="868680" cy="1968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技能地图</a:t>
            </a:r>
            <a:endParaRPr sz="1050" b="1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24390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901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总控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4702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702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招聘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5014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5014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入职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5326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326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行政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656381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56381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绩效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3278" y="1327150"/>
            <a:ext cx="5486400" cy="2717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03  ADMIN AGENT</a:t>
            </a:r>
            <a:endParaRPr sz="140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86701" y="1713230"/>
            <a:ext cx="10515600" cy="7797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行政 Agent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23278" y="2606040"/>
            <a:ext cx="822960" cy="64008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278" y="2829370"/>
            <a:ext cx="10515600" cy="33972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员工问制度、HR 查数据：制度有出处，数据有权限</a:t>
            </a:r>
            <a:endParaRPr sz="180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44"/>
          <p:cNvSpPr txBox="1"/>
          <p:nvPr/>
        </p:nvSpPr>
        <p:spPr>
          <a:xfrm>
            <a:off x="1829117" y="2481580"/>
            <a:ext cx="3749039" cy="3124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8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第三道坎 · 查得不清</a:t>
            </a:r>
            <a:endParaRPr sz="180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23278" y="3338640"/>
            <a:ext cx="6400800" cy="23558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00D8FF"/>
                </a:solidFill>
                <a:latin typeface="微软雅黑" panose="020B0503020204020204" charset="-122"/>
                <a:ea typeface="微软雅黑" panose="020B0503020204020204" charset="-122"/>
              </a:rPr>
              <a:t>业务全貌 · 三项业务</a:t>
            </a:r>
            <a:endParaRPr sz="1300" b="1">
              <a:solidFill>
                <a:srgbClr val="0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281478" y="3346704"/>
            <a:ext cx="621792" cy="237744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478" y="3370961"/>
            <a:ext cx="621792" cy="18923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endParaRPr sz="10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994710" y="3346704"/>
            <a:ext cx="621792" cy="237744"/>
          </a:xfrm>
          <a:prstGeom prst="rect">
            <a:avLst/>
          </a:prstGeom>
          <a:solidFill>
            <a:srgbClr val="26D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94710" y="3370961"/>
            <a:ext cx="621792" cy="18923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脚本</a:t>
            </a:r>
            <a:endParaRPr sz="10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707942" y="3346704"/>
            <a:ext cx="621792" cy="237744"/>
          </a:xfrm>
          <a:prstGeom prst="rect">
            <a:avLst/>
          </a:prstGeom>
          <a:solidFill>
            <a:srgbClr val="FFA4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07942" y="3370961"/>
            <a:ext cx="621792" cy="18923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sz="10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23278" y="3730752"/>
            <a:ext cx="3429000" cy="2542032"/>
          </a:xfrm>
          <a:prstGeom prst="rect">
            <a:avLst/>
          </a:prstGeom>
          <a:solidFill>
            <a:srgbClr val="032B5C"/>
          </a:solidFill>
          <a:ln w="12700">
            <a:solidFill>
              <a:srgbClr val="044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438" y="3839274"/>
            <a:ext cx="2103120" cy="25844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制度答疑</a:t>
            </a:r>
            <a:endParaRPr sz="1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60438" y="4242816"/>
            <a:ext cx="3154680" cy="384048"/>
          </a:xfrm>
          <a:prstGeom prst="rect">
            <a:avLst/>
          </a:prstGeom>
          <a:solidFill>
            <a:srgbClr val="00112C"/>
          </a:solidFill>
          <a:ln w="12700">
            <a:solidFill>
              <a:srgbClr val="044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0438" y="4242816"/>
            <a:ext cx="64008" cy="384048"/>
          </a:xfrm>
          <a:prstGeom prst="rect">
            <a:avLst/>
          </a:prstGeom>
          <a:solidFill>
            <a:srgbClr val="044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598" y="4344035"/>
            <a:ext cx="566928" cy="181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sz="950" b="1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646238" y="4328795"/>
            <a:ext cx="2450592" cy="2120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5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员工在飞书提问</a:t>
            </a:r>
            <a:endParaRPr sz="115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60438" y="4736592"/>
            <a:ext cx="3154680" cy="384048"/>
          </a:xfrm>
          <a:prstGeom prst="rect">
            <a:avLst/>
          </a:prstGeom>
          <a:solidFill>
            <a:srgbClr val="00112C"/>
          </a:solidFill>
          <a:ln w="12700">
            <a:solidFill>
              <a:srgbClr val="26D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0438" y="4736592"/>
            <a:ext cx="64008" cy="384048"/>
          </a:xfrm>
          <a:prstGeom prst="rect">
            <a:avLst/>
          </a:prstGeom>
          <a:solidFill>
            <a:srgbClr val="26D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7598" y="4837811"/>
            <a:ext cx="566928" cy="181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脚本</a:t>
            </a:r>
            <a:endParaRPr sz="950" b="1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646238" y="4822571"/>
            <a:ext cx="2450592" cy="2120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5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检索 14 份制度，无命中即退出</a:t>
            </a:r>
            <a:endParaRPr sz="115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60438" y="5230368"/>
            <a:ext cx="3154680" cy="384048"/>
          </a:xfrm>
          <a:prstGeom prst="rect">
            <a:avLst/>
          </a:prstGeom>
          <a:solidFill>
            <a:srgbClr val="00112C"/>
          </a:solidFill>
          <a:ln w="12700">
            <a:solidFill>
              <a:srgbClr val="0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60438" y="5230368"/>
            <a:ext cx="64008" cy="384048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97598" y="5331587"/>
            <a:ext cx="566928" cy="181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>
                <a:solidFill>
                  <a:srgbClr val="00D8FF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endParaRPr sz="950" b="1">
              <a:solidFill>
                <a:srgbClr val="0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646238" y="5316347"/>
            <a:ext cx="2450592" cy="2120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5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照原文作答，标出处</a:t>
            </a:r>
            <a:endParaRPr sz="115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60438" y="5724144"/>
            <a:ext cx="3154680" cy="384048"/>
          </a:xfrm>
          <a:prstGeom prst="rect">
            <a:avLst/>
          </a:prstGeom>
          <a:solidFill>
            <a:srgbClr val="00112C"/>
          </a:solidFill>
          <a:ln w="12700">
            <a:solidFill>
              <a:srgbClr val="FFA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0438" y="5724144"/>
            <a:ext cx="64008" cy="384048"/>
          </a:xfrm>
          <a:prstGeom prst="rect">
            <a:avLst/>
          </a:prstGeom>
          <a:solidFill>
            <a:srgbClr val="FFA4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598" y="5825363"/>
            <a:ext cx="566928" cy="181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>
                <a:solidFill>
                  <a:srgbClr val="FFA421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sz="950" b="1">
              <a:solidFill>
                <a:srgbClr val="FFA4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646238" y="5810123"/>
            <a:ext cx="2450592" cy="2120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5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个案、争议转 HR</a:t>
            </a:r>
            <a:endParaRPr sz="115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389438" y="3730752"/>
            <a:ext cx="3429000" cy="2542032"/>
          </a:xfrm>
          <a:prstGeom prst="rect">
            <a:avLst/>
          </a:prstGeom>
          <a:solidFill>
            <a:srgbClr val="032B5C"/>
          </a:solidFill>
          <a:ln w="12700">
            <a:solidFill>
              <a:srgbClr val="044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26598" y="3839274"/>
            <a:ext cx="2103120" cy="25844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员工数据查询</a:t>
            </a:r>
            <a:endParaRPr sz="1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4526598" y="4242816"/>
            <a:ext cx="3154680" cy="384048"/>
          </a:xfrm>
          <a:prstGeom prst="rect">
            <a:avLst/>
          </a:prstGeom>
          <a:solidFill>
            <a:srgbClr val="00112C"/>
          </a:solidFill>
          <a:ln w="12700">
            <a:solidFill>
              <a:srgbClr val="26D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26598" y="4242816"/>
            <a:ext cx="64008" cy="384048"/>
          </a:xfrm>
          <a:prstGeom prst="rect">
            <a:avLst/>
          </a:prstGeom>
          <a:solidFill>
            <a:srgbClr val="26D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63758" y="4344035"/>
            <a:ext cx="566928" cy="181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网关</a:t>
            </a:r>
            <a:endParaRPr sz="950" b="1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212398" y="4328795"/>
            <a:ext cx="2450592" cy="2120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5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飞书配对：未登记只收到配对码</a:t>
            </a:r>
            <a:endParaRPr sz="115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526598" y="4736592"/>
            <a:ext cx="3154680" cy="384048"/>
          </a:xfrm>
          <a:prstGeom prst="rect">
            <a:avLst/>
          </a:prstGeom>
          <a:solidFill>
            <a:srgbClr val="00112C"/>
          </a:solidFill>
          <a:ln w="12700">
            <a:solidFill>
              <a:srgbClr val="26D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26598" y="4736592"/>
            <a:ext cx="64008" cy="384048"/>
          </a:xfrm>
          <a:prstGeom prst="rect">
            <a:avLst/>
          </a:prstGeom>
          <a:solidFill>
            <a:srgbClr val="26D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63758" y="4837811"/>
            <a:ext cx="566928" cy="181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网关</a:t>
            </a:r>
            <a:endParaRPr sz="950" b="1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212398" y="4822571"/>
            <a:ext cx="2450592" cy="2120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5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按发送人分配工具</a:t>
            </a:r>
            <a:endParaRPr sz="115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4526598" y="5230368"/>
            <a:ext cx="3154680" cy="384048"/>
          </a:xfrm>
          <a:prstGeom prst="rect">
            <a:avLst/>
          </a:prstGeom>
          <a:solidFill>
            <a:srgbClr val="00112C"/>
          </a:solidFill>
          <a:ln w="12700">
            <a:solidFill>
              <a:srgbClr val="26D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26598" y="5230368"/>
            <a:ext cx="64008" cy="384048"/>
          </a:xfrm>
          <a:prstGeom prst="rect">
            <a:avLst/>
          </a:prstGeom>
          <a:solidFill>
            <a:srgbClr val="26D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63758" y="5331587"/>
            <a:ext cx="566928" cy="181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脚本</a:t>
            </a:r>
            <a:endParaRPr sz="950" b="1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212398" y="5316347"/>
            <a:ext cx="2450592" cy="2120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5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闸门先判身份：非 HR 退出码 3</a:t>
            </a:r>
            <a:endParaRPr sz="115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526598" y="5724144"/>
            <a:ext cx="3154680" cy="384048"/>
          </a:xfrm>
          <a:prstGeom prst="rect">
            <a:avLst/>
          </a:prstGeom>
          <a:solidFill>
            <a:srgbClr val="00112C"/>
          </a:solidFill>
          <a:ln w="12700">
            <a:solidFill>
              <a:srgbClr val="FFA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526598" y="5724144"/>
            <a:ext cx="64008" cy="384048"/>
          </a:xfrm>
          <a:prstGeom prst="rect">
            <a:avLst/>
          </a:prstGeom>
          <a:solidFill>
            <a:srgbClr val="FFA4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63758" y="5825363"/>
            <a:ext cx="566928" cy="181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>
                <a:solidFill>
                  <a:srgbClr val="FFA421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sz="950" b="1">
              <a:solidFill>
                <a:srgbClr val="FFA4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212398" y="5810123"/>
            <a:ext cx="2450592" cy="2120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5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HR 过闸，读 HCM</a:t>
            </a:r>
            <a:endParaRPr sz="115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7955597" y="3730752"/>
            <a:ext cx="3429000" cy="2542032"/>
          </a:xfrm>
          <a:prstGeom prst="rect">
            <a:avLst/>
          </a:prstGeom>
          <a:solidFill>
            <a:srgbClr val="032B5C"/>
          </a:solidFill>
          <a:ln w="12700">
            <a:solidFill>
              <a:srgbClr val="044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92758" y="3839274"/>
            <a:ext cx="2103120" cy="25844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HR 月报</a:t>
            </a:r>
            <a:endParaRPr sz="1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8092758" y="4242816"/>
            <a:ext cx="3154680" cy="384048"/>
          </a:xfrm>
          <a:prstGeom prst="rect">
            <a:avLst/>
          </a:prstGeom>
          <a:solidFill>
            <a:srgbClr val="00112C"/>
          </a:solidFill>
          <a:ln w="12700">
            <a:solidFill>
              <a:srgbClr val="044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92758" y="4242816"/>
            <a:ext cx="64008" cy="384048"/>
          </a:xfrm>
          <a:prstGeom prst="rect">
            <a:avLst/>
          </a:prstGeom>
          <a:solidFill>
            <a:srgbClr val="044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29918" y="4344035"/>
            <a:ext cx="566928" cy="181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sz="950" b="1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778558" y="4328795"/>
            <a:ext cx="2450592" cy="2120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5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6 张台账</a:t>
            </a:r>
            <a:endParaRPr sz="115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8092758" y="4736592"/>
            <a:ext cx="3154680" cy="384048"/>
          </a:xfrm>
          <a:prstGeom prst="rect">
            <a:avLst/>
          </a:prstGeom>
          <a:solidFill>
            <a:srgbClr val="00112C"/>
          </a:solidFill>
          <a:ln w="12700">
            <a:solidFill>
              <a:srgbClr val="26D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092758" y="4736592"/>
            <a:ext cx="64008" cy="384048"/>
          </a:xfrm>
          <a:prstGeom prst="rect">
            <a:avLst/>
          </a:prstGeom>
          <a:solidFill>
            <a:srgbClr val="26D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29918" y="4837811"/>
            <a:ext cx="566928" cy="181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脚本</a:t>
            </a:r>
            <a:endParaRPr sz="950" b="1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778558" y="4822571"/>
            <a:ext cx="2450592" cy="2120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5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算 18 个指标，逐项回核来源</a:t>
            </a:r>
            <a:endParaRPr sz="115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8092758" y="5230368"/>
            <a:ext cx="3154680" cy="384048"/>
          </a:xfrm>
          <a:prstGeom prst="rect">
            <a:avLst/>
          </a:prstGeom>
          <a:solidFill>
            <a:srgbClr val="00112C"/>
          </a:solidFill>
          <a:ln w="12700">
            <a:solidFill>
              <a:srgbClr val="0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092758" y="5230368"/>
            <a:ext cx="64008" cy="384048"/>
          </a:xfrm>
          <a:prstGeom prst="rect">
            <a:avLst/>
          </a:prstGeom>
          <a:solidFill>
            <a:srgbClr val="0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29918" y="5331587"/>
            <a:ext cx="566928" cy="181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>
                <a:solidFill>
                  <a:srgbClr val="00D8FF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endParaRPr sz="950" b="1">
              <a:solidFill>
                <a:srgbClr val="0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8778558" y="5316347"/>
            <a:ext cx="2450592" cy="2120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5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转述结果、解释口径，不改数</a:t>
            </a:r>
            <a:endParaRPr sz="115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8092758" y="5724144"/>
            <a:ext cx="3154680" cy="384048"/>
          </a:xfrm>
          <a:prstGeom prst="rect">
            <a:avLst/>
          </a:prstGeom>
          <a:solidFill>
            <a:srgbClr val="00112C"/>
          </a:solidFill>
          <a:ln w="12700">
            <a:solidFill>
              <a:srgbClr val="FFA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92758" y="5724144"/>
            <a:ext cx="64008" cy="384048"/>
          </a:xfrm>
          <a:prstGeom prst="rect">
            <a:avLst/>
          </a:prstGeom>
          <a:solidFill>
            <a:srgbClr val="FFA4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9918" y="5825363"/>
            <a:ext cx="566928" cy="181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>
                <a:solidFill>
                  <a:srgbClr val="FFA421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sz="950" b="1">
              <a:solidFill>
                <a:srgbClr val="FFA4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8778558" y="5810123"/>
            <a:ext cx="2450592" cy="2120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50" b="0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HR 审阅后使用</a:t>
            </a:r>
            <a:endParaRPr sz="1150" b="0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18" y="1078992"/>
            <a:ext cx="109728" cy="5779008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6B8A">
                  <a:alpha val="24000"/>
                </a:srgbClr>
              </a:gs>
              <a:gs pos="40000">
                <a:srgbClr val="FF6B8A">
                  <a:alpha val="24000"/>
                </a:srgbClr>
              </a:gs>
              <a:gs pos="57500">
                <a:srgbClr val="FF6B8A">
                  <a:alpha val="8000"/>
                </a:srgbClr>
              </a:gs>
              <a:gs pos="75000">
                <a:srgbClr val="FF6B8A">
                  <a:alpha val="0"/>
                </a:srgbClr>
              </a:gs>
              <a:gs pos="100000">
                <a:srgbClr val="FF6B8A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318" y="941832"/>
            <a:ext cx="12191695" cy="475488"/>
          </a:xfrm>
          <a:prstGeom prst="line">
            <a:avLst/>
          </a:prstGeom>
          <a:ln w="1016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18" y="2834640"/>
            <a:ext cx="12191695" cy="475488"/>
          </a:xfrm>
          <a:prstGeom prst="line">
            <a:avLst/>
          </a:prstGeom>
          <a:ln w="1016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18" y="5522975"/>
            <a:ext cx="12191695" cy="475489"/>
          </a:xfrm>
          <a:prstGeom prst="line">
            <a:avLst/>
          </a:prstGeom>
          <a:ln w="1016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79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67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827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79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958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438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478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558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4238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358" y="167195"/>
            <a:ext cx="2194560" cy="25082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小慧 · HR数字员工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Parallelogram 16"/>
          <p:cNvSpPr/>
          <p:nvPr/>
        </p:nvSpPr>
        <p:spPr>
          <a:xfrm>
            <a:off x="274351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51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Parallelogram 18"/>
          <p:cNvSpPr/>
          <p:nvPr/>
        </p:nvSpPr>
        <p:spPr>
          <a:xfrm>
            <a:off x="475519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519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方案规划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Parallelogram 20"/>
          <p:cNvSpPr/>
          <p:nvPr/>
        </p:nvSpPr>
        <p:spPr>
          <a:xfrm>
            <a:off x="6766878" y="109728"/>
            <a:ext cx="1920240" cy="365760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87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技能演示</a:t>
            </a:r>
            <a:endParaRPr sz="13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Parallelogram 22"/>
          <p:cNvSpPr/>
          <p:nvPr/>
        </p:nvSpPr>
        <p:spPr>
          <a:xfrm>
            <a:off x="877855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55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成果展望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17086" y="177419"/>
            <a:ext cx="105156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15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25 / 38</a:t>
            </a:r>
            <a:endParaRPr sz="115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8" y="658368"/>
            <a:ext cx="12191695" cy="420624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790" y="761111"/>
            <a:ext cx="868680" cy="1968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技能地图</a:t>
            </a:r>
            <a:endParaRPr sz="1050" b="1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24390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901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总控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4702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702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招聘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5014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5014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入职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5326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326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行政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656381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56381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绩效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9229" y="1188720"/>
            <a:ext cx="5486400" cy="2044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03  ADMIN AGENT · MECHANISM 1</a:t>
            </a:r>
            <a:endParaRPr sz="1100" b="1">
              <a:solidFill>
                <a:srgbClr val="0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20941" y="1399032"/>
            <a:ext cx="11155680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优设标题黑" panose="00000500000000000000" charset="-122"/>
                <a:ea typeface="优设标题黑" panose="00000500000000000000" charset="-122"/>
              </a:rPr>
              <a:t>行政 · 有据：规则照原文答，个案交给人</a:t>
            </a:r>
            <a:endParaRPr sz="2400" b="1">
              <a:solidFill>
                <a:srgbClr val="FFFFFF"/>
              </a:soli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9230" y="1920240"/>
            <a:ext cx="685800" cy="45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478" y="1847088"/>
            <a:ext cx="10424160" cy="2355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人与 Agent 的边界：先判断该不该答，再检索原文作答并标出处；碰到五条红线，判断权归人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39230" y="2475484"/>
            <a:ext cx="2622041" cy="548640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9230" y="2620582"/>
            <a:ext cx="2622041" cy="25844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① 该不该答</a:t>
            </a:r>
            <a:endParaRPr sz="14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39230" y="3042412"/>
            <a:ext cx="2622041" cy="212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碰到红线 → 转人工</a:t>
            </a:r>
            <a:endParaRPr sz="115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3097847" y="2749803"/>
            <a:ext cx="201168" cy="0"/>
          </a:xfrm>
          <a:prstGeom prst="line">
            <a:avLst/>
          </a:prstGeom>
          <a:ln w="16510">
            <a:solidFill>
              <a:srgbClr val="1268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335591" y="2475484"/>
            <a:ext cx="2622041" cy="54864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5591" y="2620582"/>
            <a:ext cx="2622041" cy="25844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② 检索 IMA 原文</a:t>
            </a:r>
            <a:endParaRPr sz="1450" b="1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335591" y="3042412"/>
            <a:ext cx="2622041" cy="212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14 份制度 · 找不到就停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994209" y="2749803"/>
            <a:ext cx="201168" cy="0"/>
          </a:xfrm>
          <a:prstGeom prst="line">
            <a:avLst/>
          </a:prstGeom>
          <a:ln w="16510">
            <a:solidFill>
              <a:srgbClr val="1268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231954" y="2475484"/>
            <a:ext cx="2622041" cy="54864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1954" y="2620582"/>
            <a:ext cx="2622041" cy="25844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③ 按原文作答</a:t>
            </a:r>
            <a:endParaRPr sz="1450" b="1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31954" y="3042412"/>
            <a:ext cx="2622041" cy="212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不补常识、不改数字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8890571" y="2749803"/>
            <a:ext cx="201169" cy="0"/>
          </a:xfrm>
          <a:prstGeom prst="line">
            <a:avLst/>
          </a:prstGeom>
          <a:ln w="16510">
            <a:solidFill>
              <a:srgbClr val="1268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128315" y="2475484"/>
            <a:ext cx="2622041" cy="548640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28315" y="2620582"/>
            <a:ext cx="2622041" cy="25844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④ 标出处</a:t>
            </a:r>
            <a:endParaRPr sz="14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128315" y="3042412"/>
            <a:ext cx="2622041" cy="212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末尾写“政策依据：《…》”</a:t>
            </a:r>
            <a:endParaRPr sz="115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39420" y="3389630"/>
            <a:ext cx="3721100" cy="250571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686" y="3463036"/>
            <a:ext cx="3200400" cy="266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五条红线：一律转人工</a:t>
            </a:r>
            <a:endParaRPr sz="150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6974" y="3956812"/>
            <a:ext cx="128016" cy="12801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718" y="3908362"/>
            <a:ext cx="2926080" cy="2432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个人金额与个人数据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6974" y="4350003"/>
            <a:ext cx="128016" cy="12801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718" y="4301553"/>
            <a:ext cx="2926080" cy="2432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个案争议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76974" y="4743196"/>
            <a:ext cx="128016" cy="12801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718" y="4694746"/>
            <a:ext cx="2926080" cy="2432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法律定性、仲裁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6974" y="5136388"/>
            <a:ext cx="128016" cy="12801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718" y="5087938"/>
            <a:ext cx="2926080" cy="2432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知识库里没有依据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76974" y="5529579"/>
            <a:ext cx="128016" cy="12801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718" y="5481130"/>
            <a:ext cx="2926080" cy="2432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审批与最终决定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4233545" y="3383915"/>
            <a:ext cx="3722370" cy="250571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p29-ima-feishu-tab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6241" y="3463036"/>
            <a:ext cx="2743830" cy="208483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421441" y="5655945"/>
            <a:ext cx="3383280" cy="20447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飞书实拍 · 年假 · 依据《03-假期政策》</a:t>
            </a:r>
            <a:endParaRPr sz="1100" b="1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028940" y="3389630"/>
            <a:ext cx="3721100" cy="2505710"/>
          </a:xfrm>
          <a:prstGeom prst="roundRect">
            <a:avLst>
              <a:gd name="adj" fmla="val 8000"/>
            </a:avLst>
          </a:prstGeom>
          <a:solidFill>
            <a:srgbClr val="00112C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63865" y="3463290"/>
            <a:ext cx="3556635" cy="265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碰到红线时怎么答 · 实测</a:t>
            </a:r>
            <a:endParaRPr sz="150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063865" y="3810635"/>
            <a:ext cx="3556635" cy="4838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“加班 20 小时没有加班费，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这是违法克扣吧？怎么维权？”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063230" y="4391660"/>
            <a:ext cx="98806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通用规则</a:t>
            </a:r>
            <a:endParaRPr sz="1250" b="1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016302" y="4395597"/>
            <a:ext cx="1655064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讲调休优先、结算口径</a:t>
            </a:r>
            <a:endParaRPr sz="12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10726230" y="4368292"/>
            <a:ext cx="822960" cy="27432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726230" y="4399407"/>
            <a:ext cx="82296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带出处</a:t>
            </a:r>
            <a:endParaRPr sz="1150" b="1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064500" y="4757420"/>
            <a:ext cx="986790" cy="1803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你的工资条</a:t>
            </a:r>
            <a:endParaRPr sz="1250" b="1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016302" y="4761357"/>
            <a:ext cx="1655064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看不到个人数据</a:t>
            </a:r>
            <a:endParaRPr sz="12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10726230" y="4734052"/>
            <a:ext cx="822960" cy="27432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E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726230" y="4765167"/>
            <a:ext cx="82296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94F4F"/>
                </a:solidFill>
                <a:latin typeface="微软雅黑" panose="020B0503020204020204" charset="-122"/>
                <a:ea typeface="微软雅黑" panose="020B0503020204020204" charset="-122"/>
              </a:rPr>
              <a:t>转人工</a:t>
            </a:r>
            <a:endParaRPr sz="1150" b="1">
              <a:solidFill>
                <a:srgbClr val="E9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063230" y="5123180"/>
            <a:ext cx="988060" cy="208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是否违法</a:t>
            </a:r>
            <a:endParaRPr sz="1250" b="1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016302" y="5127117"/>
            <a:ext cx="1655064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属于法律定性</a:t>
            </a:r>
            <a:endParaRPr sz="12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10726230" y="5099812"/>
            <a:ext cx="822960" cy="27432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E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726230" y="5130927"/>
            <a:ext cx="82296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94F4F"/>
                </a:solidFill>
                <a:latin typeface="微软雅黑" panose="020B0503020204020204" charset="-122"/>
                <a:ea typeface="微软雅黑" panose="020B0503020204020204" charset="-122"/>
              </a:rPr>
              <a:t>转人工</a:t>
            </a:r>
            <a:endParaRPr sz="1150" b="1">
              <a:solidFill>
                <a:srgbClr val="E9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064500" y="5529580"/>
            <a:ext cx="3556000" cy="1955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规则照答，个案交给人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439230" y="6023356"/>
            <a:ext cx="3721608" cy="56692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48958" y="6160516"/>
            <a:ext cx="896112" cy="292608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957" y="6192203"/>
            <a:ext cx="896112" cy="2292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出自哪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518222" y="6183313"/>
            <a:ext cx="2569464" cy="24701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公司 14 份制度原文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4233990" y="6023356"/>
            <a:ext cx="3721608" cy="56692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343718" y="6160516"/>
            <a:ext cx="896112" cy="292608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43718" y="6192203"/>
            <a:ext cx="896112" cy="2292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哪些不答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312982" y="6183313"/>
            <a:ext cx="2569464" cy="24701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五条红线，判断权转人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8028750" y="6023356"/>
            <a:ext cx="3721608" cy="56692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138478" y="6160516"/>
            <a:ext cx="896112" cy="292608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138478" y="6192203"/>
            <a:ext cx="896112" cy="2292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怎么证明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9107742" y="6183313"/>
            <a:ext cx="2569464" cy="24701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回答末尾标出处；无依据即停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318" y="1078992"/>
            <a:ext cx="73152" cy="5779008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Rounded Rectangle 200"/>
          <p:cNvSpPr/>
          <p:nvPr/>
        </p:nvSpPr>
        <p:spPr>
          <a:xfrm>
            <a:off x="439420" y="2157730"/>
            <a:ext cx="11311255" cy="25400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902" name="Rounded Rectangle 201"/>
          <p:cNvSpPr/>
          <p:nvPr/>
        </p:nvSpPr>
        <p:spPr>
          <a:xfrm>
            <a:off x="528320" y="2188210"/>
            <a:ext cx="1085850" cy="193040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903" name="TextBox 202"/>
          <p:cNvSpPr txBox="1"/>
          <p:nvPr/>
        </p:nvSpPr>
        <p:spPr>
          <a:xfrm>
            <a:off x="528320" y="2188210"/>
            <a:ext cx="1085850" cy="193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因 · 企业的规</a:t>
            </a:r>
            <a:endParaRPr sz="10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4" name="TextBox 203"/>
          <p:cNvSpPr txBox="1"/>
          <p:nvPr/>
        </p:nvSpPr>
        <p:spPr>
          <a:xfrm>
            <a:off x="1728470" y="2157730"/>
            <a:ext cx="10022205" cy="2540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制度以原文为准，个案由人定 —— 答制度要说清</a:t>
            </a:r>
            <a:r>
              <a:rPr sz="11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出自哪份制度</a:t>
            </a: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、答错能查到原因；争议、法律定性、审批的判断权在人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6B8A">
                  <a:alpha val="24000"/>
                </a:srgbClr>
              </a:gs>
              <a:gs pos="65000">
                <a:srgbClr val="FF6B8A">
                  <a:alpha val="24000"/>
                </a:srgbClr>
              </a:gs>
              <a:gs pos="80000">
                <a:srgbClr val="FF6B8A">
                  <a:alpha val="8000"/>
                </a:srgbClr>
              </a:gs>
              <a:gs pos="95000">
                <a:srgbClr val="FF6B8A">
                  <a:alpha val="0"/>
                </a:srgbClr>
              </a:gs>
              <a:gs pos="100000">
                <a:srgbClr val="FF6B8A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318" y="941832"/>
            <a:ext cx="12191695" cy="475488"/>
          </a:xfrm>
          <a:prstGeom prst="line">
            <a:avLst/>
          </a:prstGeom>
          <a:ln w="1016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18" y="2834640"/>
            <a:ext cx="12191695" cy="475488"/>
          </a:xfrm>
          <a:prstGeom prst="line">
            <a:avLst/>
          </a:prstGeom>
          <a:ln w="1016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Rounded Rectangle 200"/>
          <p:cNvSpPr/>
          <p:nvPr/>
        </p:nvSpPr>
        <p:spPr>
          <a:xfrm>
            <a:off x="439420" y="2164715"/>
            <a:ext cx="11311255" cy="25400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318" y="5522975"/>
            <a:ext cx="12191695" cy="475489"/>
          </a:xfrm>
          <a:prstGeom prst="line">
            <a:avLst/>
          </a:prstGeom>
          <a:ln w="1016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79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67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827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79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958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438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478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558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4238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358" y="167195"/>
            <a:ext cx="2194560" cy="25082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小慧 · HR数字员工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Parallelogram 16"/>
          <p:cNvSpPr/>
          <p:nvPr/>
        </p:nvSpPr>
        <p:spPr>
          <a:xfrm>
            <a:off x="274351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51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Parallelogram 18"/>
          <p:cNvSpPr/>
          <p:nvPr/>
        </p:nvSpPr>
        <p:spPr>
          <a:xfrm>
            <a:off x="475519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519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方案规划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Parallelogram 20"/>
          <p:cNvSpPr/>
          <p:nvPr/>
        </p:nvSpPr>
        <p:spPr>
          <a:xfrm>
            <a:off x="6766878" y="109728"/>
            <a:ext cx="1920240" cy="365760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87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技能演示</a:t>
            </a:r>
            <a:endParaRPr sz="13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Parallelogram 22"/>
          <p:cNvSpPr/>
          <p:nvPr/>
        </p:nvSpPr>
        <p:spPr>
          <a:xfrm>
            <a:off x="877855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55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成果展望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17086" y="177419"/>
            <a:ext cx="105156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15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26 / 38</a:t>
            </a:r>
            <a:endParaRPr sz="115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8" y="658368"/>
            <a:ext cx="12191695" cy="420624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790" y="761111"/>
            <a:ext cx="868680" cy="1968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技能地图</a:t>
            </a:r>
            <a:endParaRPr sz="1050" b="1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24390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901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总控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4702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702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招聘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5014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5014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入职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5326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326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行政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656381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56381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绩效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9229" y="1188720"/>
            <a:ext cx="5486400" cy="2044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03  ADMIN AGENT · MECHANISM 2</a:t>
            </a:r>
            <a:endParaRPr sz="1100" b="1">
              <a:solidFill>
                <a:srgbClr val="0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20941" y="1399032"/>
            <a:ext cx="11155680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优设标题黑" panose="00000500000000000000" charset="-122"/>
                <a:ea typeface="优设标题黑" panose="00000500000000000000" charset="-122"/>
              </a:rPr>
              <a:t>行政 · 分权：先认人，再读数据；没权限，读取之前就拒绝</a:t>
            </a:r>
            <a:endParaRPr sz="2400" b="1">
              <a:solidFill>
                <a:srgbClr val="FFFFFF"/>
              </a:soli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9230" y="1920240"/>
            <a:ext cx="685800" cy="45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478" y="1847088"/>
            <a:ext cx="10424160" cy="2355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三层都写在配置和脚本里：网关认人 → 网关按人发工具 → 脚本在读数据之前判。以薪资为例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39230" y="6023356"/>
            <a:ext cx="3721608" cy="56692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48958" y="6160516"/>
            <a:ext cx="896112" cy="292608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957" y="6192203"/>
            <a:ext cx="896112" cy="2292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谁能查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518222" y="6183313"/>
            <a:ext cx="2569464" cy="24701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别人的个人数据，只有 HR 能查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4233990" y="6023356"/>
            <a:ext cx="3721608" cy="56692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343718" y="6160516"/>
            <a:ext cx="896112" cy="292608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43718" y="6192203"/>
            <a:ext cx="896112" cy="2292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谁来判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312982" y="6183313"/>
            <a:ext cx="2569464" cy="24701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飞书网关认人，闸门脚本判放行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8028750" y="6023356"/>
            <a:ext cx="3721608" cy="56692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8138478" y="6160516"/>
            <a:ext cx="896112" cy="292608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138478" y="6192203"/>
            <a:ext cx="896112" cy="2292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怎么证明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107742" y="6183313"/>
            <a:ext cx="2569464" cy="24701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现场三个身份 + 真实执行记录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439420" y="2411730"/>
            <a:ext cx="11311255" cy="46609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664525" y="2557590"/>
            <a:ext cx="9966960" cy="23812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工资、考勤这类员工个人数据，同事之间无权互查；一旦被看到，轻则攀比不满，重则外泄、引发纠纷，公司要担个人信息保护的责任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439230" y="2969260"/>
            <a:ext cx="3721608" cy="272491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548958" y="3060700"/>
            <a:ext cx="365760" cy="310896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8958" y="3088513"/>
            <a:ext cx="365760" cy="25527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sz="13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87870" y="3080258"/>
            <a:ext cx="3081528" cy="2717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飞书网关 · 认人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67246" y="3401822"/>
            <a:ext cx="3465576" cy="1955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openclaw.yaml › channels.feishu</a:t>
            </a:r>
            <a:endParaRPr sz="9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548958" y="3645915"/>
            <a:ext cx="3502152" cy="1463040"/>
          </a:xfrm>
          <a:prstGeom prst="roundRect">
            <a:avLst>
              <a:gd name="adj" fmla="val 8000"/>
            </a:avLst>
          </a:prstGeom>
          <a:solidFill>
            <a:srgbClr val="011030"/>
          </a:solidFill>
          <a:ln w="12700">
            <a:solidFill>
              <a:srgbClr val="1268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398" y="3899915"/>
            <a:ext cx="3319272" cy="955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"feishu": {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"dmPolicy": "pairing",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"groupPolicy": "allowlist",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"groupAllowFrom": ["oc_演示群"],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"requireMention": true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}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67246" y="5198046"/>
            <a:ext cx="3465576" cy="4070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没配对的账号只收到配对码，消息不交给 Agent；群里只认白名单群</a:t>
            </a:r>
            <a:endParaRPr sz="1100" b="1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4233990" y="2969260"/>
            <a:ext cx="3721608" cy="272491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343718" y="3060700"/>
            <a:ext cx="365760" cy="310896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43718" y="3088513"/>
            <a:ext cx="365760" cy="25527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sz="13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782630" y="3080258"/>
            <a:ext cx="3081528" cy="2717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网关 · 按人发工具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362006" y="3401822"/>
            <a:ext cx="3465576" cy="1955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agents › er-admin › toolsBySender</a:t>
            </a:r>
            <a:endParaRPr sz="9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4343718" y="3645915"/>
            <a:ext cx="3502152" cy="1463040"/>
          </a:xfrm>
          <a:prstGeom prst="roundRect">
            <a:avLst>
              <a:gd name="adj" fmla="val 8000"/>
            </a:avLst>
          </a:prstGeom>
          <a:solidFill>
            <a:srgbClr val="011030"/>
          </a:solidFill>
          <a:ln w="12700">
            <a:solidFill>
              <a:srgbClr val="1268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435158" y="3746880"/>
            <a:ext cx="3319272" cy="12611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"toolsBySender": {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"channel:feishu:ou_2f67…": {   </a:t>
            </a:r>
            <a:r>
              <a:rPr sz="950">
                <a:solidFill>
                  <a:srgbClr val="F5C542"/>
                </a:solidFill>
                <a:latin typeface="Consolas" panose="020B0609020204030204"/>
                <a:ea typeface="微软雅黑" panose="020B0503020204020204" charset="-122"/>
              </a:rPr>
              <a:t># HR</a:t>
            </a:r>
            <a:endParaRPr sz="950">
              <a:solidFill>
                <a:srgbClr val="F5C542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  "allow": ["exec","read",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            "write","edit"] },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"*": {                         </a:t>
            </a:r>
            <a:r>
              <a:rPr sz="950">
                <a:solidFill>
                  <a:srgbClr val="F5C542"/>
                </a:solidFill>
                <a:latin typeface="Consolas" panose="020B0609020204030204"/>
                <a:ea typeface="微软雅黑" panose="020B0503020204020204" charset="-122"/>
              </a:rPr>
              <a:t># 其他人</a:t>
            </a:r>
            <a:endParaRPr sz="950">
              <a:solidFill>
                <a:srgbClr val="F5C542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  "allow": ["exec","read"],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  "deny":  ["write","edit",…] }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}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362006" y="5198046"/>
            <a:ext cx="3465576" cy="4070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发送人由飞书网关给出，不看消息内容；只有 HR 能改文件</a:t>
            </a:r>
            <a:endParaRPr sz="1100" b="1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Rounded Rectangle 112"/>
          <p:cNvSpPr/>
          <p:nvPr/>
        </p:nvSpPr>
        <p:spPr>
          <a:xfrm>
            <a:off x="8028750" y="2969260"/>
            <a:ext cx="3721608" cy="272491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8138478" y="3060700"/>
            <a:ext cx="365760" cy="310896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138478" y="3088513"/>
            <a:ext cx="365760" cy="25527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sz="13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577390" y="3080258"/>
            <a:ext cx="3081528" cy="2717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闸门脚本 · 读之前判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8156766" y="3401822"/>
            <a:ext cx="3465576" cy="1955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er-admin-run.sh · hr-data-access.sh（节选）</a:t>
            </a:r>
            <a:endParaRPr sz="9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8138478" y="3645915"/>
            <a:ext cx="3502152" cy="1463040"/>
          </a:xfrm>
          <a:prstGeom prst="roundRect">
            <a:avLst>
              <a:gd name="adj" fmla="val 8000"/>
            </a:avLst>
          </a:prstGeom>
          <a:solidFill>
            <a:srgbClr val="011030"/>
          </a:solidFill>
          <a:ln w="12700">
            <a:solidFill>
              <a:srgbClr val="1268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29918" y="3754817"/>
            <a:ext cx="3319272" cy="12452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payroll-query)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require_hr_data       </a:t>
            </a:r>
            <a:r>
              <a:rPr sz="950">
                <a:solidFill>
                  <a:srgbClr val="F5C542"/>
                </a:solidFill>
                <a:latin typeface="Consolas" panose="020B0609020204030204"/>
                <a:ea typeface="微软雅黑" panose="020B0503020204020204" charset="-122"/>
              </a:rPr>
              <a:t># 不放行就 exit 3</a:t>
            </a:r>
            <a:endParaRPr sz="950">
              <a:solidFill>
                <a:srgbClr val="F5C542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exec python3 query_payroll.py ;;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check)  case "$(classify "$sender")" in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hr) {"allowed":true}          exit 0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950">
                <a:solidFill>
                  <a:srgbClr val="BFE9FF"/>
                </a:solidFill>
                <a:latin typeface="Consolas" panose="020B0609020204030204"/>
                <a:ea typeface="微软雅黑" panose="020B0503020204020204" charset="-122"/>
              </a:rPr>
              <a:t>  *)  {"allowed":false,…}       exit 3</a:t>
            </a:r>
            <a:endParaRPr sz="950">
              <a:solidFill>
                <a:srgbClr val="BFE9FF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8156766" y="5198046"/>
            <a:ext cx="3465576" cy="4070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HR 放行；已登记的非 HR、未登记的一律 exit 3，查询脚本不运行</a:t>
            </a:r>
            <a:endParaRPr sz="110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318" y="1078992"/>
            <a:ext cx="73152" cy="5779008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Rounded Rectangle 201"/>
          <p:cNvSpPr/>
          <p:nvPr/>
        </p:nvSpPr>
        <p:spPr>
          <a:xfrm>
            <a:off x="528320" y="2188210"/>
            <a:ext cx="1085850" cy="193040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103" name="TextBox 202"/>
          <p:cNvSpPr txBox="1"/>
          <p:nvPr/>
        </p:nvSpPr>
        <p:spPr>
          <a:xfrm>
            <a:off x="528320" y="2188210"/>
            <a:ext cx="1085850" cy="193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因 · 国家的法</a:t>
            </a:r>
            <a:endParaRPr sz="10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4" name="TextBox 203"/>
          <p:cNvSpPr txBox="1"/>
          <p:nvPr/>
        </p:nvSpPr>
        <p:spPr>
          <a:xfrm>
            <a:off x="1728470" y="2164715"/>
            <a:ext cx="10022205" cy="2540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个人数据按权限给 —— 《个人信息保护法》第六条 最小必要、第五十一条 合理确定操作权限｜《实施意见》第六条 执行不得超出用户授权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318" y="941832"/>
            <a:ext cx="12191695" cy="475488"/>
          </a:xfrm>
          <a:prstGeom prst="line">
            <a:avLst/>
          </a:prstGeom>
          <a:ln w="1016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18" y="2834640"/>
            <a:ext cx="12191695" cy="475488"/>
          </a:xfrm>
          <a:prstGeom prst="line">
            <a:avLst/>
          </a:prstGeom>
          <a:ln w="1016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18" y="5522975"/>
            <a:ext cx="12191695" cy="475489"/>
          </a:xfrm>
          <a:prstGeom prst="line">
            <a:avLst/>
          </a:prstGeom>
          <a:ln w="1016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79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67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827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79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958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438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478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558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4238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358" y="167195"/>
            <a:ext cx="2194560" cy="25082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小慧 · HR数字员工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Parallelogram 16"/>
          <p:cNvSpPr/>
          <p:nvPr/>
        </p:nvSpPr>
        <p:spPr>
          <a:xfrm>
            <a:off x="274351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51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Parallelogram 18"/>
          <p:cNvSpPr/>
          <p:nvPr/>
        </p:nvSpPr>
        <p:spPr>
          <a:xfrm>
            <a:off x="475519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519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方案规划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Parallelogram 20"/>
          <p:cNvSpPr/>
          <p:nvPr/>
        </p:nvSpPr>
        <p:spPr>
          <a:xfrm>
            <a:off x="6766878" y="109728"/>
            <a:ext cx="1920240" cy="365760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87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技能演示</a:t>
            </a:r>
            <a:endParaRPr sz="13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Parallelogram 22"/>
          <p:cNvSpPr/>
          <p:nvPr/>
        </p:nvSpPr>
        <p:spPr>
          <a:xfrm>
            <a:off x="877855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55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成果展望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17086" y="177419"/>
            <a:ext cx="105156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15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27 / 38</a:t>
            </a:r>
            <a:endParaRPr sz="115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8" y="658368"/>
            <a:ext cx="12191695" cy="420624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790" y="761111"/>
            <a:ext cx="868680" cy="1968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技能地图</a:t>
            </a:r>
            <a:endParaRPr sz="1050" b="1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24390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901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总控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4702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702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招聘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5014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5014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入职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5326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326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行政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656381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56381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绩效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9229" y="1188720"/>
            <a:ext cx="5486400" cy="2044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03  ADMIN AGENT · LINK</a:t>
            </a:r>
            <a:endParaRPr sz="110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20941" y="1399032"/>
            <a:ext cx="11155680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行政 · 分权链路：同一条消息，两种身份两种走法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9230" y="1920240"/>
            <a:ext cx="685800" cy="45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478" y="1847088"/>
            <a:ext cx="10424160" cy="2355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从飞书私聊到读 HCM 的完整链路；分叉点在闸门脚本，不在工具白名单。流程定义见 </a:t>
            </a:r>
            <a:r>
              <a:rPr sz="1250" b="1">
                <a:solidFill>
                  <a:srgbClr val="00D8FF"/>
                </a:solidFill>
                <a:latin typeface="Consolas" panose="020B0609020204030204"/>
                <a:ea typeface="微软雅黑" panose="020B0503020204020204" charset="-122"/>
              </a:rPr>
              <a:t>workspace-er-admin/AGENTS.md</a:t>
            </a:r>
            <a:endParaRPr sz="1250" b="1">
              <a:solidFill>
                <a:srgbClr val="00D8FF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301" name="Rounded Rectangle 310"/>
          <p:cNvSpPr/>
          <p:nvPr/>
        </p:nvSpPr>
        <p:spPr>
          <a:xfrm>
            <a:off x="439420" y="2197100"/>
            <a:ext cx="2413000" cy="60960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02" name="TextBox 311"/>
          <p:cNvSpPr txBox="1"/>
          <p:nvPr/>
        </p:nvSpPr>
        <p:spPr>
          <a:xfrm>
            <a:off x="553720" y="2279650"/>
            <a:ext cx="21844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一句话进飞书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3" name="TextBox 312"/>
          <p:cNvSpPr txBox="1"/>
          <p:nvPr/>
        </p:nvSpPr>
        <p:spPr>
          <a:xfrm>
            <a:off x="553720" y="2514600"/>
            <a:ext cx="21844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95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私聊：“请查询员工1的合同薪资”</a:t>
            </a:r>
            <a:endParaRPr sz="95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4" name="Rounded Rectangle 312"/>
          <p:cNvSpPr/>
          <p:nvPr/>
        </p:nvSpPr>
        <p:spPr>
          <a:xfrm>
            <a:off x="3404870" y="2197100"/>
            <a:ext cx="2413000" cy="60960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05" name="TextBox 313"/>
          <p:cNvSpPr txBox="1"/>
          <p:nvPr/>
        </p:nvSpPr>
        <p:spPr>
          <a:xfrm>
            <a:off x="3519170" y="2279650"/>
            <a:ext cx="21844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网关接入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6" name="TextBox 314"/>
          <p:cNvSpPr txBox="1"/>
          <p:nvPr/>
        </p:nvSpPr>
        <p:spPr>
          <a:xfrm>
            <a:off x="3519170" y="2514600"/>
            <a:ext cx="21844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950">
                <a:solidFill>
                  <a:srgbClr val="9EC2D8"/>
                </a:solidFill>
                <a:latin typeface="Consolas" panose="020B0609020204030204"/>
                <a:ea typeface="微软雅黑" panose="020B0503020204020204" charset="-122"/>
              </a:rPr>
              <a:t>websocket 长连接 · 私聊配对</a:t>
            </a:r>
            <a:endParaRPr sz="950">
              <a:solidFill>
                <a:srgbClr val="9EC2D8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307" name="Rounded Rectangle 314"/>
          <p:cNvSpPr/>
          <p:nvPr/>
        </p:nvSpPr>
        <p:spPr>
          <a:xfrm>
            <a:off x="6370320" y="2197100"/>
            <a:ext cx="2413000" cy="60960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08" name="TextBox 315"/>
          <p:cNvSpPr txBox="1"/>
          <p:nvPr/>
        </p:nvSpPr>
        <p:spPr>
          <a:xfrm>
            <a:off x="6484620" y="2279650"/>
            <a:ext cx="21844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按发送人发工具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9" name="TextBox 316"/>
          <p:cNvSpPr txBox="1"/>
          <p:nvPr/>
        </p:nvSpPr>
        <p:spPr>
          <a:xfrm>
            <a:off x="6484620" y="2514600"/>
            <a:ext cx="21844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950">
                <a:solidFill>
                  <a:srgbClr val="9EC2D8"/>
                </a:solidFill>
                <a:latin typeface="Consolas" panose="020B0609020204030204"/>
                <a:ea typeface="微软雅黑" panose="020B0503020204020204" charset="-122"/>
              </a:rPr>
              <a:t>toolsBySender：两边都拿到 exec</a:t>
            </a:r>
            <a:endParaRPr sz="950">
              <a:solidFill>
                <a:srgbClr val="9EC2D8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310" name="Rounded Rectangle 316"/>
          <p:cNvSpPr/>
          <p:nvPr/>
        </p:nvSpPr>
        <p:spPr>
          <a:xfrm>
            <a:off x="9335770" y="2197100"/>
            <a:ext cx="2413000" cy="60960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11" name="TextBox 317"/>
          <p:cNvSpPr txBox="1"/>
          <p:nvPr/>
        </p:nvSpPr>
        <p:spPr>
          <a:xfrm>
            <a:off x="9450070" y="2279650"/>
            <a:ext cx="21844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 模型请求 exec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2" name="TextBox 318"/>
          <p:cNvSpPr txBox="1"/>
          <p:nvPr/>
        </p:nvSpPr>
        <p:spPr>
          <a:xfrm>
            <a:off x="9450070" y="2514600"/>
            <a:ext cx="21844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95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er-admin-run.sh payroll-query</a:t>
            </a:r>
            <a:endParaRPr sz="95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3" name="Rectangle 330"/>
          <p:cNvSpPr/>
          <p:nvPr/>
        </p:nvSpPr>
        <p:spPr>
          <a:xfrm>
            <a:off x="2852420" y="2495550"/>
            <a:ext cx="457200" cy="12700"/>
          </a:xfrm>
          <a:prstGeom prst="rect">
            <a:avLst/>
          </a:prstGeom>
          <a:solidFill>
            <a:srgbClr val="1268A1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14" name="Rounded Rectangle 340"/>
          <p:cNvSpPr/>
          <p:nvPr/>
        </p:nvSpPr>
        <p:spPr>
          <a:xfrm rot="5400000">
            <a:off x="3287395" y="2454275"/>
            <a:ext cx="139700" cy="95250"/>
          </a:xfrm>
          <a:prstGeom prst="triangle">
            <a:avLst/>
          </a:prstGeom>
          <a:solidFill>
            <a:srgbClr val="1268A1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15" name="Rectangle 331"/>
          <p:cNvSpPr/>
          <p:nvPr/>
        </p:nvSpPr>
        <p:spPr>
          <a:xfrm>
            <a:off x="5817870" y="2495550"/>
            <a:ext cx="457200" cy="12700"/>
          </a:xfrm>
          <a:prstGeom prst="rect">
            <a:avLst/>
          </a:prstGeom>
          <a:solidFill>
            <a:srgbClr val="1268A1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16" name="Rounded Rectangle 341"/>
          <p:cNvSpPr/>
          <p:nvPr/>
        </p:nvSpPr>
        <p:spPr>
          <a:xfrm rot="5400000">
            <a:off x="6252845" y="2454275"/>
            <a:ext cx="139700" cy="95250"/>
          </a:xfrm>
          <a:prstGeom prst="triangle">
            <a:avLst/>
          </a:prstGeom>
          <a:solidFill>
            <a:srgbClr val="1268A1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17" name="Rectangle 332"/>
          <p:cNvSpPr/>
          <p:nvPr/>
        </p:nvSpPr>
        <p:spPr>
          <a:xfrm>
            <a:off x="8783320" y="2495550"/>
            <a:ext cx="457200" cy="12700"/>
          </a:xfrm>
          <a:prstGeom prst="rect">
            <a:avLst/>
          </a:prstGeom>
          <a:solidFill>
            <a:srgbClr val="1268A1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18" name="Rounded Rectangle 342"/>
          <p:cNvSpPr/>
          <p:nvPr/>
        </p:nvSpPr>
        <p:spPr>
          <a:xfrm rot="5400000">
            <a:off x="9218295" y="2454275"/>
            <a:ext cx="139700" cy="95250"/>
          </a:xfrm>
          <a:prstGeom prst="triangle">
            <a:avLst/>
          </a:prstGeom>
          <a:solidFill>
            <a:srgbClr val="1268A1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19" name="Rounded Rectangle 350"/>
          <p:cNvSpPr/>
          <p:nvPr/>
        </p:nvSpPr>
        <p:spPr>
          <a:xfrm>
            <a:off x="439420" y="2984500"/>
            <a:ext cx="11311255" cy="40640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20" name="Rounded Rectangle 351"/>
          <p:cNvSpPr/>
          <p:nvPr/>
        </p:nvSpPr>
        <p:spPr>
          <a:xfrm>
            <a:off x="528320" y="3079750"/>
            <a:ext cx="736600" cy="215900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21" name="TextBox 352"/>
          <p:cNvSpPr txBox="1"/>
          <p:nvPr/>
        </p:nvSpPr>
        <p:spPr>
          <a:xfrm>
            <a:off x="528320" y="3079750"/>
            <a:ext cx="736600" cy="2159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分配节点</a:t>
            </a:r>
            <a:endParaRPr sz="11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2" name="TextBox 353"/>
          <p:cNvSpPr txBox="1"/>
          <p:nvPr/>
        </p:nvSpPr>
        <p:spPr>
          <a:xfrm>
            <a:off x="1379220" y="2984500"/>
            <a:ext cx="5461000" cy="4064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闸门脚本 </a:t>
            </a:r>
            <a:r>
              <a:rPr sz="1200" b="1">
                <a:solidFill>
                  <a:srgbClr val="00D8FF"/>
                </a:solidFill>
                <a:latin typeface="Consolas" panose="020B0609020204030204"/>
                <a:ea typeface="微软雅黑" panose="020B0503020204020204" charset="-122"/>
              </a:rPr>
              <a:t>hr-data-access.sh › classify(sender)</a:t>
            </a:r>
            <a:endParaRPr sz="1200" b="1">
              <a:solidFill>
                <a:srgbClr val="00D8FF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323" name="TextBox 354"/>
          <p:cNvSpPr txBox="1"/>
          <p:nvPr/>
        </p:nvSpPr>
        <p:spPr>
          <a:xfrm>
            <a:off x="6734175" y="2984500"/>
            <a:ext cx="4889500" cy="4064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r">
              <a:lnSpc>
                <a:spcPct val="110000"/>
              </a:lnSpc>
            </a:pPr>
            <a:r>
              <a:rPr sz="105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分权不在工具白名单——工具那一步把 exec 放过去了，拦点在闸门</a:t>
            </a:r>
            <a:endParaRPr sz="105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4" name="Rounded Rectangle 400"/>
          <p:cNvSpPr/>
          <p:nvPr/>
        </p:nvSpPr>
        <p:spPr>
          <a:xfrm>
            <a:off x="439420" y="3530600"/>
            <a:ext cx="5575300" cy="196850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25" name="Rounded Rectangle 401"/>
          <p:cNvSpPr/>
          <p:nvPr/>
        </p:nvSpPr>
        <p:spPr>
          <a:xfrm>
            <a:off x="566420" y="3644900"/>
            <a:ext cx="1143000" cy="266700"/>
          </a:xfrm>
          <a:prstGeom prst="roundRect">
            <a:avLst>
              <a:gd name="adj" fmla="val 8000"/>
            </a:avLst>
          </a:prstGeom>
          <a:solidFill>
            <a:srgbClr val="26D098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26" name="TextBox 402"/>
          <p:cNvSpPr txBox="1"/>
          <p:nvPr/>
        </p:nvSpPr>
        <p:spPr>
          <a:xfrm>
            <a:off x="566420" y="3644900"/>
            <a:ext cx="1143000" cy="2667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流程 1 · HR</a:t>
            </a:r>
            <a:endParaRPr sz="13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7" name="TextBox 403"/>
          <p:cNvSpPr txBox="1"/>
          <p:nvPr/>
        </p:nvSpPr>
        <p:spPr>
          <a:xfrm>
            <a:off x="566420" y="4000500"/>
            <a:ext cx="53213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050">
                <a:solidFill>
                  <a:srgbClr val="9EC2D8"/>
                </a:solidFill>
                <a:latin typeface="Consolas" panose="020B0609020204030204"/>
                <a:ea typeface="微软雅黑" panose="020B0503020204020204" charset="-122"/>
              </a:rPr>
              <a:t>发送人 HR</a:t>
            </a:r>
            <a:endParaRPr sz="1050">
              <a:solidFill>
                <a:srgbClr val="9EC2D8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328" name="Oval 400"/>
          <p:cNvSpPr/>
          <p:nvPr/>
        </p:nvSpPr>
        <p:spPr>
          <a:xfrm>
            <a:off x="566420" y="4248150"/>
            <a:ext cx="171450" cy="171450"/>
          </a:xfrm>
          <a:prstGeom prst="ellipse">
            <a:avLst/>
          </a:prstGeom>
          <a:solidFill>
            <a:srgbClr val="26D098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29" name="TextBox 410"/>
          <p:cNvSpPr txBox="1"/>
          <p:nvPr/>
        </p:nvSpPr>
        <p:spPr>
          <a:xfrm>
            <a:off x="566420" y="4248150"/>
            <a:ext cx="171450" cy="1714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8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8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0" name="TextBox 420"/>
          <p:cNvSpPr txBox="1"/>
          <p:nvPr/>
        </p:nvSpPr>
        <p:spPr>
          <a:xfrm>
            <a:off x="820420" y="4241800"/>
            <a:ext cx="50673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网关发工具：</a:t>
            </a:r>
            <a:r>
              <a:rPr sz="1100" b="1">
                <a:solidFill>
                  <a:srgbClr val="E9F8FF"/>
                </a:solidFill>
                <a:latin typeface="Consolas" panose="020B0609020204030204"/>
                <a:ea typeface="微软雅黑" panose="020B0503020204020204" charset="-122"/>
              </a:rPr>
              <a:t>allow ["exec","read","write","edit","apply_patch"]</a:t>
            </a:r>
            <a:endParaRPr sz="1100" b="1">
              <a:solidFill>
                <a:srgbClr val="E9F8FF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331" name="Oval 401"/>
          <p:cNvSpPr/>
          <p:nvPr/>
        </p:nvSpPr>
        <p:spPr>
          <a:xfrm>
            <a:off x="566420" y="4536440"/>
            <a:ext cx="171450" cy="171450"/>
          </a:xfrm>
          <a:prstGeom prst="ellipse">
            <a:avLst/>
          </a:prstGeom>
          <a:solidFill>
            <a:srgbClr val="26D098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32" name="TextBox 411"/>
          <p:cNvSpPr txBox="1"/>
          <p:nvPr/>
        </p:nvSpPr>
        <p:spPr>
          <a:xfrm>
            <a:off x="566420" y="4536440"/>
            <a:ext cx="171450" cy="1714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8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8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3" name="TextBox 421"/>
          <p:cNvSpPr txBox="1"/>
          <p:nvPr/>
        </p:nvSpPr>
        <p:spPr>
          <a:xfrm>
            <a:off x="820420" y="4530090"/>
            <a:ext cx="50673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闸门分类 → </a:t>
            </a:r>
            <a:r>
              <a:rPr sz="1100" b="1">
                <a:solidFill>
                  <a:srgbClr val="E9F8FF"/>
                </a:solidFill>
                <a:latin typeface="Consolas" panose="020B0609020204030204"/>
                <a:ea typeface="微软雅黑" panose="020B0503020204020204" charset="-122"/>
              </a:rPr>
              <a:t>hr</a:t>
            </a: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，输出 </a:t>
            </a:r>
            <a:r>
              <a:rPr sz="1100" b="1">
                <a:solidFill>
                  <a:srgbClr val="E9F8FF"/>
                </a:solidFill>
                <a:latin typeface="Consolas" panose="020B0609020204030204"/>
                <a:ea typeface="微软雅黑" panose="020B0503020204020204" charset="-122"/>
              </a:rPr>
              <a:t>{"allowed":true}</a:t>
            </a:r>
            <a:endParaRPr sz="1100" b="1">
              <a:solidFill>
                <a:srgbClr val="E9F8FF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334" name="Oval 402"/>
          <p:cNvSpPr/>
          <p:nvPr/>
        </p:nvSpPr>
        <p:spPr>
          <a:xfrm>
            <a:off x="566420" y="4824730"/>
            <a:ext cx="171450" cy="171450"/>
          </a:xfrm>
          <a:prstGeom prst="ellipse">
            <a:avLst/>
          </a:prstGeom>
          <a:solidFill>
            <a:srgbClr val="26D098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35" name="TextBox 412"/>
          <p:cNvSpPr txBox="1"/>
          <p:nvPr/>
        </p:nvSpPr>
        <p:spPr>
          <a:xfrm>
            <a:off x="566420" y="4824730"/>
            <a:ext cx="171450" cy="1714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8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8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6" name="TextBox 422"/>
          <p:cNvSpPr txBox="1"/>
          <p:nvPr/>
        </p:nvSpPr>
        <p:spPr>
          <a:xfrm>
            <a:off x="820420" y="4818380"/>
            <a:ext cx="50673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闸门 </a:t>
            </a:r>
            <a:r>
              <a:rPr sz="1100" b="1">
                <a:solidFill>
                  <a:srgbClr val="E9F8FF"/>
                </a:solidFill>
                <a:latin typeface="Consolas" panose="020B0609020204030204"/>
                <a:ea typeface="微软雅黑" panose="020B0503020204020204" charset="-122"/>
              </a:rPr>
              <a:t>exit 0</a:t>
            </a: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 放行，真脚本执行（</a:t>
            </a:r>
            <a:r>
              <a:rPr sz="1100" b="1">
                <a:solidFill>
                  <a:srgbClr val="E9F8FF"/>
                </a:solidFill>
                <a:latin typeface="Consolas" panose="020B0609020204030204"/>
                <a:ea typeface="微软雅黑" panose="020B0503020204020204" charset="-122"/>
              </a:rPr>
              <a:t>er-admin-run.sh:46</a:t>
            </a: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z="1200" b="1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7" name="Oval 403"/>
          <p:cNvSpPr/>
          <p:nvPr/>
        </p:nvSpPr>
        <p:spPr>
          <a:xfrm>
            <a:off x="566420" y="5113020"/>
            <a:ext cx="171450" cy="171450"/>
          </a:xfrm>
          <a:prstGeom prst="ellipse">
            <a:avLst/>
          </a:prstGeom>
          <a:solidFill>
            <a:srgbClr val="26D098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38" name="TextBox 413"/>
          <p:cNvSpPr txBox="1"/>
          <p:nvPr/>
        </p:nvSpPr>
        <p:spPr>
          <a:xfrm>
            <a:off x="566420" y="5113020"/>
            <a:ext cx="171450" cy="1714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8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8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9" name="TextBox 423"/>
          <p:cNvSpPr txBox="1"/>
          <p:nvPr/>
        </p:nvSpPr>
        <p:spPr>
          <a:xfrm>
            <a:off x="820420" y="5106670"/>
            <a:ext cx="50673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读 HCM → 员工1 · 后端工程师 · 32K</a:t>
            </a:r>
            <a:endParaRPr sz="1200" b="1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0" name="Rounded Rectangle 400"/>
          <p:cNvSpPr/>
          <p:nvPr/>
        </p:nvSpPr>
        <p:spPr>
          <a:xfrm>
            <a:off x="6175375" y="3530600"/>
            <a:ext cx="5575300" cy="196850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E94F4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41" name="Rounded Rectangle 401"/>
          <p:cNvSpPr/>
          <p:nvPr/>
        </p:nvSpPr>
        <p:spPr>
          <a:xfrm>
            <a:off x="6302375" y="3644900"/>
            <a:ext cx="1365250" cy="266700"/>
          </a:xfrm>
          <a:prstGeom prst="roundRect">
            <a:avLst>
              <a:gd name="adj" fmla="val 8000"/>
            </a:avLst>
          </a:prstGeom>
          <a:solidFill>
            <a:srgbClr val="E94F4F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42" name="TextBox 402"/>
          <p:cNvSpPr txBox="1"/>
          <p:nvPr/>
        </p:nvSpPr>
        <p:spPr>
          <a:xfrm>
            <a:off x="6302375" y="3644900"/>
            <a:ext cx="1365250" cy="2667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流程 2 · 非 HR</a:t>
            </a:r>
            <a:endParaRPr sz="13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3" name="TextBox 403"/>
          <p:cNvSpPr txBox="1"/>
          <p:nvPr/>
        </p:nvSpPr>
        <p:spPr>
          <a:xfrm>
            <a:off x="6302375" y="4000500"/>
            <a:ext cx="53213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050">
                <a:solidFill>
                  <a:srgbClr val="9EC2D8"/>
                </a:solidFill>
                <a:latin typeface="Consolas" panose="020B0609020204030204"/>
                <a:ea typeface="微软雅黑" panose="020B0503020204020204" charset="-122"/>
              </a:rPr>
              <a:t>已登记的其他 3 个 ou_… ；或任何未登记的 ou_…</a:t>
            </a:r>
            <a:endParaRPr sz="1050">
              <a:solidFill>
                <a:srgbClr val="9EC2D8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344" name="Oval 400"/>
          <p:cNvSpPr/>
          <p:nvPr/>
        </p:nvSpPr>
        <p:spPr>
          <a:xfrm>
            <a:off x="6302375" y="4248150"/>
            <a:ext cx="171450" cy="171450"/>
          </a:xfrm>
          <a:prstGeom prst="ellipse">
            <a:avLst/>
          </a:prstGeom>
          <a:solidFill>
            <a:srgbClr val="E94F4F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45" name="TextBox 410"/>
          <p:cNvSpPr txBox="1"/>
          <p:nvPr/>
        </p:nvSpPr>
        <p:spPr>
          <a:xfrm>
            <a:off x="6302375" y="4248150"/>
            <a:ext cx="171450" cy="1714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8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8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6" name="TextBox 420"/>
          <p:cNvSpPr txBox="1"/>
          <p:nvPr/>
        </p:nvSpPr>
        <p:spPr>
          <a:xfrm>
            <a:off x="6556375" y="4241800"/>
            <a:ext cx="50673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网关发工具：</a:t>
            </a:r>
            <a:r>
              <a:rPr sz="1100" b="1">
                <a:solidFill>
                  <a:srgbClr val="E9F8FF"/>
                </a:solidFill>
                <a:latin typeface="Consolas" panose="020B0609020204030204"/>
                <a:ea typeface="微软雅黑" panose="020B0503020204020204" charset="-122"/>
              </a:rPr>
              <a:t>allow ["exec","read"]</a:t>
            </a: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1100" b="1">
                <a:solidFill>
                  <a:srgbClr val="E9F8FF"/>
                </a:solidFill>
                <a:latin typeface="Consolas" panose="020B0609020204030204"/>
                <a:ea typeface="微软雅黑" panose="020B0503020204020204" charset="-122"/>
              </a:rPr>
              <a:t>exec</a:t>
            </a: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 照给</a:t>
            </a:r>
            <a:endParaRPr sz="1200" b="1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7" name="Oval 401"/>
          <p:cNvSpPr/>
          <p:nvPr/>
        </p:nvSpPr>
        <p:spPr>
          <a:xfrm>
            <a:off x="6302375" y="4536440"/>
            <a:ext cx="171450" cy="171450"/>
          </a:xfrm>
          <a:prstGeom prst="ellipse">
            <a:avLst/>
          </a:prstGeom>
          <a:solidFill>
            <a:srgbClr val="E94F4F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48" name="TextBox 411"/>
          <p:cNvSpPr txBox="1"/>
          <p:nvPr/>
        </p:nvSpPr>
        <p:spPr>
          <a:xfrm>
            <a:off x="6302375" y="4536440"/>
            <a:ext cx="171450" cy="1714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8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8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9" name="TextBox 421"/>
          <p:cNvSpPr txBox="1"/>
          <p:nvPr/>
        </p:nvSpPr>
        <p:spPr>
          <a:xfrm>
            <a:off x="6556375" y="4530090"/>
            <a:ext cx="50673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闸门分类 → </a:t>
            </a:r>
            <a:r>
              <a:rPr sz="1100" b="1">
                <a:solidFill>
                  <a:srgbClr val="E9F8FF"/>
                </a:solidFill>
                <a:latin typeface="Consolas" panose="020B0609020204030204"/>
                <a:ea typeface="微软雅黑" panose="020B0503020204020204" charset="-122"/>
              </a:rPr>
              <a:t>denied</a:t>
            </a: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sz="1100" b="1">
                <a:solidFill>
                  <a:srgbClr val="E9F8FF"/>
                </a:solidFill>
                <a:latin typeface="Consolas" panose="020B0609020204030204"/>
                <a:ea typeface="微软雅黑" panose="020B0503020204020204" charset="-122"/>
              </a:rPr>
              <a:t>unknown</a:t>
            </a:r>
            <a:endParaRPr sz="1100" b="1">
              <a:solidFill>
                <a:srgbClr val="E9F8FF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350" name="Oval 402"/>
          <p:cNvSpPr/>
          <p:nvPr/>
        </p:nvSpPr>
        <p:spPr>
          <a:xfrm>
            <a:off x="6302375" y="4824730"/>
            <a:ext cx="171450" cy="171450"/>
          </a:xfrm>
          <a:prstGeom prst="ellipse">
            <a:avLst/>
          </a:prstGeom>
          <a:solidFill>
            <a:srgbClr val="E94F4F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51" name="TextBox 412"/>
          <p:cNvSpPr txBox="1"/>
          <p:nvPr/>
        </p:nvSpPr>
        <p:spPr>
          <a:xfrm>
            <a:off x="6302375" y="4824730"/>
            <a:ext cx="171450" cy="1714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8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8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2" name="TextBox 422"/>
          <p:cNvSpPr txBox="1"/>
          <p:nvPr/>
        </p:nvSpPr>
        <p:spPr>
          <a:xfrm>
            <a:off x="6556375" y="4818380"/>
            <a:ext cx="50673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闸门 </a:t>
            </a:r>
            <a:r>
              <a:rPr sz="1100" b="1">
                <a:solidFill>
                  <a:srgbClr val="E9F8FF"/>
                </a:solidFill>
                <a:latin typeface="Consolas" panose="020B0609020204030204"/>
                <a:ea typeface="微软雅黑" panose="020B0503020204020204" charset="-122"/>
              </a:rPr>
              <a:t>exit 3</a:t>
            </a: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sz="1100" b="1">
                <a:solidFill>
                  <a:srgbClr val="E9F8FF"/>
                </a:solidFill>
                <a:latin typeface="Consolas" panose="020B0609020204030204"/>
                <a:ea typeface="微软雅黑" panose="020B0503020204020204" charset="-122"/>
              </a:rPr>
              <a:t>er-admin-run.sh:33</a:t>
            </a:r>
            <a:r>
              <a:rPr sz="1200" b="1">
                <a:solidFill>
                  <a:srgbClr val="E9F8FF"/>
                </a:solidFill>
                <a:latin typeface="微软雅黑" panose="020B0503020204020204" charset="-122"/>
                <a:ea typeface="微软雅黑" panose="020B0503020204020204" charset="-122"/>
              </a:rPr>
              <a:t>），拒绝语回给模型</a:t>
            </a:r>
            <a:endParaRPr sz="1200" b="1">
              <a:solidFill>
                <a:srgbClr val="E9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3" name="Oval 403"/>
          <p:cNvSpPr/>
          <p:nvPr/>
        </p:nvSpPr>
        <p:spPr>
          <a:xfrm>
            <a:off x="6302375" y="5113020"/>
            <a:ext cx="171450" cy="171450"/>
          </a:xfrm>
          <a:prstGeom prst="ellipse">
            <a:avLst/>
          </a:prstGeom>
          <a:solidFill>
            <a:srgbClr val="E94F4F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54" name="TextBox 413"/>
          <p:cNvSpPr txBox="1"/>
          <p:nvPr/>
        </p:nvSpPr>
        <p:spPr>
          <a:xfrm>
            <a:off x="6302375" y="5113020"/>
            <a:ext cx="171450" cy="1714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8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8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5" name="TextBox 423"/>
          <p:cNvSpPr txBox="1"/>
          <p:nvPr/>
        </p:nvSpPr>
        <p:spPr>
          <a:xfrm>
            <a:off x="6556375" y="5106670"/>
            <a:ext cx="5067300" cy="1905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00" b="1">
                <a:solidFill>
                  <a:srgbClr val="E94F4F"/>
                </a:solidFill>
                <a:latin typeface="微软雅黑" panose="020B0503020204020204" charset="-122"/>
                <a:ea typeface="微软雅黑" panose="020B0503020204020204" charset="-122"/>
              </a:rPr>
              <a:t>真脚本 </a:t>
            </a:r>
            <a:r>
              <a:rPr sz="1100" b="1">
                <a:solidFill>
                  <a:srgbClr val="E94F4F"/>
                </a:solidFill>
                <a:latin typeface="Consolas" panose="020B0609020204030204"/>
                <a:ea typeface="微软雅黑" panose="020B0503020204020204" charset="-122"/>
              </a:rPr>
              <a:t>query_payroll.py</a:t>
            </a:r>
            <a:r>
              <a:rPr sz="1200" b="1">
                <a:solidFill>
                  <a:srgbClr val="E94F4F"/>
                </a:solidFill>
                <a:latin typeface="微软雅黑" panose="020B0503020204020204" charset="-122"/>
                <a:ea typeface="微软雅黑" panose="020B0503020204020204" charset="-122"/>
              </a:rPr>
              <a:t> 未执行 → 拿不到任何数据</a:t>
            </a:r>
            <a:endParaRPr sz="1200" b="1">
              <a:solidFill>
                <a:srgbClr val="E9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6" name="Rounded Rectangle 510"/>
          <p:cNvSpPr/>
          <p:nvPr/>
        </p:nvSpPr>
        <p:spPr>
          <a:xfrm>
            <a:off x="439420" y="6023610"/>
            <a:ext cx="3721735" cy="567055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57" name="Rounded Rectangle 511"/>
          <p:cNvSpPr/>
          <p:nvPr/>
        </p:nvSpPr>
        <p:spPr>
          <a:xfrm>
            <a:off x="549275" y="6160770"/>
            <a:ext cx="895985" cy="292735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58" name="TextBox 512"/>
          <p:cNvSpPr txBox="1"/>
          <p:nvPr/>
        </p:nvSpPr>
        <p:spPr>
          <a:xfrm>
            <a:off x="549275" y="6192520"/>
            <a:ext cx="895985" cy="2292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拦点在哪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9" name="TextBox 513"/>
          <p:cNvSpPr txBox="1"/>
          <p:nvPr/>
        </p:nvSpPr>
        <p:spPr>
          <a:xfrm>
            <a:off x="1518285" y="6183630"/>
            <a:ext cx="2569210" cy="24701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不在工具白名单，在闸门脚本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0" name="Rounded Rectangle 512"/>
          <p:cNvSpPr/>
          <p:nvPr/>
        </p:nvSpPr>
        <p:spPr>
          <a:xfrm>
            <a:off x="4234180" y="6023610"/>
            <a:ext cx="3721735" cy="567055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61" name="Rounded Rectangle 513"/>
          <p:cNvSpPr/>
          <p:nvPr/>
        </p:nvSpPr>
        <p:spPr>
          <a:xfrm>
            <a:off x="4344035" y="6160770"/>
            <a:ext cx="895985" cy="292735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62" name="TextBox 514"/>
          <p:cNvSpPr txBox="1"/>
          <p:nvPr/>
        </p:nvSpPr>
        <p:spPr>
          <a:xfrm>
            <a:off x="4344035" y="6192520"/>
            <a:ext cx="895985" cy="2292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退出码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3" name="TextBox 515"/>
          <p:cNvSpPr txBox="1"/>
          <p:nvPr/>
        </p:nvSpPr>
        <p:spPr>
          <a:xfrm>
            <a:off x="5313045" y="6183630"/>
            <a:ext cx="2569210" cy="24701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HR 走 0；非 HR 一律 3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4" name="Rounded Rectangle 514"/>
          <p:cNvSpPr/>
          <p:nvPr/>
        </p:nvSpPr>
        <p:spPr>
          <a:xfrm>
            <a:off x="8028940" y="6023610"/>
            <a:ext cx="3721735" cy="567055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65" name="Rounded Rectangle 515"/>
          <p:cNvSpPr/>
          <p:nvPr/>
        </p:nvSpPr>
        <p:spPr>
          <a:xfrm>
            <a:off x="8138795" y="6160770"/>
            <a:ext cx="895985" cy="292735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none">
            <a:schemeClr val="lt1"/>
          </a:fontRef>
        </p:style>
        <p:txBody>
          <a:bodyPr wrap="square" lIns="18288" tIns="18288" rIns="18288" bIns="18288" anchor="ctr">
            <a:spAutoFit/>
          </a:bodyPr>
          <a:p>
            <a:pPr algn="ctr"/>
          </a:p>
        </p:txBody>
      </p:sp>
      <p:sp>
        <p:nvSpPr>
          <p:cNvPr id="1366" name="TextBox 516"/>
          <p:cNvSpPr txBox="1"/>
          <p:nvPr/>
        </p:nvSpPr>
        <p:spPr>
          <a:xfrm>
            <a:off x="8138795" y="6192520"/>
            <a:ext cx="895985" cy="22923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流程定义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7" name="TextBox 517"/>
          <p:cNvSpPr txBox="1"/>
          <p:nvPr/>
        </p:nvSpPr>
        <p:spPr>
          <a:xfrm>
            <a:off x="9107805" y="6183630"/>
            <a:ext cx="2569210" cy="24701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p>
            <a:pPr algn="l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</a:rPr>
              <a:t>workspace-er-admin/AGENTS.md</a:t>
            </a:r>
            <a:endParaRPr sz="950" b="1">
              <a:solidFill>
                <a:srgbClr val="FFFFFF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6B8A">
                  <a:alpha val="24000"/>
                </a:srgbClr>
              </a:gs>
              <a:gs pos="100000">
                <a:srgbClr val="FF6B8A">
                  <a:alpha val="24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318" y="941832"/>
            <a:ext cx="12191695" cy="475488"/>
          </a:xfrm>
          <a:prstGeom prst="line">
            <a:avLst/>
          </a:prstGeom>
          <a:ln w="1016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18" y="2834640"/>
            <a:ext cx="12191695" cy="475488"/>
          </a:xfrm>
          <a:prstGeom prst="line">
            <a:avLst/>
          </a:prstGeom>
          <a:ln w="1016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18" y="5522975"/>
            <a:ext cx="12191695" cy="475489"/>
          </a:xfrm>
          <a:prstGeom prst="line">
            <a:avLst/>
          </a:prstGeom>
          <a:ln w="1016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79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67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827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798" y="658368"/>
            <a:ext cx="685800" cy="5907024"/>
          </a:xfrm>
          <a:prstGeom prst="line">
            <a:avLst/>
          </a:prstGeom>
          <a:ln w="8890">
            <a:solidFill>
              <a:srgbClr val="FF6B8A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958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438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478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558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4238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358" y="167195"/>
            <a:ext cx="2194560" cy="25082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小慧 · HR数字员工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Parallelogram 16"/>
          <p:cNvSpPr/>
          <p:nvPr/>
        </p:nvSpPr>
        <p:spPr>
          <a:xfrm>
            <a:off x="274351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51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Parallelogram 18"/>
          <p:cNvSpPr/>
          <p:nvPr/>
        </p:nvSpPr>
        <p:spPr>
          <a:xfrm>
            <a:off x="475519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519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方案规划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Parallelogram 20"/>
          <p:cNvSpPr/>
          <p:nvPr/>
        </p:nvSpPr>
        <p:spPr>
          <a:xfrm>
            <a:off x="6766878" y="109728"/>
            <a:ext cx="1920240" cy="365760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87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技能演示</a:t>
            </a:r>
            <a:endParaRPr sz="13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Parallelogram 22"/>
          <p:cNvSpPr/>
          <p:nvPr/>
        </p:nvSpPr>
        <p:spPr>
          <a:xfrm>
            <a:off x="8778558" y="109728"/>
            <a:ext cx="1920240" cy="365760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558" y="174816"/>
            <a:ext cx="19202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成果展望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17086" y="177419"/>
            <a:ext cx="105156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28 / 38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8" y="658368"/>
            <a:ext cx="12191695" cy="420624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790" y="761111"/>
            <a:ext cx="868680" cy="1968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技能地图</a:t>
            </a:r>
            <a:endParaRPr sz="1050" b="1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24390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901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总控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4702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702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招聘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5014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5014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入职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53262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3262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行政</a:t>
            </a:r>
            <a:endParaRPr sz="115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656381" y="72237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56381" y="758063"/>
            <a:ext cx="1920240" cy="212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绩效</a:t>
            </a:r>
            <a:endParaRPr sz="11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9229" y="1188720"/>
            <a:ext cx="5486400" cy="2044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03  ADMIN AGENT · LIVE</a:t>
            </a:r>
            <a:endParaRPr sz="1100" b="1">
              <a:solidFill>
                <a:srgbClr val="0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20941" y="1399032"/>
            <a:ext cx="11155680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优设标题黑" panose="00000500000000000000" charset="-122"/>
                <a:ea typeface="优设标题黑" panose="00000500000000000000" charset="-122"/>
              </a:rPr>
              <a:t>行政 · 现场证明：同一句话，三个身份三种结果</a:t>
            </a:r>
            <a:endParaRPr sz="2400" b="1">
              <a:solidFill>
                <a:srgbClr val="FFFFFF"/>
              </a:soli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9230" y="1920240"/>
            <a:ext cx="685800" cy="45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478" y="1847088"/>
            <a:ext cx="10424160" cy="2355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前两句看有据；后三句一字不差、只换发送人，最后在终端打开真实执行记录核对</a:t>
            </a:r>
            <a:endParaRPr sz="13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39230" y="2157984"/>
            <a:ext cx="749808" cy="1060704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9229" y="2423859"/>
            <a:ext cx="749808" cy="5289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有据</a:t>
            </a:r>
            <a:endParaRPr sz="14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可查</a:t>
            </a:r>
            <a:endParaRPr sz="14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39230" y="3291840"/>
            <a:ext cx="749808" cy="2194560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9229" y="4124643"/>
            <a:ext cx="749808" cy="5289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身份</a:t>
            </a:r>
            <a:endParaRPr sz="14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5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闸门</a:t>
            </a:r>
            <a:endParaRPr sz="145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1298766" y="2157984"/>
            <a:ext cx="10451592" cy="4937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98766" y="2248662"/>
            <a:ext cx="420624" cy="3124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800" b="1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719390" y="2249424"/>
            <a:ext cx="640080" cy="31089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19390" y="2295017"/>
            <a:ext cx="64008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员工</a:t>
            </a:r>
            <a:endParaRPr sz="120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69198" y="2287080"/>
            <a:ext cx="46634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“我入职满3年了，年假有几天？”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242366" y="2291207"/>
            <a:ext cx="3502151" cy="22733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5 天，末尾标《03-假期政策》</a:t>
            </a:r>
            <a:endParaRPr sz="1250" b="0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744518" y="2295017"/>
            <a:ext cx="91440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约 40 秒</a:t>
            </a:r>
            <a:endParaRPr sz="12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1298766" y="2724912"/>
            <a:ext cx="10451592" cy="4937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98766" y="2815590"/>
            <a:ext cx="420624" cy="3124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80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719390" y="2816352"/>
            <a:ext cx="640080" cy="31089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19390" y="2861945"/>
            <a:ext cx="64008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员工</a:t>
            </a:r>
            <a:endParaRPr sz="120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469198" y="2854008"/>
            <a:ext cx="46634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“加班20小时没有加班费，这是违法克扣吧？怎么维权？”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242366" y="2858135"/>
            <a:ext cx="3502151" cy="22733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通用规则带出处；个案、法律定性转人工</a:t>
            </a:r>
            <a:endParaRPr sz="1250" b="0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744518" y="2861945"/>
            <a:ext cx="91440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约 55 秒</a:t>
            </a:r>
            <a:endParaRPr sz="12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1298766" y="3291839"/>
            <a:ext cx="10451592" cy="4937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98766" y="3382517"/>
            <a:ext cx="420624" cy="3124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E94F4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800" b="1">
              <a:solidFill>
                <a:srgbClr val="E9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719390" y="3383279"/>
            <a:ext cx="640080" cy="31089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719390" y="3428872"/>
            <a:ext cx="64008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员工</a:t>
            </a:r>
            <a:endParaRPr sz="120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469198" y="3420935"/>
            <a:ext cx="46634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“请查询员工1的合同薪资”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242366" y="3425062"/>
            <a:ext cx="3502151" cy="22733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E94F4F"/>
                </a:solidFill>
                <a:latin typeface="微软雅黑" panose="020B0503020204020204" charset="-122"/>
                <a:ea typeface="微软雅黑" panose="020B0503020204020204" charset="-122"/>
              </a:rPr>
              <a:t>闸门拒绝，退出码 3，没有任何薪资</a:t>
            </a:r>
            <a:endParaRPr sz="1250" b="0">
              <a:solidFill>
                <a:srgbClr val="E94F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744518" y="3428872"/>
            <a:ext cx="91440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约 15 秒</a:t>
            </a:r>
            <a:endParaRPr sz="12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1298766" y="3858768"/>
            <a:ext cx="10451592" cy="4937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98766" y="3949446"/>
            <a:ext cx="420624" cy="3124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800" b="1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1719390" y="3950207"/>
            <a:ext cx="640080" cy="31089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19390" y="3995800"/>
            <a:ext cx="64008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未登记</a:t>
            </a:r>
            <a:endParaRPr sz="12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469198" y="3987864"/>
            <a:ext cx="46634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“请查询员工1的合同薪资”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242366" y="3991991"/>
            <a:ext cx="3502151" cy="22733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收到配对码，消息没交给 Agent</a:t>
            </a:r>
            <a:endParaRPr sz="1250" b="0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744518" y="3995801"/>
            <a:ext cx="91440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约 15 秒</a:t>
            </a:r>
            <a:endParaRPr sz="12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1298766" y="4425696"/>
            <a:ext cx="10451592" cy="4937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98766" y="4516374"/>
            <a:ext cx="420624" cy="3124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800" b="1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719390" y="4517136"/>
            <a:ext cx="640080" cy="310896"/>
          </a:xfrm>
          <a:prstGeom prst="roundRect">
            <a:avLst>
              <a:gd name="adj" fmla="val 8000"/>
            </a:avLst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19390" y="4562729"/>
            <a:ext cx="64008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 panose="020B0503020204020204" charset="-122"/>
                <a:ea typeface="微软雅黑" panose="020B0503020204020204" charset="-122"/>
              </a:rPr>
              <a:t>HR</a:t>
            </a:r>
            <a:endParaRPr sz="12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469198" y="4554792"/>
            <a:ext cx="46634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“请查询员工1的合同薪资”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242366" y="4558919"/>
            <a:ext cx="3502151" cy="22733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过闸读 HCM：员工1 · 后端工程师 · 32K</a:t>
            </a:r>
            <a:endParaRPr sz="1250" b="0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0744518" y="4562729"/>
            <a:ext cx="91440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约 10 秒</a:t>
            </a:r>
            <a:endParaRPr sz="12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77"/>
          <p:cNvSpPr/>
          <p:nvPr/>
        </p:nvSpPr>
        <p:spPr>
          <a:xfrm>
            <a:off x="1298766" y="4992624"/>
            <a:ext cx="10451592" cy="4937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78"/>
          <p:cNvSpPr txBox="1"/>
          <p:nvPr/>
        </p:nvSpPr>
        <p:spPr>
          <a:xfrm>
            <a:off x="1298766" y="5083302"/>
            <a:ext cx="420624" cy="3124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核</a:t>
            </a:r>
            <a:endParaRPr sz="1800" b="1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79"/>
          <p:cNvSpPr/>
          <p:nvPr/>
        </p:nvSpPr>
        <p:spPr>
          <a:xfrm>
            <a:off x="1719390" y="5084064"/>
            <a:ext cx="640080" cy="31089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80"/>
          <p:cNvSpPr txBox="1"/>
          <p:nvPr/>
        </p:nvSpPr>
        <p:spPr>
          <a:xfrm>
            <a:off x="1719390" y="5129657"/>
            <a:ext cx="64008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终端</a:t>
            </a:r>
            <a:endParaRPr sz="1200" b="1">
              <a:solidFill>
                <a:srgbClr val="0216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1"/>
          <p:cNvSpPr txBox="1"/>
          <p:nvPr/>
        </p:nvSpPr>
        <p:spPr>
          <a:xfrm>
            <a:off x="2469198" y="5121720"/>
            <a:ext cx="4663440" cy="2355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bash demo/show-gate.sh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TextBox 82"/>
          <p:cNvSpPr txBox="1"/>
          <p:nvPr/>
        </p:nvSpPr>
        <p:spPr>
          <a:xfrm>
            <a:off x="7242366" y="5125847"/>
            <a:ext cx="3502151" cy="22733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26D098"/>
                </a:solidFill>
                <a:latin typeface="微软雅黑" panose="020B0503020204020204" charset="-122"/>
                <a:ea typeface="微软雅黑" panose="020B0503020204020204" charset="-122"/>
              </a:rPr>
              <a:t>发送人 · 闸门结果 · 退出码 · 读没读数据</a:t>
            </a:r>
            <a:endParaRPr sz="1250" b="0">
              <a:solidFill>
                <a:srgbClr val="26D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83"/>
          <p:cNvSpPr txBox="1"/>
          <p:nvPr/>
        </p:nvSpPr>
        <p:spPr>
          <a:xfrm>
            <a:off x="10744518" y="5129657"/>
            <a:ext cx="914400" cy="219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 panose="020B0503020204020204" charset="-122"/>
                <a:ea typeface="微软雅黑" panose="020B0503020204020204" charset="-122"/>
              </a:rPr>
              <a:t>约 30 秒</a:t>
            </a:r>
            <a:endParaRPr sz="1200" b="0">
              <a:solidFill>
                <a:srgbClr val="9EC2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ounded Rectangle 85"/>
          <p:cNvSpPr/>
          <p:nvPr/>
        </p:nvSpPr>
        <p:spPr>
          <a:xfrm>
            <a:off x="439230" y="5742432"/>
            <a:ext cx="11311128" cy="512064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6"/>
          <p:cNvSpPr txBox="1"/>
          <p:nvPr/>
        </p:nvSpPr>
        <p:spPr>
          <a:xfrm>
            <a:off x="439230" y="5857812"/>
            <a:ext cx="11311128" cy="2813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F6B8A"/>
                </a:solidFill>
                <a:latin typeface="微软雅黑" panose="020B0503020204020204" charset="-122"/>
                <a:ea typeface="微软雅黑" panose="020B0503020204020204" charset="-122"/>
              </a:rPr>
              <a:t>答有出处  ·  个案交给人  ·  没权限读不到  ·  未登记进不来</a:t>
            </a:r>
            <a:endParaRPr sz="1600" b="1">
              <a:solidFill>
                <a:srgbClr val="FF6B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18" y="1078992"/>
            <a:ext cx="73152" cy="5779008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3105</Words>
  <Application>WPS 演示</Application>
  <PresentationFormat>宽屏</PresentationFormat>
  <Paragraphs>493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思源黑体 Bold</vt:lpstr>
      <vt:lpstr>思源黑体 CN Regular</vt:lpstr>
      <vt:lpstr>微软雅黑</vt:lpstr>
      <vt:lpstr>黑体</vt:lpstr>
      <vt:lpstr>优设标题黑</vt:lpstr>
      <vt:lpstr>Consolas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mx533</dc:creator>
  <cp:lastModifiedBy>WPS_1670219339</cp:lastModifiedBy>
  <cp:revision>159</cp:revision>
  <dcterms:created xsi:type="dcterms:W3CDTF">2019-06-19T02:08:00Z</dcterms:created>
  <dcterms:modified xsi:type="dcterms:W3CDTF">2026-10-13T04:05:14Z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F978BAFD4E6E4FE690BE5CBCAE050085_11</vt:lpwstr>
  </property>
</Properties>
</file>