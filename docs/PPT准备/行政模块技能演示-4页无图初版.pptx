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约45秒。行政风险集中在三件事：政策能否找到依据、敏感数据该不该让这个人看到、月报数字能否复核。因此拆成政策答疑、敏感查询、HR月报三条受控业务链。小慧只负责检索、整理和计算，争议、审批和最终决定仍由人完成。</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约1分钟。员工用自然语言提问，但小慧必须先调用腾讯IMA检索制度原文，关键数字与原文一致并注明出处。检索成功不等于应该回答；工资差异、劳动争议、法律定性和破例审批涉及个人事实或管理决策，一律转人工。完整流程段如展示行政，只快速做一次普通政策问答，不重复本页机制。</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约1分30秒。九月阶段性月报读取招聘、岗位、入职、培训、费用和离职六类脱敏业务台账，由pandas完成计算、图表和来源回核，模型不碰数字。截至九月十七日，本月入职9人，岗位到位率94.3%，平均招聘周期40天，人均成本8000元，培训完成率91.7%。九月入职员工尚未走完45天观察期，因此保留“统计中”，不为报告完整而补数。实际部署可接企业导出表或API，只要遵循相同数据契约，计算和审计链不变。</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约4分钟。切换飞书现场验证。普通员工和HR专员发送完全相同的“请查询员工1的合同薪资”。系统从消息上下文取得sender_id，在读取HCM前进入脚本权限闸门。权限不通过时以非零退出码停止，模型拿不到姓名和薪资；HR身份通过后才读取HCM，并只返回脚本结果。收口：分级不是换一种说法，而是不同身份拥有不同的数据入口。对应个人信息保护法第六条最小必要原则和第五十一条权限管理要求。</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2163B"/>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21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0" y="941832"/>
            <a:ext cx="12191695" cy="475488"/>
          </a:xfrm>
          <a:prstGeom prst="line">
            <a:avLst/>
          </a:prstGeom>
          <a:ln w="10160">
            <a:solidFill>
              <a:srgbClr val="04457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0" y="2834640"/>
            <a:ext cx="12191695" cy="475488"/>
          </a:xfrm>
          <a:prstGeom prst="line">
            <a:avLst/>
          </a:prstGeom>
          <a:ln w="10160">
            <a:solidFill>
              <a:srgbClr val="04457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0" y="5522975"/>
            <a:ext cx="12191695" cy="475489"/>
          </a:xfrm>
          <a:prstGeom prst="line">
            <a:avLst/>
          </a:prstGeom>
          <a:ln w="10160">
            <a:solidFill>
              <a:srgbClr val="04457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11480" y="658368"/>
            <a:ext cx="685800" cy="5907024"/>
          </a:xfrm>
          <a:prstGeom prst="line">
            <a:avLst/>
          </a:prstGeom>
          <a:ln w="8890">
            <a:solidFill>
              <a:srgbClr val="032B5C"/>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880360" y="658368"/>
            <a:ext cx="685800" cy="5907024"/>
          </a:xfrm>
          <a:prstGeom prst="line">
            <a:avLst/>
          </a:prstGeom>
          <a:ln w="8890">
            <a:solidFill>
              <a:srgbClr val="032B5C"/>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537960" y="658368"/>
            <a:ext cx="685800" cy="5907024"/>
          </a:xfrm>
          <a:prstGeom prst="line">
            <a:avLst/>
          </a:prstGeom>
          <a:ln w="8890">
            <a:solidFill>
              <a:srgbClr val="032B5C"/>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698480" y="658368"/>
            <a:ext cx="685800" cy="5907024"/>
          </a:xfrm>
          <a:prstGeom prst="line">
            <a:avLst/>
          </a:prstGeom>
          <a:ln w="8890">
            <a:solidFill>
              <a:srgbClr val="032B5C"/>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548640" y="1353312"/>
            <a:ext cx="73152" cy="73152"/>
          </a:xfrm>
          <a:prstGeom prst="ellipse">
            <a:avLst/>
          </a:prstGeom>
          <a:solidFill>
            <a:srgbClr val="00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246120" y="2670048"/>
            <a:ext cx="73152" cy="73152"/>
          </a:xfrm>
          <a:prstGeom prst="ellipse">
            <a:avLst/>
          </a:prstGeom>
          <a:solidFill>
            <a:srgbClr val="00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995160" y="1618488"/>
            <a:ext cx="73152" cy="73152"/>
          </a:xfrm>
          <a:prstGeom prst="ellipse">
            <a:avLst/>
          </a:prstGeom>
          <a:solidFill>
            <a:srgbClr val="00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64240" y="4389120"/>
            <a:ext cx="73152" cy="73152"/>
          </a:xfrm>
          <a:prstGeom prst="ellipse">
            <a:avLst/>
          </a:prstGeom>
          <a:solidFill>
            <a:srgbClr val="00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503920" y="5559552"/>
            <a:ext cx="73152" cy="73152"/>
          </a:xfrm>
          <a:prstGeom prst="ellipse">
            <a:avLst/>
          </a:prstGeom>
          <a:solidFill>
            <a:srgbClr val="00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658368"/>
          </a:xfrm>
          <a:prstGeom prst="rect">
            <a:avLst/>
          </a:prstGeom>
          <a:solidFill>
            <a:srgbClr val="032B5C"/>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100584"/>
            <a:ext cx="2011680" cy="384048"/>
          </a:xfrm>
          <a:prstGeom prst="rect">
            <a:avLst/>
          </a:prstGeom>
          <a:noFill/>
        </p:spPr>
        <p:txBody>
          <a:bodyPr wrap="square" lIns="18288" rIns="18288" tIns="18288" bIns="18288" anchor="ctr">
            <a:spAutoFit/>
          </a:bodyPr>
          <a:lstStyle/>
          <a:p>
            <a:pPr algn="l">
              <a:lnSpc>
                <a:spcPct val="100000"/>
              </a:lnSpc>
              <a:spcAft>
                <a:spcPts val="200"/>
              </a:spcAft>
            </a:pPr>
            <a:r>
              <a:rPr sz="1350" b="1">
                <a:solidFill>
                  <a:srgbClr val="FFFFFF"/>
                </a:solidFill>
                <a:latin typeface="微软雅黑"/>
                <a:ea typeface="微软雅黑"/>
              </a:rPr>
              <a:t>小慧 · HR数字员工</a:t>
            </a:r>
          </a:p>
        </p:txBody>
      </p:sp>
      <p:sp>
        <p:nvSpPr>
          <p:cNvPr id="17" name="Parallelogram 16"/>
          <p:cNvSpPr/>
          <p:nvPr/>
        </p:nvSpPr>
        <p:spPr>
          <a:xfrm>
            <a:off x="2423160" y="109728"/>
            <a:ext cx="1527048" cy="356616"/>
          </a:xfrm>
          <a:prstGeom prst="parallelogram">
            <a:avLst/>
          </a:prstGeom>
          <a:solidFill>
            <a:srgbClr val="04457D">
              <a:alpha val="82000"/>
            </a:srgbClr>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423160" y="109728"/>
            <a:ext cx="1527048" cy="356616"/>
          </a:xfrm>
          <a:prstGeom prst="rect">
            <a:avLst/>
          </a:prstGeom>
          <a:noFill/>
        </p:spPr>
        <p:txBody>
          <a:bodyPr wrap="square" lIns="18288" rIns="18288" tIns="18288" bIns="18288" anchor="ctr">
            <a:spAutoFit/>
          </a:bodyPr>
          <a:lstStyle/>
          <a:p>
            <a:pPr algn="ctr">
              <a:lnSpc>
                <a:spcPct val="100000"/>
              </a:lnSpc>
              <a:spcAft>
                <a:spcPts val="200"/>
              </a:spcAft>
            </a:pPr>
            <a:r>
              <a:rPr sz="1200" b="0">
                <a:solidFill>
                  <a:srgbClr val="9EC2D8"/>
                </a:solidFill>
                <a:latin typeface="微软雅黑"/>
                <a:ea typeface="微软雅黑"/>
              </a:rPr>
              <a:t>项目背景</a:t>
            </a:r>
          </a:p>
        </p:txBody>
      </p:sp>
      <p:sp>
        <p:nvSpPr>
          <p:cNvPr id="19" name="Parallelogram 18"/>
          <p:cNvSpPr/>
          <p:nvPr/>
        </p:nvSpPr>
        <p:spPr>
          <a:xfrm>
            <a:off x="4023360" y="109728"/>
            <a:ext cx="1527048" cy="356616"/>
          </a:xfrm>
          <a:prstGeom prst="parallelogram">
            <a:avLst/>
          </a:prstGeom>
          <a:solidFill>
            <a:srgbClr val="04457D">
              <a:alpha val="82000"/>
            </a:srgbClr>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23360" y="109728"/>
            <a:ext cx="1527048" cy="356616"/>
          </a:xfrm>
          <a:prstGeom prst="rect">
            <a:avLst/>
          </a:prstGeom>
          <a:noFill/>
        </p:spPr>
        <p:txBody>
          <a:bodyPr wrap="square" lIns="18288" rIns="18288" tIns="18288" bIns="18288" anchor="ctr">
            <a:spAutoFit/>
          </a:bodyPr>
          <a:lstStyle/>
          <a:p>
            <a:pPr algn="ctr">
              <a:lnSpc>
                <a:spcPct val="100000"/>
              </a:lnSpc>
              <a:spcAft>
                <a:spcPts val="200"/>
              </a:spcAft>
            </a:pPr>
            <a:r>
              <a:rPr sz="1200" b="0">
                <a:solidFill>
                  <a:srgbClr val="9EC2D8"/>
                </a:solidFill>
                <a:latin typeface="微软雅黑"/>
                <a:ea typeface="微软雅黑"/>
              </a:rPr>
              <a:t>方案规划</a:t>
            </a:r>
          </a:p>
        </p:txBody>
      </p:sp>
      <p:sp>
        <p:nvSpPr>
          <p:cNvPr id="21" name="Parallelogram 20"/>
          <p:cNvSpPr/>
          <p:nvPr/>
        </p:nvSpPr>
        <p:spPr>
          <a:xfrm>
            <a:off x="5623560" y="109728"/>
            <a:ext cx="1527048" cy="356616"/>
          </a:xfrm>
          <a:prstGeom prst="parallelogram">
            <a:avLst/>
          </a:prstGeom>
          <a:solidFill>
            <a:srgbClr val="00D8FF"/>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23560" y="109728"/>
            <a:ext cx="1527048" cy="356616"/>
          </a:xfrm>
          <a:prstGeom prst="rect">
            <a:avLst/>
          </a:prstGeom>
          <a:noFill/>
        </p:spPr>
        <p:txBody>
          <a:bodyPr wrap="square" lIns="18288" rIns="18288" tIns="18288" bIns="18288" anchor="ctr">
            <a:spAutoFit/>
          </a:bodyPr>
          <a:lstStyle/>
          <a:p>
            <a:pPr algn="ctr">
              <a:lnSpc>
                <a:spcPct val="100000"/>
              </a:lnSpc>
              <a:spcAft>
                <a:spcPts val="200"/>
              </a:spcAft>
            </a:pPr>
            <a:r>
              <a:rPr sz="1200" b="1">
                <a:solidFill>
                  <a:srgbClr val="02163B"/>
                </a:solidFill>
                <a:latin typeface="微软雅黑"/>
                <a:ea typeface="微软雅黑"/>
              </a:rPr>
              <a:t>技能演示</a:t>
            </a:r>
          </a:p>
        </p:txBody>
      </p:sp>
      <p:sp>
        <p:nvSpPr>
          <p:cNvPr id="23" name="Parallelogram 22"/>
          <p:cNvSpPr/>
          <p:nvPr/>
        </p:nvSpPr>
        <p:spPr>
          <a:xfrm>
            <a:off x="7223760" y="109728"/>
            <a:ext cx="1527048" cy="356616"/>
          </a:xfrm>
          <a:prstGeom prst="parallelogram">
            <a:avLst/>
          </a:prstGeom>
          <a:solidFill>
            <a:srgbClr val="04457D">
              <a:alpha val="82000"/>
            </a:srgbClr>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0" y="109728"/>
            <a:ext cx="1527048" cy="356616"/>
          </a:xfrm>
          <a:prstGeom prst="rect">
            <a:avLst/>
          </a:prstGeom>
          <a:noFill/>
        </p:spPr>
        <p:txBody>
          <a:bodyPr wrap="square" lIns="18288" rIns="18288" tIns="18288" bIns="18288" anchor="ctr">
            <a:spAutoFit/>
          </a:bodyPr>
          <a:lstStyle/>
          <a:p>
            <a:pPr algn="ctr">
              <a:lnSpc>
                <a:spcPct val="100000"/>
              </a:lnSpc>
              <a:spcAft>
                <a:spcPts val="200"/>
              </a:spcAft>
            </a:pPr>
            <a:r>
              <a:rPr sz="1200" b="0">
                <a:solidFill>
                  <a:srgbClr val="9EC2D8"/>
                </a:solidFill>
                <a:latin typeface="微软雅黑"/>
                <a:ea typeface="微软雅黑"/>
              </a:rPr>
              <a:t>完整流程</a:t>
            </a:r>
          </a:p>
        </p:txBody>
      </p:sp>
      <p:sp>
        <p:nvSpPr>
          <p:cNvPr id="25" name="Parallelogram 24"/>
          <p:cNvSpPr/>
          <p:nvPr/>
        </p:nvSpPr>
        <p:spPr>
          <a:xfrm>
            <a:off x="8823960" y="109728"/>
            <a:ext cx="1527048" cy="356616"/>
          </a:xfrm>
          <a:prstGeom prst="parallelogram">
            <a:avLst/>
          </a:prstGeom>
          <a:solidFill>
            <a:srgbClr val="04457D">
              <a:alpha val="82000"/>
            </a:srgbClr>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23960" y="109728"/>
            <a:ext cx="1527048" cy="356616"/>
          </a:xfrm>
          <a:prstGeom prst="rect">
            <a:avLst/>
          </a:prstGeom>
          <a:noFill/>
        </p:spPr>
        <p:txBody>
          <a:bodyPr wrap="square" lIns="18288" rIns="18288" tIns="18288" bIns="18288" anchor="ctr">
            <a:spAutoFit/>
          </a:bodyPr>
          <a:lstStyle/>
          <a:p>
            <a:pPr algn="ctr">
              <a:lnSpc>
                <a:spcPct val="100000"/>
              </a:lnSpc>
              <a:spcAft>
                <a:spcPts val="200"/>
              </a:spcAft>
            </a:pPr>
            <a:r>
              <a:rPr sz="1200" b="0">
                <a:solidFill>
                  <a:srgbClr val="9EC2D8"/>
                </a:solidFill>
                <a:latin typeface="微软雅黑"/>
                <a:ea typeface="微软雅黑"/>
              </a:rPr>
              <a:t>成果展望</a:t>
            </a:r>
          </a:p>
        </p:txBody>
      </p:sp>
      <p:sp>
        <p:nvSpPr>
          <p:cNvPr id="27" name="TextBox 26"/>
          <p:cNvSpPr txBox="1"/>
          <p:nvPr/>
        </p:nvSpPr>
        <p:spPr>
          <a:xfrm>
            <a:off x="10716768" y="109728"/>
            <a:ext cx="1051560" cy="347472"/>
          </a:xfrm>
          <a:prstGeom prst="rect">
            <a:avLst/>
          </a:prstGeom>
          <a:noFill/>
        </p:spPr>
        <p:txBody>
          <a:bodyPr wrap="square" lIns="18288" rIns="18288" tIns="18288" bIns="18288" anchor="ctr">
            <a:spAutoFit/>
          </a:bodyPr>
          <a:lstStyle/>
          <a:p>
            <a:pPr algn="r">
              <a:lnSpc>
                <a:spcPct val="100000"/>
              </a:lnSpc>
              <a:spcAft>
                <a:spcPts val="200"/>
              </a:spcAft>
            </a:pPr>
            <a:r>
              <a:rPr sz="1100" b="0">
                <a:solidFill>
                  <a:srgbClr val="9EC2D8"/>
                </a:solidFill>
                <a:latin typeface="微软雅黑"/>
                <a:ea typeface="微软雅黑"/>
              </a:rPr>
              <a:t>01 / 04</a:t>
            </a:r>
          </a:p>
        </p:txBody>
      </p:sp>
      <p:sp>
        <p:nvSpPr>
          <p:cNvPr id="28" name="Rectangle 27"/>
          <p:cNvSpPr/>
          <p:nvPr/>
        </p:nvSpPr>
        <p:spPr>
          <a:xfrm>
            <a:off x="0" y="658368"/>
            <a:ext cx="12191695" cy="411480"/>
          </a:xfrm>
          <a:prstGeom prst="rect">
            <a:avLst/>
          </a:prstGeom>
          <a:solidFill>
            <a:srgbClr val="02163B"/>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7472" y="722376"/>
            <a:ext cx="822960" cy="246888"/>
          </a:xfrm>
          <a:prstGeom prst="rect">
            <a:avLst/>
          </a:prstGeom>
          <a:noFill/>
        </p:spPr>
        <p:txBody>
          <a:bodyPr wrap="square" lIns="18288" rIns="18288" tIns="18288" bIns="18288" anchor="ctr">
            <a:spAutoFit/>
          </a:bodyPr>
          <a:lstStyle/>
          <a:p>
            <a:pPr algn="l">
              <a:lnSpc>
                <a:spcPct val="100000"/>
              </a:lnSpc>
              <a:spcAft>
                <a:spcPts val="200"/>
              </a:spcAft>
            </a:pPr>
            <a:r>
              <a:rPr sz="1000" b="1">
                <a:solidFill>
                  <a:srgbClr val="9EC2D8"/>
                </a:solidFill>
                <a:latin typeface="微软雅黑"/>
                <a:ea typeface="微软雅黑"/>
              </a:rPr>
              <a:t>技能地图</a:t>
            </a:r>
          </a:p>
        </p:txBody>
      </p:sp>
      <p:sp>
        <p:nvSpPr>
          <p:cNvPr id="30" name="Rounded Rectangle 29"/>
          <p:cNvSpPr/>
          <p:nvPr/>
        </p:nvSpPr>
        <p:spPr>
          <a:xfrm>
            <a:off x="1216152" y="713232"/>
            <a:ext cx="1444752" cy="265176"/>
          </a:xfrm>
          <a:prstGeom prst="roundRect">
            <a:avLst>
              <a:gd name="adj" fmla="val 8000"/>
            </a:avLst>
          </a:prstGeom>
          <a:solidFill>
            <a:srgbClr val="032B5C"/>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16152" y="713232"/>
            <a:ext cx="1444752" cy="265176"/>
          </a:xfrm>
          <a:prstGeom prst="rect">
            <a:avLst/>
          </a:prstGeom>
          <a:noFill/>
        </p:spPr>
        <p:txBody>
          <a:bodyPr wrap="square" lIns="18288" rIns="18288" tIns="18288" bIns="18288" anchor="ctr">
            <a:spAutoFit/>
          </a:bodyPr>
          <a:lstStyle/>
          <a:p>
            <a:pPr algn="ctr">
              <a:lnSpc>
                <a:spcPct val="100000"/>
              </a:lnSpc>
              <a:spcAft>
                <a:spcPts val="200"/>
              </a:spcAft>
            </a:pPr>
            <a:r>
              <a:rPr sz="1050" b="0">
                <a:solidFill>
                  <a:srgbClr val="9EC2D8"/>
                </a:solidFill>
                <a:latin typeface="微软雅黑"/>
                <a:ea typeface="微软雅黑"/>
              </a:rPr>
              <a:t>总控</a:t>
            </a:r>
          </a:p>
        </p:txBody>
      </p:sp>
      <p:sp>
        <p:nvSpPr>
          <p:cNvPr id="32" name="Rounded Rectangle 31"/>
          <p:cNvSpPr/>
          <p:nvPr/>
        </p:nvSpPr>
        <p:spPr>
          <a:xfrm>
            <a:off x="2834640" y="713232"/>
            <a:ext cx="1444752" cy="265176"/>
          </a:xfrm>
          <a:prstGeom prst="roundRect">
            <a:avLst>
              <a:gd name="adj" fmla="val 8000"/>
            </a:avLst>
          </a:prstGeom>
          <a:solidFill>
            <a:srgbClr val="032B5C"/>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34640" y="713232"/>
            <a:ext cx="1444752" cy="265176"/>
          </a:xfrm>
          <a:prstGeom prst="rect">
            <a:avLst/>
          </a:prstGeom>
          <a:noFill/>
        </p:spPr>
        <p:txBody>
          <a:bodyPr wrap="square" lIns="18288" rIns="18288" tIns="18288" bIns="18288" anchor="ctr">
            <a:spAutoFit/>
          </a:bodyPr>
          <a:lstStyle/>
          <a:p>
            <a:pPr algn="ctr">
              <a:lnSpc>
                <a:spcPct val="100000"/>
              </a:lnSpc>
              <a:spcAft>
                <a:spcPts val="200"/>
              </a:spcAft>
            </a:pPr>
            <a:r>
              <a:rPr sz="1050" b="0">
                <a:solidFill>
                  <a:srgbClr val="9EC2D8"/>
                </a:solidFill>
                <a:latin typeface="微软雅黑"/>
                <a:ea typeface="微软雅黑"/>
              </a:rPr>
              <a:t>招聘</a:t>
            </a:r>
          </a:p>
        </p:txBody>
      </p:sp>
      <p:sp>
        <p:nvSpPr>
          <p:cNvPr id="34" name="Rounded Rectangle 33"/>
          <p:cNvSpPr/>
          <p:nvPr/>
        </p:nvSpPr>
        <p:spPr>
          <a:xfrm>
            <a:off x="4453128" y="713232"/>
            <a:ext cx="1444752" cy="265176"/>
          </a:xfrm>
          <a:prstGeom prst="roundRect">
            <a:avLst>
              <a:gd name="adj" fmla="val 8000"/>
            </a:avLst>
          </a:prstGeom>
          <a:solidFill>
            <a:srgbClr val="032B5C"/>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53128" y="713232"/>
            <a:ext cx="1444752" cy="265176"/>
          </a:xfrm>
          <a:prstGeom prst="rect">
            <a:avLst/>
          </a:prstGeom>
          <a:noFill/>
        </p:spPr>
        <p:txBody>
          <a:bodyPr wrap="square" lIns="18288" rIns="18288" tIns="18288" bIns="18288" anchor="ctr">
            <a:spAutoFit/>
          </a:bodyPr>
          <a:lstStyle/>
          <a:p>
            <a:pPr algn="ctr">
              <a:lnSpc>
                <a:spcPct val="100000"/>
              </a:lnSpc>
              <a:spcAft>
                <a:spcPts val="200"/>
              </a:spcAft>
            </a:pPr>
            <a:r>
              <a:rPr sz="1050" b="0">
                <a:solidFill>
                  <a:srgbClr val="9EC2D8"/>
                </a:solidFill>
                <a:latin typeface="微软雅黑"/>
                <a:ea typeface="微软雅黑"/>
              </a:rPr>
              <a:t>入职</a:t>
            </a:r>
          </a:p>
        </p:txBody>
      </p:sp>
      <p:sp>
        <p:nvSpPr>
          <p:cNvPr id="36" name="Rounded Rectangle 35"/>
          <p:cNvSpPr/>
          <p:nvPr/>
        </p:nvSpPr>
        <p:spPr>
          <a:xfrm>
            <a:off x="6071616" y="713232"/>
            <a:ext cx="1444752" cy="265176"/>
          </a:xfrm>
          <a:prstGeom prst="roundRect">
            <a:avLst>
              <a:gd name="adj" fmla="val 8000"/>
            </a:avLst>
          </a:prstGeom>
          <a:solidFill>
            <a:srgbClr val="032B5C"/>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71616" y="713232"/>
            <a:ext cx="1444752" cy="265176"/>
          </a:xfrm>
          <a:prstGeom prst="rect">
            <a:avLst/>
          </a:prstGeom>
          <a:noFill/>
        </p:spPr>
        <p:txBody>
          <a:bodyPr wrap="square" lIns="18288" rIns="18288" tIns="18288" bIns="18288" anchor="ctr">
            <a:spAutoFit/>
          </a:bodyPr>
          <a:lstStyle/>
          <a:p>
            <a:pPr algn="ctr">
              <a:lnSpc>
                <a:spcPct val="100000"/>
              </a:lnSpc>
              <a:spcAft>
                <a:spcPts val="200"/>
              </a:spcAft>
            </a:pPr>
            <a:r>
              <a:rPr sz="1050" b="0">
                <a:solidFill>
                  <a:srgbClr val="9EC2D8"/>
                </a:solidFill>
                <a:latin typeface="微软雅黑"/>
                <a:ea typeface="微软雅黑"/>
              </a:rPr>
              <a:t>培训</a:t>
            </a:r>
          </a:p>
        </p:txBody>
      </p:sp>
      <p:sp>
        <p:nvSpPr>
          <p:cNvPr id="38" name="Rounded Rectangle 37"/>
          <p:cNvSpPr/>
          <p:nvPr/>
        </p:nvSpPr>
        <p:spPr>
          <a:xfrm>
            <a:off x="7690104" y="713232"/>
            <a:ext cx="1444752" cy="265176"/>
          </a:xfrm>
          <a:prstGeom prst="roundRect">
            <a:avLst>
              <a:gd name="adj" fmla="val 8000"/>
            </a:avLst>
          </a:prstGeom>
          <a:solidFill>
            <a:srgbClr val="032B5C"/>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90104" y="713232"/>
            <a:ext cx="1444752" cy="265176"/>
          </a:xfrm>
          <a:prstGeom prst="rect">
            <a:avLst/>
          </a:prstGeom>
          <a:noFill/>
        </p:spPr>
        <p:txBody>
          <a:bodyPr wrap="square" lIns="18288" rIns="18288" tIns="18288" bIns="18288" anchor="ctr">
            <a:spAutoFit/>
          </a:bodyPr>
          <a:lstStyle/>
          <a:p>
            <a:pPr algn="ctr">
              <a:lnSpc>
                <a:spcPct val="100000"/>
              </a:lnSpc>
              <a:spcAft>
                <a:spcPts val="200"/>
              </a:spcAft>
            </a:pPr>
            <a:r>
              <a:rPr sz="1050" b="0">
                <a:solidFill>
                  <a:srgbClr val="9EC2D8"/>
                </a:solidFill>
                <a:latin typeface="微软雅黑"/>
                <a:ea typeface="微软雅黑"/>
              </a:rPr>
              <a:t>绩效</a:t>
            </a:r>
          </a:p>
        </p:txBody>
      </p:sp>
      <p:sp>
        <p:nvSpPr>
          <p:cNvPr id="40" name="Rounded Rectangle 39"/>
          <p:cNvSpPr/>
          <p:nvPr/>
        </p:nvSpPr>
        <p:spPr>
          <a:xfrm>
            <a:off x="9308592" y="713232"/>
            <a:ext cx="1444752" cy="265176"/>
          </a:xfrm>
          <a:prstGeom prst="roundRect">
            <a:avLst>
              <a:gd name="adj" fmla="val 8000"/>
            </a:avLst>
          </a:prstGeom>
          <a:solidFill>
            <a:srgbClr val="00D8FF"/>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08592" y="713232"/>
            <a:ext cx="1444752" cy="265176"/>
          </a:xfrm>
          <a:prstGeom prst="rect">
            <a:avLst/>
          </a:prstGeom>
          <a:noFill/>
        </p:spPr>
        <p:txBody>
          <a:bodyPr wrap="square" lIns="18288" rIns="18288" tIns="18288" bIns="18288" anchor="ctr">
            <a:spAutoFit/>
          </a:bodyPr>
          <a:lstStyle/>
          <a:p>
            <a:pPr algn="ctr">
              <a:lnSpc>
                <a:spcPct val="100000"/>
              </a:lnSpc>
              <a:spcAft>
                <a:spcPts val="200"/>
              </a:spcAft>
            </a:pPr>
            <a:r>
              <a:rPr sz="1050" b="1">
                <a:solidFill>
                  <a:srgbClr val="02163B"/>
                </a:solidFill>
                <a:latin typeface="微软雅黑"/>
                <a:ea typeface="微软雅黑"/>
              </a:rPr>
              <a:t>行政</a:t>
            </a:r>
          </a:p>
        </p:txBody>
      </p:sp>
      <p:sp>
        <p:nvSpPr>
          <p:cNvPr id="42" name="TextBox 41"/>
          <p:cNvSpPr txBox="1"/>
          <p:nvPr/>
        </p:nvSpPr>
        <p:spPr>
          <a:xfrm>
            <a:off x="438912" y="1170432"/>
            <a:ext cx="4389120" cy="228600"/>
          </a:xfrm>
          <a:prstGeom prst="rect">
            <a:avLst/>
          </a:prstGeom>
          <a:noFill/>
        </p:spPr>
        <p:txBody>
          <a:bodyPr wrap="square" lIns="18288" rIns="18288" tIns="18288" bIns="18288" anchor="t">
            <a:spAutoFit/>
          </a:bodyPr>
          <a:lstStyle/>
          <a:p>
            <a:pPr algn="l">
              <a:lnSpc>
                <a:spcPct val="100000"/>
              </a:lnSpc>
              <a:spcAft>
                <a:spcPts val="200"/>
              </a:spcAft>
            </a:pPr>
            <a:r>
              <a:rPr sz="1050" b="1">
                <a:solidFill>
                  <a:srgbClr val="00D8FF"/>
                </a:solidFill>
                <a:latin typeface="微软雅黑"/>
                <a:ea typeface="微软雅黑"/>
              </a:rPr>
              <a:t>06  ADMIN · CONTROLLED CHAINS</a:t>
            </a:r>
          </a:p>
        </p:txBody>
      </p:sp>
      <p:sp>
        <p:nvSpPr>
          <p:cNvPr id="43" name="TextBox 42"/>
          <p:cNvSpPr txBox="1"/>
          <p:nvPr/>
        </p:nvSpPr>
        <p:spPr>
          <a:xfrm>
            <a:off x="420624" y="1399032"/>
            <a:ext cx="11155680" cy="448056"/>
          </a:xfrm>
          <a:prstGeom prst="rect">
            <a:avLst/>
          </a:prstGeom>
          <a:noFill/>
        </p:spPr>
        <p:txBody>
          <a:bodyPr wrap="square" lIns="18288" rIns="18288" tIns="18288" bIns="18288" anchor="t">
            <a:spAutoFit/>
          </a:bodyPr>
          <a:lstStyle/>
          <a:p>
            <a:pPr algn="l">
              <a:lnSpc>
                <a:spcPct val="100000"/>
              </a:lnSpc>
              <a:spcAft>
                <a:spcPts val="200"/>
              </a:spcAft>
            </a:pPr>
            <a:r>
              <a:rPr sz="2200" b="1">
                <a:solidFill>
                  <a:srgbClr val="FFFFFF"/>
                </a:solidFill>
                <a:latin typeface="优设标题黑"/>
                <a:ea typeface="优设标题黑"/>
              </a:rPr>
              <a:t>行政 Agent：制度有出处、数据有权限、月报可复核</a:t>
            </a:r>
          </a:p>
        </p:txBody>
      </p:sp>
      <p:sp>
        <p:nvSpPr>
          <p:cNvPr id="44" name="Rectangle 43"/>
          <p:cNvSpPr/>
          <p:nvPr/>
        </p:nvSpPr>
        <p:spPr>
          <a:xfrm>
            <a:off x="429768" y="1901952"/>
            <a:ext cx="685800" cy="45720"/>
          </a:xfrm>
          <a:prstGeom prst="rect">
            <a:avLst/>
          </a:prstGeom>
          <a:solidFill>
            <a:srgbClr val="00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80160" y="1819656"/>
            <a:ext cx="10149840" cy="265176"/>
          </a:xfrm>
          <a:prstGeom prst="rect">
            <a:avLst/>
          </a:prstGeom>
          <a:noFill/>
        </p:spPr>
        <p:txBody>
          <a:bodyPr wrap="square" lIns="18288" rIns="18288" tIns="18288" bIns="18288" anchor="t">
            <a:spAutoFit/>
          </a:bodyPr>
          <a:lstStyle/>
          <a:p>
            <a:pPr algn="l">
              <a:lnSpc>
                <a:spcPct val="100000"/>
              </a:lnSpc>
              <a:spcAft>
                <a:spcPts val="200"/>
              </a:spcAft>
            </a:pPr>
            <a:r>
              <a:rPr sz="1120" b="0">
                <a:solidFill>
                  <a:srgbClr val="9EC2D8"/>
                </a:solidFill>
                <a:latin typeface="微软雅黑"/>
                <a:ea typeface="微软雅黑"/>
              </a:rPr>
              <a:t>不做“什么都能回答”的行政助理，把高频事务拆成三条受控业务链</a:t>
            </a:r>
          </a:p>
        </p:txBody>
      </p:sp>
      <p:sp>
        <p:nvSpPr>
          <p:cNvPr id="46" name="Rounded Rectangle 45"/>
          <p:cNvSpPr/>
          <p:nvPr/>
        </p:nvSpPr>
        <p:spPr>
          <a:xfrm>
            <a:off x="438912" y="2212848"/>
            <a:ext cx="3566160" cy="2697480"/>
          </a:xfrm>
          <a:prstGeom prst="roundRect">
            <a:avLst>
              <a:gd name="adj" fmla="val 8000"/>
            </a:avLst>
          </a:prstGeom>
          <a:solidFill>
            <a:srgbClr val="032B5C"/>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1792" y="2414016"/>
            <a:ext cx="658368" cy="438912"/>
          </a:xfrm>
          <a:prstGeom prst="rect">
            <a:avLst/>
          </a:prstGeom>
          <a:noFill/>
        </p:spPr>
        <p:txBody>
          <a:bodyPr wrap="square" lIns="18288" rIns="18288" tIns="18288" bIns="18288" anchor="t">
            <a:spAutoFit/>
          </a:bodyPr>
          <a:lstStyle/>
          <a:p>
            <a:pPr algn="l">
              <a:lnSpc>
                <a:spcPct val="100000"/>
              </a:lnSpc>
              <a:spcAft>
                <a:spcPts val="200"/>
              </a:spcAft>
            </a:pPr>
            <a:r>
              <a:rPr sz="2300" b="1">
                <a:solidFill>
                  <a:srgbClr val="00D8FF"/>
                </a:solidFill>
                <a:latin typeface="微软雅黑"/>
                <a:ea typeface="微软雅黑"/>
              </a:rPr>
              <a:t>01</a:t>
            </a:r>
          </a:p>
        </p:txBody>
      </p:sp>
      <p:sp>
        <p:nvSpPr>
          <p:cNvPr id="48" name="TextBox 47"/>
          <p:cNvSpPr txBox="1"/>
          <p:nvPr/>
        </p:nvSpPr>
        <p:spPr>
          <a:xfrm>
            <a:off x="1353312" y="2468880"/>
            <a:ext cx="2331720" cy="320040"/>
          </a:xfrm>
          <a:prstGeom prst="rect">
            <a:avLst/>
          </a:prstGeom>
          <a:noFill/>
        </p:spPr>
        <p:txBody>
          <a:bodyPr wrap="square" lIns="18288" rIns="18288" tIns="18288" bIns="18288" anchor="t">
            <a:spAutoFit/>
          </a:bodyPr>
          <a:lstStyle/>
          <a:p>
            <a:pPr algn="l">
              <a:lnSpc>
                <a:spcPct val="100000"/>
              </a:lnSpc>
              <a:spcAft>
                <a:spcPts val="200"/>
              </a:spcAft>
            </a:pPr>
            <a:r>
              <a:rPr sz="1500" b="1">
                <a:solidFill>
                  <a:srgbClr val="E9F8FF"/>
                </a:solidFill>
                <a:latin typeface="微软雅黑"/>
                <a:ea typeface="微软雅黑"/>
              </a:rPr>
              <a:t>政策答疑</a:t>
            </a:r>
          </a:p>
        </p:txBody>
      </p:sp>
      <p:sp>
        <p:nvSpPr>
          <p:cNvPr id="49" name="Rectangle 48"/>
          <p:cNvSpPr/>
          <p:nvPr/>
        </p:nvSpPr>
        <p:spPr>
          <a:xfrm>
            <a:off x="640080" y="2944368"/>
            <a:ext cx="3163824" cy="36576"/>
          </a:xfrm>
          <a:prstGeom prst="rect">
            <a:avLst/>
          </a:prstGeom>
          <a:solidFill>
            <a:srgbClr val="00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94944" y="3218688"/>
            <a:ext cx="3054096" cy="1298448"/>
          </a:xfrm>
          <a:prstGeom prst="rect">
            <a:avLst/>
          </a:prstGeom>
          <a:noFill/>
        </p:spPr>
        <p:txBody>
          <a:bodyPr wrap="square" lIns="18288" rIns="18288" tIns="18288" bIns="18288" anchor="t">
            <a:spAutoFit/>
          </a:bodyPr>
          <a:lstStyle/>
          <a:p>
            <a:pPr algn="l">
              <a:lnSpc>
                <a:spcPct val="100000"/>
              </a:lnSpc>
              <a:spcAft>
                <a:spcPts val="200"/>
              </a:spcAft>
            </a:pPr>
            <a:r>
              <a:rPr sz="1220" b="0">
                <a:solidFill>
                  <a:srgbClr val="E9F8FF"/>
                </a:solidFill>
                <a:latin typeface="微软雅黑"/>
                <a:ea typeface="微软雅黑"/>
              </a:rPr>
              <a:t>腾讯 IMA 检索原文</a:t>
            </a:r>
          </a:p>
          <a:p>
            <a:pPr algn="l">
              <a:lnSpc>
                <a:spcPct val="100000"/>
              </a:lnSpc>
              <a:spcAft>
                <a:spcPts val="200"/>
              </a:spcAft>
            </a:pPr>
            <a:r>
              <a:rPr sz="1220" b="0">
                <a:solidFill>
                  <a:srgbClr val="E9F8FF"/>
                </a:solidFill>
                <a:latin typeface="微软雅黑"/>
                <a:ea typeface="微软雅黑"/>
              </a:rPr>
              <a:t>关键数字与出处一致</a:t>
            </a:r>
          </a:p>
          <a:p>
            <a:pPr algn="l">
              <a:lnSpc>
                <a:spcPct val="100000"/>
              </a:lnSpc>
              <a:spcAft>
                <a:spcPts val="200"/>
              </a:spcAft>
            </a:pPr>
            <a:r>
              <a:rPr sz="1220" b="0">
                <a:solidFill>
                  <a:srgbClr val="E9F8FF"/>
                </a:solidFill>
                <a:latin typeface="微软雅黑"/>
                <a:ea typeface="微软雅黑"/>
              </a:rPr>
              <a:t>无依据、个案争议转人工</a:t>
            </a:r>
          </a:p>
        </p:txBody>
      </p:sp>
      <p:sp>
        <p:nvSpPr>
          <p:cNvPr id="51" name="Rounded Rectangle 50"/>
          <p:cNvSpPr/>
          <p:nvPr/>
        </p:nvSpPr>
        <p:spPr>
          <a:xfrm>
            <a:off x="4261104" y="2212848"/>
            <a:ext cx="3566160" cy="2697480"/>
          </a:xfrm>
          <a:prstGeom prst="roundRect">
            <a:avLst>
              <a:gd name="adj" fmla="val 8000"/>
            </a:avLst>
          </a:prstGeom>
          <a:solidFill>
            <a:srgbClr val="032B5C"/>
          </a:solidFill>
          <a:ln w="12700">
            <a:solidFill>
              <a:srgbClr val="FFA4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443984" y="2414016"/>
            <a:ext cx="658368" cy="438912"/>
          </a:xfrm>
          <a:prstGeom prst="rect">
            <a:avLst/>
          </a:prstGeom>
          <a:noFill/>
        </p:spPr>
        <p:txBody>
          <a:bodyPr wrap="square" lIns="18288" rIns="18288" tIns="18288" bIns="18288" anchor="t">
            <a:spAutoFit/>
          </a:bodyPr>
          <a:lstStyle/>
          <a:p>
            <a:pPr algn="l">
              <a:lnSpc>
                <a:spcPct val="100000"/>
              </a:lnSpc>
              <a:spcAft>
                <a:spcPts val="200"/>
              </a:spcAft>
            </a:pPr>
            <a:r>
              <a:rPr sz="2300" b="1">
                <a:solidFill>
                  <a:srgbClr val="FFA421"/>
                </a:solidFill>
                <a:latin typeface="微软雅黑"/>
                <a:ea typeface="微软雅黑"/>
              </a:rPr>
              <a:t>02</a:t>
            </a:r>
          </a:p>
        </p:txBody>
      </p:sp>
      <p:sp>
        <p:nvSpPr>
          <p:cNvPr id="53" name="TextBox 52"/>
          <p:cNvSpPr txBox="1"/>
          <p:nvPr/>
        </p:nvSpPr>
        <p:spPr>
          <a:xfrm>
            <a:off x="5175504" y="2468880"/>
            <a:ext cx="2331720" cy="320040"/>
          </a:xfrm>
          <a:prstGeom prst="rect">
            <a:avLst/>
          </a:prstGeom>
          <a:noFill/>
        </p:spPr>
        <p:txBody>
          <a:bodyPr wrap="square" lIns="18288" rIns="18288" tIns="18288" bIns="18288" anchor="t">
            <a:spAutoFit/>
          </a:bodyPr>
          <a:lstStyle/>
          <a:p>
            <a:pPr algn="l">
              <a:lnSpc>
                <a:spcPct val="100000"/>
              </a:lnSpc>
              <a:spcAft>
                <a:spcPts val="200"/>
              </a:spcAft>
            </a:pPr>
            <a:r>
              <a:rPr sz="1500" b="1">
                <a:solidFill>
                  <a:srgbClr val="E9F8FF"/>
                </a:solidFill>
                <a:latin typeface="微软雅黑"/>
                <a:ea typeface="微软雅黑"/>
              </a:rPr>
              <a:t>敏感查询</a:t>
            </a:r>
          </a:p>
        </p:txBody>
      </p:sp>
      <p:sp>
        <p:nvSpPr>
          <p:cNvPr id="54" name="Rectangle 53"/>
          <p:cNvSpPr/>
          <p:nvPr/>
        </p:nvSpPr>
        <p:spPr>
          <a:xfrm>
            <a:off x="4462272" y="2944368"/>
            <a:ext cx="3163824" cy="36576"/>
          </a:xfrm>
          <a:prstGeom prst="rect">
            <a:avLst/>
          </a:prstGeom>
          <a:solidFill>
            <a:srgbClr val="FFA4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17136" y="3218688"/>
            <a:ext cx="3054096" cy="1298448"/>
          </a:xfrm>
          <a:prstGeom prst="rect">
            <a:avLst/>
          </a:prstGeom>
          <a:noFill/>
        </p:spPr>
        <p:txBody>
          <a:bodyPr wrap="square" lIns="18288" rIns="18288" tIns="18288" bIns="18288" anchor="t">
            <a:spAutoFit/>
          </a:bodyPr>
          <a:lstStyle/>
          <a:p>
            <a:pPr algn="l">
              <a:lnSpc>
                <a:spcPct val="100000"/>
              </a:lnSpc>
              <a:spcAft>
                <a:spcPts val="200"/>
              </a:spcAft>
            </a:pPr>
            <a:r>
              <a:rPr sz="1220" b="0">
                <a:solidFill>
                  <a:srgbClr val="E9F8FF"/>
                </a:solidFill>
                <a:latin typeface="微软雅黑"/>
                <a:ea typeface="微软雅黑"/>
              </a:rPr>
              <a:t>飞书身份进入脚本闸门</a:t>
            </a:r>
          </a:p>
          <a:p>
            <a:pPr algn="l">
              <a:lnSpc>
                <a:spcPct val="100000"/>
              </a:lnSpc>
              <a:spcAft>
                <a:spcPts val="200"/>
              </a:spcAft>
            </a:pPr>
            <a:r>
              <a:rPr sz="1220" b="0">
                <a:solidFill>
                  <a:srgbClr val="E9F8FF"/>
                </a:solidFill>
                <a:latin typeface="微软雅黑"/>
                <a:ea typeface="微软雅黑"/>
              </a:rPr>
              <a:t>通过后才读取 HCM</a:t>
            </a:r>
          </a:p>
          <a:p>
            <a:pPr algn="l">
              <a:lnSpc>
                <a:spcPct val="100000"/>
              </a:lnSpc>
              <a:spcAft>
                <a:spcPts val="200"/>
              </a:spcAft>
            </a:pPr>
            <a:r>
              <a:rPr sz="1220" b="0">
                <a:solidFill>
                  <a:srgbClr val="E9F8FF"/>
                </a:solidFill>
                <a:latin typeface="微软雅黑"/>
                <a:ea typeface="微软雅黑"/>
              </a:rPr>
              <a:t>未知身份默认拒绝</a:t>
            </a:r>
          </a:p>
        </p:txBody>
      </p:sp>
      <p:sp>
        <p:nvSpPr>
          <p:cNvPr id="56" name="Rounded Rectangle 55"/>
          <p:cNvSpPr/>
          <p:nvPr/>
        </p:nvSpPr>
        <p:spPr>
          <a:xfrm>
            <a:off x="8083296" y="2212848"/>
            <a:ext cx="3566160" cy="2697480"/>
          </a:xfrm>
          <a:prstGeom prst="roundRect">
            <a:avLst>
              <a:gd name="adj" fmla="val 8000"/>
            </a:avLst>
          </a:prstGeom>
          <a:solidFill>
            <a:srgbClr val="032B5C"/>
          </a:solidFill>
          <a:ln w="12700">
            <a:solidFill>
              <a:srgbClr val="26D0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266176" y="2414016"/>
            <a:ext cx="658368" cy="438912"/>
          </a:xfrm>
          <a:prstGeom prst="rect">
            <a:avLst/>
          </a:prstGeom>
          <a:noFill/>
        </p:spPr>
        <p:txBody>
          <a:bodyPr wrap="square" lIns="18288" rIns="18288" tIns="18288" bIns="18288" anchor="t">
            <a:spAutoFit/>
          </a:bodyPr>
          <a:lstStyle/>
          <a:p>
            <a:pPr algn="l">
              <a:lnSpc>
                <a:spcPct val="100000"/>
              </a:lnSpc>
              <a:spcAft>
                <a:spcPts val="200"/>
              </a:spcAft>
            </a:pPr>
            <a:r>
              <a:rPr sz="2300" b="1">
                <a:solidFill>
                  <a:srgbClr val="26D098"/>
                </a:solidFill>
                <a:latin typeface="微软雅黑"/>
                <a:ea typeface="微软雅黑"/>
              </a:rPr>
              <a:t>03</a:t>
            </a:r>
          </a:p>
        </p:txBody>
      </p:sp>
      <p:sp>
        <p:nvSpPr>
          <p:cNvPr id="58" name="TextBox 57"/>
          <p:cNvSpPr txBox="1"/>
          <p:nvPr/>
        </p:nvSpPr>
        <p:spPr>
          <a:xfrm>
            <a:off x="8997696" y="2468880"/>
            <a:ext cx="2331720" cy="320040"/>
          </a:xfrm>
          <a:prstGeom prst="rect">
            <a:avLst/>
          </a:prstGeom>
          <a:noFill/>
        </p:spPr>
        <p:txBody>
          <a:bodyPr wrap="square" lIns="18288" rIns="18288" tIns="18288" bIns="18288" anchor="t">
            <a:spAutoFit/>
          </a:bodyPr>
          <a:lstStyle/>
          <a:p>
            <a:pPr algn="l">
              <a:lnSpc>
                <a:spcPct val="100000"/>
              </a:lnSpc>
              <a:spcAft>
                <a:spcPts val="200"/>
              </a:spcAft>
            </a:pPr>
            <a:r>
              <a:rPr sz="1500" b="1">
                <a:solidFill>
                  <a:srgbClr val="E9F8FF"/>
                </a:solidFill>
                <a:latin typeface="微软雅黑"/>
                <a:ea typeface="微软雅黑"/>
              </a:rPr>
              <a:t>HR 月报</a:t>
            </a:r>
          </a:p>
        </p:txBody>
      </p:sp>
      <p:sp>
        <p:nvSpPr>
          <p:cNvPr id="59" name="Rectangle 58"/>
          <p:cNvSpPr/>
          <p:nvPr/>
        </p:nvSpPr>
        <p:spPr>
          <a:xfrm>
            <a:off x="8284464" y="2944368"/>
            <a:ext cx="3163824" cy="36576"/>
          </a:xfrm>
          <a:prstGeom prst="rect">
            <a:avLst/>
          </a:prstGeom>
          <a:solidFill>
            <a:srgbClr val="26D0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339328" y="3218688"/>
            <a:ext cx="3054096" cy="1298448"/>
          </a:xfrm>
          <a:prstGeom prst="rect">
            <a:avLst/>
          </a:prstGeom>
          <a:noFill/>
        </p:spPr>
        <p:txBody>
          <a:bodyPr wrap="square" lIns="18288" rIns="18288" tIns="18288" bIns="18288" anchor="t">
            <a:spAutoFit/>
          </a:bodyPr>
          <a:lstStyle/>
          <a:p>
            <a:pPr algn="l">
              <a:lnSpc>
                <a:spcPct val="100000"/>
              </a:lnSpc>
              <a:spcAft>
                <a:spcPts val="200"/>
              </a:spcAft>
            </a:pPr>
            <a:r>
              <a:rPr sz="1220" b="0">
                <a:solidFill>
                  <a:srgbClr val="E9F8FF"/>
                </a:solidFill>
                <a:latin typeface="微软雅黑"/>
                <a:ea typeface="微软雅黑"/>
              </a:rPr>
              <a:t>脱敏业务台账统一导入</a:t>
            </a:r>
          </a:p>
          <a:p>
            <a:pPr algn="l">
              <a:lnSpc>
                <a:spcPct val="100000"/>
              </a:lnSpc>
              <a:spcAft>
                <a:spcPts val="200"/>
              </a:spcAft>
            </a:pPr>
            <a:r>
              <a:rPr sz="1220" b="0">
                <a:solidFill>
                  <a:srgbClr val="E9F8FF"/>
                </a:solidFill>
                <a:latin typeface="微软雅黑"/>
                <a:ea typeface="微软雅黑"/>
              </a:rPr>
              <a:t>pandas 计算指标与图表</a:t>
            </a:r>
          </a:p>
          <a:p>
            <a:pPr algn="l">
              <a:lnSpc>
                <a:spcPct val="100000"/>
              </a:lnSpc>
              <a:spcAft>
                <a:spcPts val="200"/>
              </a:spcAft>
            </a:pPr>
            <a:r>
              <a:rPr sz="1220" b="0">
                <a:solidFill>
                  <a:srgbClr val="E9F8FF"/>
                </a:solidFill>
                <a:latin typeface="微软雅黑"/>
                <a:ea typeface="微软雅黑"/>
              </a:rPr>
              <a:t>18 项数字保留来源与算式</a:t>
            </a:r>
          </a:p>
        </p:txBody>
      </p:sp>
      <p:sp>
        <p:nvSpPr>
          <p:cNvPr id="61" name="Rounded Rectangle 60"/>
          <p:cNvSpPr/>
          <p:nvPr/>
        </p:nvSpPr>
        <p:spPr>
          <a:xfrm>
            <a:off x="438912" y="5230368"/>
            <a:ext cx="11301984" cy="786384"/>
          </a:xfrm>
          <a:prstGeom prst="roundRect">
            <a:avLst>
              <a:gd name="adj" fmla="val 8000"/>
            </a:avLst>
          </a:prstGeom>
          <a:solidFill>
            <a:srgbClr val="04457D"/>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58368" y="5358384"/>
            <a:ext cx="10881360" cy="475488"/>
          </a:xfrm>
          <a:prstGeom prst="rect">
            <a:avLst/>
          </a:prstGeom>
          <a:noFill/>
        </p:spPr>
        <p:txBody>
          <a:bodyPr wrap="square" lIns="18288" rIns="18288" tIns="18288" bIns="18288" anchor="ctr">
            <a:spAutoFit/>
          </a:bodyPr>
          <a:lstStyle/>
          <a:p>
            <a:pPr algn="ctr">
              <a:lnSpc>
                <a:spcPct val="100000"/>
              </a:lnSpc>
              <a:spcAft>
                <a:spcPts val="200"/>
              </a:spcAft>
            </a:pPr>
            <a:r>
              <a:rPr sz="1300" b="1">
                <a:solidFill>
                  <a:srgbClr val="00D8FF"/>
                </a:solidFill>
                <a:latin typeface="微软雅黑"/>
                <a:ea typeface="微软雅黑"/>
              </a:rPr>
              <a:t>共同边界｜小慧负责检索、整理和计算；争议判断、破例审批与最终决策仍由人工完成</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2163B"/>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21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0" y="941832"/>
            <a:ext cx="12191695" cy="475488"/>
          </a:xfrm>
          <a:prstGeom prst="line">
            <a:avLst/>
          </a:prstGeom>
          <a:ln w="10160">
            <a:solidFill>
              <a:srgbClr val="04457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0" y="2834640"/>
            <a:ext cx="12191695" cy="475488"/>
          </a:xfrm>
          <a:prstGeom prst="line">
            <a:avLst/>
          </a:prstGeom>
          <a:ln w="10160">
            <a:solidFill>
              <a:srgbClr val="04457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0" y="5522975"/>
            <a:ext cx="12191695" cy="475489"/>
          </a:xfrm>
          <a:prstGeom prst="line">
            <a:avLst/>
          </a:prstGeom>
          <a:ln w="10160">
            <a:solidFill>
              <a:srgbClr val="04457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11480" y="658368"/>
            <a:ext cx="685800" cy="5907024"/>
          </a:xfrm>
          <a:prstGeom prst="line">
            <a:avLst/>
          </a:prstGeom>
          <a:ln w="8890">
            <a:solidFill>
              <a:srgbClr val="032B5C"/>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880360" y="658368"/>
            <a:ext cx="685800" cy="5907024"/>
          </a:xfrm>
          <a:prstGeom prst="line">
            <a:avLst/>
          </a:prstGeom>
          <a:ln w="8890">
            <a:solidFill>
              <a:srgbClr val="032B5C"/>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537960" y="658368"/>
            <a:ext cx="685800" cy="5907024"/>
          </a:xfrm>
          <a:prstGeom prst="line">
            <a:avLst/>
          </a:prstGeom>
          <a:ln w="8890">
            <a:solidFill>
              <a:srgbClr val="032B5C"/>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698480" y="658368"/>
            <a:ext cx="685800" cy="5907024"/>
          </a:xfrm>
          <a:prstGeom prst="line">
            <a:avLst/>
          </a:prstGeom>
          <a:ln w="8890">
            <a:solidFill>
              <a:srgbClr val="032B5C"/>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548640" y="1353312"/>
            <a:ext cx="73152" cy="73152"/>
          </a:xfrm>
          <a:prstGeom prst="ellipse">
            <a:avLst/>
          </a:prstGeom>
          <a:solidFill>
            <a:srgbClr val="00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246120" y="2670048"/>
            <a:ext cx="73152" cy="73152"/>
          </a:xfrm>
          <a:prstGeom prst="ellipse">
            <a:avLst/>
          </a:prstGeom>
          <a:solidFill>
            <a:srgbClr val="00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995160" y="1618488"/>
            <a:ext cx="73152" cy="73152"/>
          </a:xfrm>
          <a:prstGeom prst="ellipse">
            <a:avLst/>
          </a:prstGeom>
          <a:solidFill>
            <a:srgbClr val="00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64240" y="4389120"/>
            <a:ext cx="73152" cy="73152"/>
          </a:xfrm>
          <a:prstGeom prst="ellipse">
            <a:avLst/>
          </a:prstGeom>
          <a:solidFill>
            <a:srgbClr val="00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503920" y="5559552"/>
            <a:ext cx="73152" cy="73152"/>
          </a:xfrm>
          <a:prstGeom prst="ellipse">
            <a:avLst/>
          </a:prstGeom>
          <a:solidFill>
            <a:srgbClr val="00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658368"/>
          </a:xfrm>
          <a:prstGeom prst="rect">
            <a:avLst/>
          </a:prstGeom>
          <a:solidFill>
            <a:srgbClr val="032B5C"/>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100584"/>
            <a:ext cx="2011680" cy="384048"/>
          </a:xfrm>
          <a:prstGeom prst="rect">
            <a:avLst/>
          </a:prstGeom>
          <a:noFill/>
        </p:spPr>
        <p:txBody>
          <a:bodyPr wrap="square" lIns="18288" rIns="18288" tIns="18288" bIns="18288" anchor="ctr">
            <a:spAutoFit/>
          </a:bodyPr>
          <a:lstStyle/>
          <a:p>
            <a:pPr algn="l">
              <a:lnSpc>
                <a:spcPct val="100000"/>
              </a:lnSpc>
              <a:spcAft>
                <a:spcPts val="200"/>
              </a:spcAft>
            </a:pPr>
            <a:r>
              <a:rPr sz="1350" b="1">
                <a:solidFill>
                  <a:srgbClr val="FFFFFF"/>
                </a:solidFill>
                <a:latin typeface="微软雅黑"/>
                <a:ea typeface="微软雅黑"/>
              </a:rPr>
              <a:t>小慧 · HR数字员工</a:t>
            </a:r>
          </a:p>
        </p:txBody>
      </p:sp>
      <p:sp>
        <p:nvSpPr>
          <p:cNvPr id="17" name="Parallelogram 16"/>
          <p:cNvSpPr/>
          <p:nvPr/>
        </p:nvSpPr>
        <p:spPr>
          <a:xfrm>
            <a:off x="2423160" y="109728"/>
            <a:ext cx="1527048" cy="356616"/>
          </a:xfrm>
          <a:prstGeom prst="parallelogram">
            <a:avLst/>
          </a:prstGeom>
          <a:solidFill>
            <a:srgbClr val="04457D">
              <a:alpha val="82000"/>
            </a:srgbClr>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423160" y="109728"/>
            <a:ext cx="1527048" cy="356616"/>
          </a:xfrm>
          <a:prstGeom prst="rect">
            <a:avLst/>
          </a:prstGeom>
          <a:noFill/>
        </p:spPr>
        <p:txBody>
          <a:bodyPr wrap="square" lIns="18288" rIns="18288" tIns="18288" bIns="18288" anchor="ctr">
            <a:spAutoFit/>
          </a:bodyPr>
          <a:lstStyle/>
          <a:p>
            <a:pPr algn="ctr">
              <a:lnSpc>
                <a:spcPct val="100000"/>
              </a:lnSpc>
              <a:spcAft>
                <a:spcPts val="200"/>
              </a:spcAft>
            </a:pPr>
            <a:r>
              <a:rPr sz="1200" b="0">
                <a:solidFill>
                  <a:srgbClr val="9EC2D8"/>
                </a:solidFill>
                <a:latin typeface="微软雅黑"/>
                <a:ea typeface="微软雅黑"/>
              </a:rPr>
              <a:t>项目背景</a:t>
            </a:r>
          </a:p>
        </p:txBody>
      </p:sp>
      <p:sp>
        <p:nvSpPr>
          <p:cNvPr id="19" name="Parallelogram 18"/>
          <p:cNvSpPr/>
          <p:nvPr/>
        </p:nvSpPr>
        <p:spPr>
          <a:xfrm>
            <a:off x="4023360" y="109728"/>
            <a:ext cx="1527048" cy="356616"/>
          </a:xfrm>
          <a:prstGeom prst="parallelogram">
            <a:avLst/>
          </a:prstGeom>
          <a:solidFill>
            <a:srgbClr val="04457D">
              <a:alpha val="82000"/>
            </a:srgbClr>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23360" y="109728"/>
            <a:ext cx="1527048" cy="356616"/>
          </a:xfrm>
          <a:prstGeom prst="rect">
            <a:avLst/>
          </a:prstGeom>
          <a:noFill/>
        </p:spPr>
        <p:txBody>
          <a:bodyPr wrap="square" lIns="18288" rIns="18288" tIns="18288" bIns="18288" anchor="ctr">
            <a:spAutoFit/>
          </a:bodyPr>
          <a:lstStyle/>
          <a:p>
            <a:pPr algn="ctr">
              <a:lnSpc>
                <a:spcPct val="100000"/>
              </a:lnSpc>
              <a:spcAft>
                <a:spcPts val="200"/>
              </a:spcAft>
            </a:pPr>
            <a:r>
              <a:rPr sz="1200" b="0">
                <a:solidFill>
                  <a:srgbClr val="9EC2D8"/>
                </a:solidFill>
                <a:latin typeface="微软雅黑"/>
                <a:ea typeface="微软雅黑"/>
              </a:rPr>
              <a:t>方案规划</a:t>
            </a:r>
          </a:p>
        </p:txBody>
      </p:sp>
      <p:sp>
        <p:nvSpPr>
          <p:cNvPr id="21" name="Parallelogram 20"/>
          <p:cNvSpPr/>
          <p:nvPr/>
        </p:nvSpPr>
        <p:spPr>
          <a:xfrm>
            <a:off x="5623560" y="109728"/>
            <a:ext cx="1527048" cy="356616"/>
          </a:xfrm>
          <a:prstGeom prst="parallelogram">
            <a:avLst/>
          </a:prstGeom>
          <a:solidFill>
            <a:srgbClr val="00D8FF"/>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23560" y="109728"/>
            <a:ext cx="1527048" cy="356616"/>
          </a:xfrm>
          <a:prstGeom prst="rect">
            <a:avLst/>
          </a:prstGeom>
          <a:noFill/>
        </p:spPr>
        <p:txBody>
          <a:bodyPr wrap="square" lIns="18288" rIns="18288" tIns="18288" bIns="18288" anchor="ctr">
            <a:spAutoFit/>
          </a:bodyPr>
          <a:lstStyle/>
          <a:p>
            <a:pPr algn="ctr">
              <a:lnSpc>
                <a:spcPct val="100000"/>
              </a:lnSpc>
              <a:spcAft>
                <a:spcPts val="200"/>
              </a:spcAft>
            </a:pPr>
            <a:r>
              <a:rPr sz="1200" b="1">
                <a:solidFill>
                  <a:srgbClr val="02163B"/>
                </a:solidFill>
                <a:latin typeface="微软雅黑"/>
                <a:ea typeface="微软雅黑"/>
              </a:rPr>
              <a:t>技能演示</a:t>
            </a:r>
          </a:p>
        </p:txBody>
      </p:sp>
      <p:sp>
        <p:nvSpPr>
          <p:cNvPr id="23" name="Parallelogram 22"/>
          <p:cNvSpPr/>
          <p:nvPr/>
        </p:nvSpPr>
        <p:spPr>
          <a:xfrm>
            <a:off x="7223760" y="109728"/>
            <a:ext cx="1527048" cy="356616"/>
          </a:xfrm>
          <a:prstGeom prst="parallelogram">
            <a:avLst/>
          </a:prstGeom>
          <a:solidFill>
            <a:srgbClr val="04457D">
              <a:alpha val="82000"/>
            </a:srgbClr>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0" y="109728"/>
            <a:ext cx="1527048" cy="356616"/>
          </a:xfrm>
          <a:prstGeom prst="rect">
            <a:avLst/>
          </a:prstGeom>
          <a:noFill/>
        </p:spPr>
        <p:txBody>
          <a:bodyPr wrap="square" lIns="18288" rIns="18288" tIns="18288" bIns="18288" anchor="ctr">
            <a:spAutoFit/>
          </a:bodyPr>
          <a:lstStyle/>
          <a:p>
            <a:pPr algn="ctr">
              <a:lnSpc>
                <a:spcPct val="100000"/>
              </a:lnSpc>
              <a:spcAft>
                <a:spcPts val="200"/>
              </a:spcAft>
            </a:pPr>
            <a:r>
              <a:rPr sz="1200" b="0">
                <a:solidFill>
                  <a:srgbClr val="9EC2D8"/>
                </a:solidFill>
                <a:latin typeface="微软雅黑"/>
                <a:ea typeface="微软雅黑"/>
              </a:rPr>
              <a:t>完整流程</a:t>
            </a:r>
          </a:p>
        </p:txBody>
      </p:sp>
      <p:sp>
        <p:nvSpPr>
          <p:cNvPr id="25" name="Parallelogram 24"/>
          <p:cNvSpPr/>
          <p:nvPr/>
        </p:nvSpPr>
        <p:spPr>
          <a:xfrm>
            <a:off x="8823960" y="109728"/>
            <a:ext cx="1527048" cy="356616"/>
          </a:xfrm>
          <a:prstGeom prst="parallelogram">
            <a:avLst/>
          </a:prstGeom>
          <a:solidFill>
            <a:srgbClr val="04457D">
              <a:alpha val="82000"/>
            </a:srgbClr>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23960" y="109728"/>
            <a:ext cx="1527048" cy="356616"/>
          </a:xfrm>
          <a:prstGeom prst="rect">
            <a:avLst/>
          </a:prstGeom>
          <a:noFill/>
        </p:spPr>
        <p:txBody>
          <a:bodyPr wrap="square" lIns="18288" rIns="18288" tIns="18288" bIns="18288" anchor="ctr">
            <a:spAutoFit/>
          </a:bodyPr>
          <a:lstStyle/>
          <a:p>
            <a:pPr algn="ctr">
              <a:lnSpc>
                <a:spcPct val="100000"/>
              </a:lnSpc>
              <a:spcAft>
                <a:spcPts val="200"/>
              </a:spcAft>
            </a:pPr>
            <a:r>
              <a:rPr sz="1200" b="0">
                <a:solidFill>
                  <a:srgbClr val="9EC2D8"/>
                </a:solidFill>
                <a:latin typeface="微软雅黑"/>
                <a:ea typeface="微软雅黑"/>
              </a:rPr>
              <a:t>成果展望</a:t>
            </a:r>
          </a:p>
        </p:txBody>
      </p:sp>
      <p:sp>
        <p:nvSpPr>
          <p:cNvPr id="27" name="TextBox 26"/>
          <p:cNvSpPr txBox="1"/>
          <p:nvPr/>
        </p:nvSpPr>
        <p:spPr>
          <a:xfrm>
            <a:off x="10716768" y="109728"/>
            <a:ext cx="1051560" cy="347472"/>
          </a:xfrm>
          <a:prstGeom prst="rect">
            <a:avLst/>
          </a:prstGeom>
          <a:noFill/>
        </p:spPr>
        <p:txBody>
          <a:bodyPr wrap="square" lIns="18288" rIns="18288" tIns="18288" bIns="18288" anchor="ctr">
            <a:spAutoFit/>
          </a:bodyPr>
          <a:lstStyle/>
          <a:p>
            <a:pPr algn="r">
              <a:lnSpc>
                <a:spcPct val="100000"/>
              </a:lnSpc>
              <a:spcAft>
                <a:spcPts val="200"/>
              </a:spcAft>
            </a:pPr>
            <a:r>
              <a:rPr sz="1100" b="0">
                <a:solidFill>
                  <a:srgbClr val="9EC2D8"/>
                </a:solidFill>
                <a:latin typeface="微软雅黑"/>
                <a:ea typeface="微软雅黑"/>
              </a:rPr>
              <a:t>02 / 04</a:t>
            </a:r>
          </a:p>
        </p:txBody>
      </p:sp>
      <p:sp>
        <p:nvSpPr>
          <p:cNvPr id="28" name="Rectangle 27"/>
          <p:cNvSpPr/>
          <p:nvPr/>
        </p:nvSpPr>
        <p:spPr>
          <a:xfrm>
            <a:off x="0" y="658368"/>
            <a:ext cx="12191695" cy="411480"/>
          </a:xfrm>
          <a:prstGeom prst="rect">
            <a:avLst/>
          </a:prstGeom>
          <a:solidFill>
            <a:srgbClr val="02163B"/>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7472" y="722376"/>
            <a:ext cx="822960" cy="246888"/>
          </a:xfrm>
          <a:prstGeom prst="rect">
            <a:avLst/>
          </a:prstGeom>
          <a:noFill/>
        </p:spPr>
        <p:txBody>
          <a:bodyPr wrap="square" lIns="18288" rIns="18288" tIns="18288" bIns="18288" anchor="ctr">
            <a:spAutoFit/>
          </a:bodyPr>
          <a:lstStyle/>
          <a:p>
            <a:pPr algn="l">
              <a:lnSpc>
                <a:spcPct val="100000"/>
              </a:lnSpc>
              <a:spcAft>
                <a:spcPts val="200"/>
              </a:spcAft>
            </a:pPr>
            <a:r>
              <a:rPr sz="1000" b="1">
                <a:solidFill>
                  <a:srgbClr val="9EC2D8"/>
                </a:solidFill>
                <a:latin typeface="微软雅黑"/>
                <a:ea typeface="微软雅黑"/>
              </a:rPr>
              <a:t>技能地图</a:t>
            </a:r>
          </a:p>
        </p:txBody>
      </p:sp>
      <p:sp>
        <p:nvSpPr>
          <p:cNvPr id="30" name="Rounded Rectangle 29"/>
          <p:cNvSpPr/>
          <p:nvPr/>
        </p:nvSpPr>
        <p:spPr>
          <a:xfrm>
            <a:off x="1216152" y="713232"/>
            <a:ext cx="1444752" cy="265176"/>
          </a:xfrm>
          <a:prstGeom prst="roundRect">
            <a:avLst>
              <a:gd name="adj" fmla="val 8000"/>
            </a:avLst>
          </a:prstGeom>
          <a:solidFill>
            <a:srgbClr val="032B5C"/>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16152" y="713232"/>
            <a:ext cx="1444752" cy="265176"/>
          </a:xfrm>
          <a:prstGeom prst="rect">
            <a:avLst/>
          </a:prstGeom>
          <a:noFill/>
        </p:spPr>
        <p:txBody>
          <a:bodyPr wrap="square" lIns="18288" rIns="18288" tIns="18288" bIns="18288" anchor="ctr">
            <a:spAutoFit/>
          </a:bodyPr>
          <a:lstStyle/>
          <a:p>
            <a:pPr algn="ctr">
              <a:lnSpc>
                <a:spcPct val="100000"/>
              </a:lnSpc>
              <a:spcAft>
                <a:spcPts val="200"/>
              </a:spcAft>
            </a:pPr>
            <a:r>
              <a:rPr sz="1050" b="0">
                <a:solidFill>
                  <a:srgbClr val="9EC2D8"/>
                </a:solidFill>
                <a:latin typeface="微软雅黑"/>
                <a:ea typeface="微软雅黑"/>
              </a:rPr>
              <a:t>总控</a:t>
            </a:r>
          </a:p>
        </p:txBody>
      </p:sp>
      <p:sp>
        <p:nvSpPr>
          <p:cNvPr id="32" name="Rounded Rectangle 31"/>
          <p:cNvSpPr/>
          <p:nvPr/>
        </p:nvSpPr>
        <p:spPr>
          <a:xfrm>
            <a:off x="2834640" y="713232"/>
            <a:ext cx="1444752" cy="265176"/>
          </a:xfrm>
          <a:prstGeom prst="roundRect">
            <a:avLst>
              <a:gd name="adj" fmla="val 8000"/>
            </a:avLst>
          </a:prstGeom>
          <a:solidFill>
            <a:srgbClr val="032B5C"/>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34640" y="713232"/>
            <a:ext cx="1444752" cy="265176"/>
          </a:xfrm>
          <a:prstGeom prst="rect">
            <a:avLst/>
          </a:prstGeom>
          <a:noFill/>
        </p:spPr>
        <p:txBody>
          <a:bodyPr wrap="square" lIns="18288" rIns="18288" tIns="18288" bIns="18288" anchor="ctr">
            <a:spAutoFit/>
          </a:bodyPr>
          <a:lstStyle/>
          <a:p>
            <a:pPr algn="ctr">
              <a:lnSpc>
                <a:spcPct val="100000"/>
              </a:lnSpc>
              <a:spcAft>
                <a:spcPts val="200"/>
              </a:spcAft>
            </a:pPr>
            <a:r>
              <a:rPr sz="1050" b="0">
                <a:solidFill>
                  <a:srgbClr val="9EC2D8"/>
                </a:solidFill>
                <a:latin typeface="微软雅黑"/>
                <a:ea typeface="微软雅黑"/>
              </a:rPr>
              <a:t>招聘</a:t>
            </a:r>
          </a:p>
        </p:txBody>
      </p:sp>
      <p:sp>
        <p:nvSpPr>
          <p:cNvPr id="34" name="Rounded Rectangle 33"/>
          <p:cNvSpPr/>
          <p:nvPr/>
        </p:nvSpPr>
        <p:spPr>
          <a:xfrm>
            <a:off x="4453128" y="713232"/>
            <a:ext cx="1444752" cy="265176"/>
          </a:xfrm>
          <a:prstGeom prst="roundRect">
            <a:avLst>
              <a:gd name="adj" fmla="val 8000"/>
            </a:avLst>
          </a:prstGeom>
          <a:solidFill>
            <a:srgbClr val="032B5C"/>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53128" y="713232"/>
            <a:ext cx="1444752" cy="265176"/>
          </a:xfrm>
          <a:prstGeom prst="rect">
            <a:avLst/>
          </a:prstGeom>
          <a:noFill/>
        </p:spPr>
        <p:txBody>
          <a:bodyPr wrap="square" lIns="18288" rIns="18288" tIns="18288" bIns="18288" anchor="ctr">
            <a:spAutoFit/>
          </a:bodyPr>
          <a:lstStyle/>
          <a:p>
            <a:pPr algn="ctr">
              <a:lnSpc>
                <a:spcPct val="100000"/>
              </a:lnSpc>
              <a:spcAft>
                <a:spcPts val="200"/>
              </a:spcAft>
            </a:pPr>
            <a:r>
              <a:rPr sz="1050" b="0">
                <a:solidFill>
                  <a:srgbClr val="9EC2D8"/>
                </a:solidFill>
                <a:latin typeface="微软雅黑"/>
                <a:ea typeface="微软雅黑"/>
              </a:rPr>
              <a:t>入职</a:t>
            </a:r>
          </a:p>
        </p:txBody>
      </p:sp>
      <p:sp>
        <p:nvSpPr>
          <p:cNvPr id="36" name="Rounded Rectangle 35"/>
          <p:cNvSpPr/>
          <p:nvPr/>
        </p:nvSpPr>
        <p:spPr>
          <a:xfrm>
            <a:off x="6071616" y="713232"/>
            <a:ext cx="1444752" cy="265176"/>
          </a:xfrm>
          <a:prstGeom prst="roundRect">
            <a:avLst>
              <a:gd name="adj" fmla="val 8000"/>
            </a:avLst>
          </a:prstGeom>
          <a:solidFill>
            <a:srgbClr val="032B5C"/>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71616" y="713232"/>
            <a:ext cx="1444752" cy="265176"/>
          </a:xfrm>
          <a:prstGeom prst="rect">
            <a:avLst/>
          </a:prstGeom>
          <a:noFill/>
        </p:spPr>
        <p:txBody>
          <a:bodyPr wrap="square" lIns="18288" rIns="18288" tIns="18288" bIns="18288" anchor="ctr">
            <a:spAutoFit/>
          </a:bodyPr>
          <a:lstStyle/>
          <a:p>
            <a:pPr algn="ctr">
              <a:lnSpc>
                <a:spcPct val="100000"/>
              </a:lnSpc>
              <a:spcAft>
                <a:spcPts val="200"/>
              </a:spcAft>
            </a:pPr>
            <a:r>
              <a:rPr sz="1050" b="0">
                <a:solidFill>
                  <a:srgbClr val="9EC2D8"/>
                </a:solidFill>
                <a:latin typeface="微软雅黑"/>
                <a:ea typeface="微软雅黑"/>
              </a:rPr>
              <a:t>培训</a:t>
            </a:r>
          </a:p>
        </p:txBody>
      </p:sp>
      <p:sp>
        <p:nvSpPr>
          <p:cNvPr id="38" name="Rounded Rectangle 37"/>
          <p:cNvSpPr/>
          <p:nvPr/>
        </p:nvSpPr>
        <p:spPr>
          <a:xfrm>
            <a:off x="7690104" y="713232"/>
            <a:ext cx="1444752" cy="265176"/>
          </a:xfrm>
          <a:prstGeom prst="roundRect">
            <a:avLst>
              <a:gd name="adj" fmla="val 8000"/>
            </a:avLst>
          </a:prstGeom>
          <a:solidFill>
            <a:srgbClr val="032B5C"/>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90104" y="713232"/>
            <a:ext cx="1444752" cy="265176"/>
          </a:xfrm>
          <a:prstGeom prst="rect">
            <a:avLst/>
          </a:prstGeom>
          <a:noFill/>
        </p:spPr>
        <p:txBody>
          <a:bodyPr wrap="square" lIns="18288" rIns="18288" tIns="18288" bIns="18288" anchor="ctr">
            <a:spAutoFit/>
          </a:bodyPr>
          <a:lstStyle/>
          <a:p>
            <a:pPr algn="ctr">
              <a:lnSpc>
                <a:spcPct val="100000"/>
              </a:lnSpc>
              <a:spcAft>
                <a:spcPts val="200"/>
              </a:spcAft>
            </a:pPr>
            <a:r>
              <a:rPr sz="1050" b="0">
                <a:solidFill>
                  <a:srgbClr val="9EC2D8"/>
                </a:solidFill>
                <a:latin typeface="微软雅黑"/>
                <a:ea typeface="微软雅黑"/>
              </a:rPr>
              <a:t>绩效</a:t>
            </a:r>
          </a:p>
        </p:txBody>
      </p:sp>
      <p:sp>
        <p:nvSpPr>
          <p:cNvPr id="40" name="Rounded Rectangle 39"/>
          <p:cNvSpPr/>
          <p:nvPr/>
        </p:nvSpPr>
        <p:spPr>
          <a:xfrm>
            <a:off x="9308592" y="713232"/>
            <a:ext cx="1444752" cy="265176"/>
          </a:xfrm>
          <a:prstGeom prst="roundRect">
            <a:avLst>
              <a:gd name="adj" fmla="val 8000"/>
            </a:avLst>
          </a:prstGeom>
          <a:solidFill>
            <a:srgbClr val="00D8FF"/>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08592" y="713232"/>
            <a:ext cx="1444752" cy="265176"/>
          </a:xfrm>
          <a:prstGeom prst="rect">
            <a:avLst/>
          </a:prstGeom>
          <a:noFill/>
        </p:spPr>
        <p:txBody>
          <a:bodyPr wrap="square" lIns="18288" rIns="18288" tIns="18288" bIns="18288" anchor="ctr">
            <a:spAutoFit/>
          </a:bodyPr>
          <a:lstStyle/>
          <a:p>
            <a:pPr algn="ctr">
              <a:lnSpc>
                <a:spcPct val="100000"/>
              </a:lnSpc>
              <a:spcAft>
                <a:spcPts val="200"/>
              </a:spcAft>
            </a:pPr>
            <a:r>
              <a:rPr sz="1050" b="1">
                <a:solidFill>
                  <a:srgbClr val="02163B"/>
                </a:solidFill>
                <a:latin typeface="微软雅黑"/>
                <a:ea typeface="微软雅黑"/>
              </a:rPr>
              <a:t>行政</a:t>
            </a:r>
          </a:p>
        </p:txBody>
      </p:sp>
      <p:sp>
        <p:nvSpPr>
          <p:cNvPr id="42" name="TextBox 41"/>
          <p:cNvSpPr txBox="1"/>
          <p:nvPr/>
        </p:nvSpPr>
        <p:spPr>
          <a:xfrm>
            <a:off x="438912" y="1170432"/>
            <a:ext cx="4389120" cy="228600"/>
          </a:xfrm>
          <a:prstGeom prst="rect">
            <a:avLst/>
          </a:prstGeom>
          <a:noFill/>
        </p:spPr>
        <p:txBody>
          <a:bodyPr wrap="square" lIns="18288" rIns="18288" tIns="18288" bIns="18288" anchor="t">
            <a:spAutoFit/>
          </a:bodyPr>
          <a:lstStyle/>
          <a:p>
            <a:pPr algn="l">
              <a:lnSpc>
                <a:spcPct val="100000"/>
              </a:lnSpc>
              <a:spcAft>
                <a:spcPts val="200"/>
              </a:spcAft>
            </a:pPr>
            <a:r>
              <a:rPr sz="1050" b="1">
                <a:solidFill>
                  <a:srgbClr val="00D8FF"/>
                </a:solidFill>
                <a:latin typeface="微软雅黑"/>
                <a:ea typeface="微软雅黑"/>
              </a:rPr>
              <a:t>06  POLICY · GROUNDED ANSWER</a:t>
            </a:r>
          </a:p>
        </p:txBody>
      </p:sp>
      <p:sp>
        <p:nvSpPr>
          <p:cNvPr id="43" name="TextBox 42"/>
          <p:cNvSpPr txBox="1"/>
          <p:nvPr/>
        </p:nvSpPr>
        <p:spPr>
          <a:xfrm>
            <a:off x="420624" y="1399032"/>
            <a:ext cx="11155680" cy="448056"/>
          </a:xfrm>
          <a:prstGeom prst="rect">
            <a:avLst/>
          </a:prstGeom>
          <a:noFill/>
        </p:spPr>
        <p:txBody>
          <a:bodyPr wrap="square" lIns="18288" rIns="18288" tIns="18288" bIns="18288" anchor="t">
            <a:spAutoFit/>
          </a:bodyPr>
          <a:lstStyle/>
          <a:p>
            <a:pPr algn="l">
              <a:lnSpc>
                <a:spcPct val="100000"/>
              </a:lnSpc>
              <a:spcAft>
                <a:spcPts val="200"/>
              </a:spcAft>
            </a:pPr>
            <a:r>
              <a:rPr sz="2200" b="1">
                <a:solidFill>
                  <a:srgbClr val="FFFFFF"/>
                </a:solidFill>
                <a:latin typeface="优设标题黑"/>
                <a:ea typeface="优设标题黑"/>
              </a:rPr>
              <a:t>有依据才回答：检索成功不等于可以回答</a:t>
            </a:r>
          </a:p>
        </p:txBody>
      </p:sp>
      <p:sp>
        <p:nvSpPr>
          <p:cNvPr id="44" name="Rectangle 43"/>
          <p:cNvSpPr/>
          <p:nvPr/>
        </p:nvSpPr>
        <p:spPr>
          <a:xfrm>
            <a:off x="429768" y="1901952"/>
            <a:ext cx="685800" cy="45720"/>
          </a:xfrm>
          <a:prstGeom prst="rect">
            <a:avLst/>
          </a:prstGeom>
          <a:solidFill>
            <a:srgbClr val="00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80160" y="1819656"/>
            <a:ext cx="10149840" cy="265176"/>
          </a:xfrm>
          <a:prstGeom prst="rect">
            <a:avLst/>
          </a:prstGeom>
          <a:noFill/>
        </p:spPr>
        <p:txBody>
          <a:bodyPr wrap="square" lIns="18288" rIns="18288" tIns="18288" bIns="18288" anchor="t">
            <a:spAutoFit/>
          </a:bodyPr>
          <a:lstStyle/>
          <a:p>
            <a:pPr algn="l">
              <a:lnSpc>
                <a:spcPct val="100000"/>
              </a:lnSpc>
              <a:spcAft>
                <a:spcPts val="200"/>
              </a:spcAft>
            </a:pPr>
            <a:r>
              <a:rPr sz="1120" b="0">
                <a:solidFill>
                  <a:srgbClr val="9EC2D8"/>
                </a:solidFill>
                <a:latin typeface="微软雅黑"/>
                <a:ea typeface="微软雅黑"/>
              </a:rPr>
              <a:t>先判断“该不该答”，再判断“能不能找到”；任何一步失败都不靠模型常识补齐</a:t>
            </a:r>
          </a:p>
        </p:txBody>
      </p:sp>
      <p:sp>
        <p:nvSpPr>
          <p:cNvPr id="46" name="Rounded Rectangle 45"/>
          <p:cNvSpPr/>
          <p:nvPr/>
        </p:nvSpPr>
        <p:spPr>
          <a:xfrm>
            <a:off x="438912" y="2194560"/>
            <a:ext cx="2029968" cy="932688"/>
          </a:xfrm>
          <a:prstGeom prst="roundRect">
            <a:avLst>
              <a:gd name="adj" fmla="val 8000"/>
            </a:avLst>
          </a:prstGeom>
          <a:solidFill>
            <a:srgbClr val="032B5C"/>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76072" y="2313432"/>
            <a:ext cx="411480" cy="228600"/>
          </a:xfrm>
          <a:prstGeom prst="rect">
            <a:avLst/>
          </a:prstGeom>
          <a:noFill/>
        </p:spPr>
        <p:txBody>
          <a:bodyPr wrap="square" lIns="18288" rIns="18288" tIns="18288" bIns="18288" anchor="t">
            <a:spAutoFit/>
          </a:bodyPr>
          <a:lstStyle/>
          <a:p>
            <a:pPr algn="l">
              <a:lnSpc>
                <a:spcPct val="100000"/>
              </a:lnSpc>
              <a:spcAft>
                <a:spcPts val="200"/>
              </a:spcAft>
            </a:pPr>
            <a:r>
              <a:rPr sz="1000" b="1">
                <a:solidFill>
                  <a:srgbClr val="00D8FF"/>
                </a:solidFill>
                <a:latin typeface="微软雅黑"/>
                <a:ea typeface="微软雅黑"/>
              </a:rPr>
              <a:t>01</a:t>
            </a:r>
          </a:p>
        </p:txBody>
      </p:sp>
      <p:sp>
        <p:nvSpPr>
          <p:cNvPr id="48" name="TextBox 47"/>
          <p:cNvSpPr txBox="1"/>
          <p:nvPr/>
        </p:nvSpPr>
        <p:spPr>
          <a:xfrm>
            <a:off x="969264" y="2286000"/>
            <a:ext cx="1325880" cy="256032"/>
          </a:xfrm>
          <a:prstGeom prst="rect">
            <a:avLst/>
          </a:prstGeom>
          <a:noFill/>
        </p:spPr>
        <p:txBody>
          <a:bodyPr wrap="square" lIns="18288" rIns="18288" tIns="18288" bIns="18288" anchor="t">
            <a:spAutoFit/>
          </a:bodyPr>
          <a:lstStyle/>
          <a:p>
            <a:pPr algn="l">
              <a:lnSpc>
                <a:spcPct val="100000"/>
              </a:lnSpc>
              <a:spcAft>
                <a:spcPts val="200"/>
              </a:spcAft>
            </a:pPr>
            <a:r>
              <a:rPr sz="1220" b="1">
                <a:solidFill>
                  <a:srgbClr val="E9F8FF"/>
                </a:solidFill>
                <a:latin typeface="微软雅黑"/>
                <a:ea typeface="微软雅黑"/>
              </a:rPr>
              <a:t>飞书提问</a:t>
            </a:r>
          </a:p>
        </p:txBody>
      </p:sp>
      <p:sp>
        <p:nvSpPr>
          <p:cNvPr id="49" name="TextBox 48"/>
          <p:cNvSpPr txBox="1"/>
          <p:nvPr/>
        </p:nvSpPr>
        <p:spPr>
          <a:xfrm>
            <a:off x="603504" y="2651760"/>
            <a:ext cx="1700784" cy="228600"/>
          </a:xfrm>
          <a:prstGeom prst="rect">
            <a:avLst/>
          </a:prstGeom>
          <a:noFill/>
        </p:spPr>
        <p:txBody>
          <a:bodyPr wrap="square" lIns="18288" rIns="18288" tIns="18288" bIns="18288" anchor="t">
            <a:spAutoFit/>
          </a:bodyPr>
          <a:lstStyle/>
          <a:p>
            <a:pPr algn="ctr">
              <a:lnSpc>
                <a:spcPct val="100000"/>
              </a:lnSpc>
              <a:spcAft>
                <a:spcPts val="200"/>
              </a:spcAft>
            </a:pPr>
            <a:r>
              <a:rPr sz="1050" b="0">
                <a:solidFill>
                  <a:srgbClr val="9EC2D8"/>
                </a:solidFill>
                <a:latin typeface="微软雅黑"/>
                <a:ea typeface="微软雅黑"/>
              </a:rPr>
              <a:t>自然语言</a:t>
            </a:r>
          </a:p>
        </p:txBody>
      </p:sp>
      <p:cxnSp>
        <p:nvCxnSpPr>
          <p:cNvPr id="50" name="Connector 49"/>
          <p:cNvCxnSpPr/>
          <p:nvPr/>
        </p:nvCxnSpPr>
        <p:spPr>
          <a:xfrm>
            <a:off x="2468880" y="2660904"/>
            <a:ext cx="228600" cy="0"/>
          </a:xfrm>
          <a:prstGeom prst="line">
            <a:avLst/>
          </a:prstGeom>
          <a:ln w="13970">
            <a:solidFill>
              <a:srgbClr val="00D8FF"/>
            </a:solidFill>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2724912" y="2194560"/>
            <a:ext cx="2029968" cy="932688"/>
          </a:xfrm>
          <a:prstGeom prst="roundRect">
            <a:avLst>
              <a:gd name="adj" fmla="val 8000"/>
            </a:avLst>
          </a:prstGeom>
          <a:solidFill>
            <a:srgbClr val="032B5C"/>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862072" y="2313432"/>
            <a:ext cx="411480" cy="228600"/>
          </a:xfrm>
          <a:prstGeom prst="rect">
            <a:avLst/>
          </a:prstGeom>
          <a:noFill/>
        </p:spPr>
        <p:txBody>
          <a:bodyPr wrap="square" lIns="18288" rIns="18288" tIns="18288" bIns="18288" anchor="t">
            <a:spAutoFit/>
          </a:bodyPr>
          <a:lstStyle/>
          <a:p>
            <a:pPr algn="l">
              <a:lnSpc>
                <a:spcPct val="100000"/>
              </a:lnSpc>
              <a:spcAft>
                <a:spcPts val="200"/>
              </a:spcAft>
            </a:pPr>
            <a:r>
              <a:rPr sz="1000" b="1">
                <a:solidFill>
                  <a:srgbClr val="00D8FF"/>
                </a:solidFill>
                <a:latin typeface="微软雅黑"/>
                <a:ea typeface="微软雅黑"/>
              </a:rPr>
              <a:t>02</a:t>
            </a:r>
          </a:p>
        </p:txBody>
      </p:sp>
      <p:sp>
        <p:nvSpPr>
          <p:cNvPr id="53" name="TextBox 52"/>
          <p:cNvSpPr txBox="1"/>
          <p:nvPr/>
        </p:nvSpPr>
        <p:spPr>
          <a:xfrm>
            <a:off x="3255264" y="2286000"/>
            <a:ext cx="1325880" cy="256032"/>
          </a:xfrm>
          <a:prstGeom prst="rect">
            <a:avLst/>
          </a:prstGeom>
          <a:noFill/>
        </p:spPr>
        <p:txBody>
          <a:bodyPr wrap="square" lIns="18288" rIns="18288" tIns="18288" bIns="18288" anchor="t">
            <a:spAutoFit/>
          </a:bodyPr>
          <a:lstStyle/>
          <a:p>
            <a:pPr algn="l">
              <a:lnSpc>
                <a:spcPct val="100000"/>
              </a:lnSpc>
              <a:spcAft>
                <a:spcPts val="200"/>
              </a:spcAft>
            </a:pPr>
            <a:r>
              <a:rPr sz="1220" b="1">
                <a:solidFill>
                  <a:srgbClr val="E9F8FF"/>
                </a:solidFill>
                <a:latin typeface="微软雅黑"/>
                <a:ea typeface="微软雅黑"/>
              </a:rPr>
              <a:t>腾讯 IMA</a:t>
            </a:r>
          </a:p>
        </p:txBody>
      </p:sp>
      <p:sp>
        <p:nvSpPr>
          <p:cNvPr id="54" name="TextBox 53"/>
          <p:cNvSpPr txBox="1"/>
          <p:nvPr/>
        </p:nvSpPr>
        <p:spPr>
          <a:xfrm>
            <a:off x="2889504" y="2651760"/>
            <a:ext cx="1700784" cy="228600"/>
          </a:xfrm>
          <a:prstGeom prst="rect">
            <a:avLst/>
          </a:prstGeom>
          <a:noFill/>
        </p:spPr>
        <p:txBody>
          <a:bodyPr wrap="square" lIns="18288" rIns="18288" tIns="18288" bIns="18288" anchor="t">
            <a:spAutoFit/>
          </a:bodyPr>
          <a:lstStyle/>
          <a:p>
            <a:pPr algn="ctr">
              <a:lnSpc>
                <a:spcPct val="100000"/>
              </a:lnSpc>
              <a:spcAft>
                <a:spcPts val="200"/>
              </a:spcAft>
            </a:pPr>
            <a:r>
              <a:rPr sz="1050" b="0">
                <a:solidFill>
                  <a:srgbClr val="9EC2D8"/>
                </a:solidFill>
                <a:latin typeface="微软雅黑"/>
                <a:ea typeface="微软雅黑"/>
              </a:rPr>
              <a:t>检索制度</a:t>
            </a:r>
          </a:p>
        </p:txBody>
      </p:sp>
      <p:cxnSp>
        <p:nvCxnSpPr>
          <p:cNvPr id="55" name="Connector 54"/>
          <p:cNvCxnSpPr/>
          <p:nvPr/>
        </p:nvCxnSpPr>
        <p:spPr>
          <a:xfrm>
            <a:off x="4754880" y="2660904"/>
            <a:ext cx="228600" cy="0"/>
          </a:xfrm>
          <a:prstGeom prst="line">
            <a:avLst/>
          </a:prstGeom>
          <a:ln w="13970">
            <a:solidFill>
              <a:srgbClr val="00D8FF"/>
            </a:solidFill>
          </a:ln>
        </p:spPr>
        <p:style>
          <a:lnRef idx="2">
            <a:schemeClr val="accent1"/>
          </a:lnRef>
          <a:fillRef idx="0">
            <a:schemeClr val="accent1"/>
          </a:fillRef>
          <a:effectRef idx="1">
            <a:schemeClr val="accent1"/>
          </a:effectRef>
          <a:fontRef idx="minor">
            <a:schemeClr val="tx1"/>
          </a:fontRef>
        </p:style>
      </p:cxnSp>
      <p:sp>
        <p:nvSpPr>
          <p:cNvPr id="56" name="Rounded Rectangle 55"/>
          <p:cNvSpPr/>
          <p:nvPr/>
        </p:nvSpPr>
        <p:spPr>
          <a:xfrm>
            <a:off x="5010912" y="2194560"/>
            <a:ext cx="2029968" cy="932688"/>
          </a:xfrm>
          <a:prstGeom prst="roundRect">
            <a:avLst>
              <a:gd name="adj" fmla="val 8000"/>
            </a:avLst>
          </a:prstGeom>
          <a:solidFill>
            <a:srgbClr val="032B5C"/>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148072" y="2313432"/>
            <a:ext cx="411480" cy="228600"/>
          </a:xfrm>
          <a:prstGeom prst="rect">
            <a:avLst/>
          </a:prstGeom>
          <a:noFill/>
        </p:spPr>
        <p:txBody>
          <a:bodyPr wrap="square" lIns="18288" rIns="18288" tIns="18288" bIns="18288" anchor="t">
            <a:spAutoFit/>
          </a:bodyPr>
          <a:lstStyle/>
          <a:p>
            <a:pPr algn="l">
              <a:lnSpc>
                <a:spcPct val="100000"/>
              </a:lnSpc>
              <a:spcAft>
                <a:spcPts val="200"/>
              </a:spcAft>
            </a:pPr>
            <a:r>
              <a:rPr sz="1000" b="1">
                <a:solidFill>
                  <a:srgbClr val="00D8FF"/>
                </a:solidFill>
                <a:latin typeface="微软雅黑"/>
                <a:ea typeface="微软雅黑"/>
              </a:rPr>
              <a:t>03</a:t>
            </a:r>
          </a:p>
        </p:txBody>
      </p:sp>
      <p:sp>
        <p:nvSpPr>
          <p:cNvPr id="58" name="TextBox 57"/>
          <p:cNvSpPr txBox="1"/>
          <p:nvPr/>
        </p:nvSpPr>
        <p:spPr>
          <a:xfrm>
            <a:off x="5541264" y="2286000"/>
            <a:ext cx="1325880" cy="256032"/>
          </a:xfrm>
          <a:prstGeom prst="rect">
            <a:avLst/>
          </a:prstGeom>
          <a:noFill/>
        </p:spPr>
        <p:txBody>
          <a:bodyPr wrap="square" lIns="18288" rIns="18288" tIns="18288" bIns="18288" anchor="t">
            <a:spAutoFit/>
          </a:bodyPr>
          <a:lstStyle/>
          <a:p>
            <a:pPr algn="l">
              <a:lnSpc>
                <a:spcPct val="100000"/>
              </a:lnSpc>
              <a:spcAft>
                <a:spcPts val="200"/>
              </a:spcAft>
            </a:pPr>
            <a:r>
              <a:rPr sz="1220" b="1">
                <a:solidFill>
                  <a:srgbClr val="E9F8FF"/>
                </a:solidFill>
                <a:latin typeface="微软雅黑"/>
                <a:ea typeface="微软雅黑"/>
              </a:rPr>
              <a:t>原文片段</a:t>
            </a:r>
          </a:p>
        </p:txBody>
      </p:sp>
      <p:sp>
        <p:nvSpPr>
          <p:cNvPr id="59" name="TextBox 58"/>
          <p:cNvSpPr txBox="1"/>
          <p:nvPr/>
        </p:nvSpPr>
        <p:spPr>
          <a:xfrm>
            <a:off x="5175504" y="2651760"/>
            <a:ext cx="1700784" cy="228600"/>
          </a:xfrm>
          <a:prstGeom prst="rect">
            <a:avLst/>
          </a:prstGeom>
          <a:noFill/>
        </p:spPr>
        <p:txBody>
          <a:bodyPr wrap="square" lIns="18288" rIns="18288" tIns="18288" bIns="18288" anchor="t">
            <a:spAutoFit/>
          </a:bodyPr>
          <a:lstStyle/>
          <a:p>
            <a:pPr algn="ctr">
              <a:lnSpc>
                <a:spcPct val="100000"/>
              </a:lnSpc>
              <a:spcAft>
                <a:spcPts val="200"/>
              </a:spcAft>
            </a:pPr>
            <a:r>
              <a:rPr sz="1050" b="0">
                <a:solidFill>
                  <a:srgbClr val="9EC2D8"/>
                </a:solidFill>
                <a:latin typeface="微软雅黑"/>
                <a:ea typeface="微软雅黑"/>
              </a:rPr>
              <a:t>返回 hits</a:t>
            </a:r>
          </a:p>
        </p:txBody>
      </p:sp>
      <p:cxnSp>
        <p:nvCxnSpPr>
          <p:cNvPr id="60" name="Connector 59"/>
          <p:cNvCxnSpPr/>
          <p:nvPr/>
        </p:nvCxnSpPr>
        <p:spPr>
          <a:xfrm>
            <a:off x="7040880" y="2660904"/>
            <a:ext cx="228600" cy="0"/>
          </a:xfrm>
          <a:prstGeom prst="line">
            <a:avLst/>
          </a:prstGeom>
          <a:ln w="13970">
            <a:solidFill>
              <a:srgbClr val="00D8FF"/>
            </a:solidFill>
          </a:ln>
        </p:spPr>
        <p:style>
          <a:lnRef idx="2">
            <a:schemeClr val="accent1"/>
          </a:lnRef>
          <a:fillRef idx="0">
            <a:schemeClr val="accent1"/>
          </a:fillRef>
          <a:effectRef idx="1">
            <a:schemeClr val="accent1"/>
          </a:effectRef>
          <a:fontRef idx="minor">
            <a:schemeClr val="tx1"/>
          </a:fontRef>
        </p:style>
      </p:cxnSp>
      <p:sp>
        <p:nvSpPr>
          <p:cNvPr id="61" name="Rounded Rectangle 60"/>
          <p:cNvSpPr/>
          <p:nvPr/>
        </p:nvSpPr>
        <p:spPr>
          <a:xfrm>
            <a:off x="7296912" y="2194560"/>
            <a:ext cx="2029968" cy="932688"/>
          </a:xfrm>
          <a:prstGeom prst="roundRect">
            <a:avLst>
              <a:gd name="adj" fmla="val 8000"/>
            </a:avLst>
          </a:prstGeom>
          <a:solidFill>
            <a:srgbClr val="032B5C"/>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434072" y="2313432"/>
            <a:ext cx="411480" cy="228600"/>
          </a:xfrm>
          <a:prstGeom prst="rect">
            <a:avLst/>
          </a:prstGeom>
          <a:noFill/>
        </p:spPr>
        <p:txBody>
          <a:bodyPr wrap="square" lIns="18288" rIns="18288" tIns="18288" bIns="18288" anchor="t">
            <a:spAutoFit/>
          </a:bodyPr>
          <a:lstStyle/>
          <a:p>
            <a:pPr algn="l">
              <a:lnSpc>
                <a:spcPct val="100000"/>
              </a:lnSpc>
              <a:spcAft>
                <a:spcPts val="200"/>
              </a:spcAft>
            </a:pPr>
            <a:r>
              <a:rPr sz="1000" b="1">
                <a:solidFill>
                  <a:srgbClr val="00D8FF"/>
                </a:solidFill>
                <a:latin typeface="微软雅黑"/>
                <a:ea typeface="微软雅黑"/>
              </a:rPr>
              <a:t>04</a:t>
            </a:r>
          </a:p>
        </p:txBody>
      </p:sp>
      <p:sp>
        <p:nvSpPr>
          <p:cNvPr id="63" name="TextBox 62"/>
          <p:cNvSpPr txBox="1"/>
          <p:nvPr/>
        </p:nvSpPr>
        <p:spPr>
          <a:xfrm>
            <a:off x="7827264" y="2286000"/>
            <a:ext cx="1325880" cy="256032"/>
          </a:xfrm>
          <a:prstGeom prst="rect">
            <a:avLst/>
          </a:prstGeom>
          <a:noFill/>
        </p:spPr>
        <p:txBody>
          <a:bodyPr wrap="square" lIns="18288" rIns="18288" tIns="18288" bIns="18288" anchor="t">
            <a:spAutoFit/>
          </a:bodyPr>
          <a:lstStyle/>
          <a:p>
            <a:pPr algn="l">
              <a:lnSpc>
                <a:spcPct val="100000"/>
              </a:lnSpc>
              <a:spcAft>
                <a:spcPts val="200"/>
              </a:spcAft>
            </a:pPr>
            <a:r>
              <a:rPr sz="1220" b="1">
                <a:solidFill>
                  <a:srgbClr val="E9F8FF"/>
                </a:solidFill>
                <a:latin typeface="微软雅黑"/>
                <a:ea typeface="微软雅黑"/>
              </a:rPr>
              <a:t>数字核对</a:t>
            </a:r>
          </a:p>
        </p:txBody>
      </p:sp>
      <p:sp>
        <p:nvSpPr>
          <p:cNvPr id="64" name="TextBox 63"/>
          <p:cNvSpPr txBox="1"/>
          <p:nvPr/>
        </p:nvSpPr>
        <p:spPr>
          <a:xfrm>
            <a:off x="7461504" y="2651760"/>
            <a:ext cx="1700784" cy="228600"/>
          </a:xfrm>
          <a:prstGeom prst="rect">
            <a:avLst/>
          </a:prstGeom>
          <a:noFill/>
        </p:spPr>
        <p:txBody>
          <a:bodyPr wrap="square" lIns="18288" rIns="18288" tIns="18288" bIns="18288" anchor="t">
            <a:spAutoFit/>
          </a:bodyPr>
          <a:lstStyle/>
          <a:p>
            <a:pPr algn="ctr">
              <a:lnSpc>
                <a:spcPct val="100000"/>
              </a:lnSpc>
              <a:spcAft>
                <a:spcPts val="200"/>
              </a:spcAft>
            </a:pPr>
            <a:r>
              <a:rPr sz="1050" b="0">
                <a:solidFill>
                  <a:srgbClr val="9EC2D8"/>
                </a:solidFill>
                <a:latin typeface="微软雅黑"/>
                <a:ea typeface="微软雅黑"/>
              </a:rPr>
              <a:t>逐字一致</a:t>
            </a:r>
          </a:p>
        </p:txBody>
      </p:sp>
      <p:cxnSp>
        <p:nvCxnSpPr>
          <p:cNvPr id="65" name="Connector 64"/>
          <p:cNvCxnSpPr/>
          <p:nvPr/>
        </p:nvCxnSpPr>
        <p:spPr>
          <a:xfrm>
            <a:off x="9326880" y="2660904"/>
            <a:ext cx="228600" cy="0"/>
          </a:xfrm>
          <a:prstGeom prst="line">
            <a:avLst/>
          </a:prstGeom>
          <a:ln w="13970">
            <a:solidFill>
              <a:srgbClr val="00D8FF"/>
            </a:solidFill>
          </a:ln>
        </p:spPr>
        <p:style>
          <a:lnRef idx="2">
            <a:schemeClr val="accent1"/>
          </a:lnRef>
          <a:fillRef idx="0">
            <a:schemeClr val="accent1"/>
          </a:fillRef>
          <a:effectRef idx="1">
            <a:schemeClr val="accent1"/>
          </a:effectRef>
          <a:fontRef idx="minor">
            <a:schemeClr val="tx1"/>
          </a:fontRef>
        </p:style>
      </p:cxnSp>
      <p:sp>
        <p:nvSpPr>
          <p:cNvPr id="66" name="Rounded Rectangle 65"/>
          <p:cNvSpPr/>
          <p:nvPr/>
        </p:nvSpPr>
        <p:spPr>
          <a:xfrm>
            <a:off x="9582912" y="2194560"/>
            <a:ext cx="2029968" cy="932688"/>
          </a:xfrm>
          <a:prstGeom prst="roundRect">
            <a:avLst>
              <a:gd name="adj" fmla="val 8000"/>
            </a:avLst>
          </a:prstGeom>
          <a:solidFill>
            <a:srgbClr val="032B5C"/>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720072" y="2313432"/>
            <a:ext cx="411480" cy="228600"/>
          </a:xfrm>
          <a:prstGeom prst="rect">
            <a:avLst/>
          </a:prstGeom>
          <a:noFill/>
        </p:spPr>
        <p:txBody>
          <a:bodyPr wrap="square" lIns="18288" rIns="18288" tIns="18288" bIns="18288" anchor="t">
            <a:spAutoFit/>
          </a:bodyPr>
          <a:lstStyle/>
          <a:p>
            <a:pPr algn="l">
              <a:lnSpc>
                <a:spcPct val="100000"/>
              </a:lnSpc>
              <a:spcAft>
                <a:spcPts val="200"/>
              </a:spcAft>
            </a:pPr>
            <a:r>
              <a:rPr sz="1000" b="1">
                <a:solidFill>
                  <a:srgbClr val="00D8FF"/>
                </a:solidFill>
                <a:latin typeface="微软雅黑"/>
                <a:ea typeface="微软雅黑"/>
              </a:rPr>
              <a:t>05</a:t>
            </a:r>
          </a:p>
        </p:txBody>
      </p:sp>
      <p:sp>
        <p:nvSpPr>
          <p:cNvPr id="68" name="TextBox 67"/>
          <p:cNvSpPr txBox="1"/>
          <p:nvPr/>
        </p:nvSpPr>
        <p:spPr>
          <a:xfrm>
            <a:off x="10113264" y="2286000"/>
            <a:ext cx="1325880" cy="256032"/>
          </a:xfrm>
          <a:prstGeom prst="rect">
            <a:avLst/>
          </a:prstGeom>
          <a:noFill/>
        </p:spPr>
        <p:txBody>
          <a:bodyPr wrap="square" lIns="18288" rIns="18288" tIns="18288" bIns="18288" anchor="t">
            <a:spAutoFit/>
          </a:bodyPr>
          <a:lstStyle/>
          <a:p>
            <a:pPr algn="l">
              <a:lnSpc>
                <a:spcPct val="100000"/>
              </a:lnSpc>
              <a:spcAft>
                <a:spcPts val="200"/>
              </a:spcAft>
            </a:pPr>
            <a:r>
              <a:rPr sz="1220" b="1">
                <a:solidFill>
                  <a:srgbClr val="E9F8FF"/>
                </a:solidFill>
                <a:latin typeface="微软雅黑"/>
                <a:ea typeface="微软雅黑"/>
              </a:rPr>
              <a:t>引用答复</a:t>
            </a:r>
          </a:p>
        </p:txBody>
      </p:sp>
      <p:sp>
        <p:nvSpPr>
          <p:cNvPr id="69" name="TextBox 68"/>
          <p:cNvSpPr txBox="1"/>
          <p:nvPr/>
        </p:nvSpPr>
        <p:spPr>
          <a:xfrm>
            <a:off x="9747504" y="2651760"/>
            <a:ext cx="1700784" cy="228600"/>
          </a:xfrm>
          <a:prstGeom prst="rect">
            <a:avLst/>
          </a:prstGeom>
          <a:noFill/>
        </p:spPr>
        <p:txBody>
          <a:bodyPr wrap="square" lIns="18288" rIns="18288" tIns="18288" bIns="18288" anchor="t">
            <a:spAutoFit/>
          </a:bodyPr>
          <a:lstStyle/>
          <a:p>
            <a:pPr algn="ctr">
              <a:lnSpc>
                <a:spcPct val="100000"/>
              </a:lnSpc>
              <a:spcAft>
                <a:spcPts val="200"/>
              </a:spcAft>
            </a:pPr>
            <a:r>
              <a:rPr sz="1050" b="0">
                <a:solidFill>
                  <a:srgbClr val="9EC2D8"/>
                </a:solidFill>
                <a:latin typeface="微软雅黑"/>
                <a:ea typeface="微软雅黑"/>
              </a:rPr>
              <a:t>注明出处</a:t>
            </a:r>
          </a:p>
        </p:txBody>
      </p:sp>
      <p:sp>
        <p:nvSpPr>
          <p:cNvPr id="70" name="Rounded Rectangle 69"/>
          <p:cNvSpPr/>
          <p:nvPr/>
        </p:nvSpPr>
        <p:spPr>
          <a:xfrm>
            <a:off x="438912" y="3456432"/>
            <a:ext cx="3584448" cy="1444752"/>
          </a:xfrm>
          <a:prstGeom prst="roundRect">
            <a:avLst>
              <a:gd name="adj" fmla="val 8000"/>
            </a:avLst>
          </a:prstGeom>
          <a:solidFill>
            <a:srgbClr val="561726">
              <a:alpha val="97000"/>
            </a:srgbClr>
          </a:solidFill>
          <a:ln w="12700">
            <a:solidFill>
              <a:srgbClr val="F15A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438912" y="3456432"/>
            <a:ext cx="73152" cy="1444752"/>
          </a:xfrm>
          <a:prstGeom prst="rect">
            <a:avLst/>
          </a:prstGeom>
          <a:solidFill>
            <a:srgbClr val="F1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1792" y="3584448"/>
            <a:ext cx="3218688" cy="274320"/>
          </a:xfrm>
          <a:prstGeom prst="rect">
            <a:avLst/>
          </a:prstGeom>
          <a:noFill/>
        </p:spPr>
        <p:txBody>
          <a:bodyPr wrap="square" lIns="18288" rIns="18288" tIns="18288" bIns="18288" anchor="t">
            <a:spAutoFit/>
          </a:bodyPr>
          <a:lstStyle/>
          <a:p>
            <a:pPr algn="l">
              <a:lnSpc>
                <a:spcPct val="100000"/>
              </a:lnSpc>
              <a:spcAft>
                <a:spcPts val="200"/>
              </a:spcAft>
            </a:pPr>
            <a:r>
              <a:rPr sz="1300" b="1">
                <a:solidFill>
                  <a:srgbClr val="F15A66"/>
                </a:solidFill>
                <a:latin typeface="微软雅黑"/>
                <a:ea typeface="微软雅黑"/>
              </a:rPr>
              <a:t>能不能找到</a:t>
            </a:r>
          </a:p>
        </p:txBody>
      </p:sp>
      <p:sp>
        <p:nvSpPr>
          <p:cNvPr id="73" name="TextBox 72"/>
          <p:cNvSpPr txBox="1"/>
          <p:nvPr/>
        </p:nvSpPr>
        <p:spPr>
          <a:xfrm>
            <a:off x="621792" y="3986784"/>
            <a:ext cx="3218688" cy="804672"/>
          </a:xfrm>
          <a:prstGeom prst="rect">
            <a:avLst/>
          </a:prstGeom>
          <a:noFill/>
        </p:spPr>
        <p:txBody>
          <a:bodyPr wrap="square" lIns="18288" rIns="18288" tIns="18288" bIns="18288" anchor="t">
            <a:spAutoFit/>
          </a:bodyPr>
          <a:lstStyle/>
          <a:p>
            <a:pPr algn="l">
              <a:lnSpc>
                <a:spcPct val="95000"/>
              </a:lnSpc>
              <a:spcAft>
                <a:spcPts val="200"/>
              </a:spcAft>
            </a:pPr>
            <a:r>
              <a:rPr sz="1200" b="0">
                <a:solidFill>
                  <a:srgbClr val="E9F8FF"/>
                </a:solidFill>
                <a:latin typeface="微软雅黑"/>
                <a:ea typeface="微软雅黑"/>
              </a:rPr>
              <a:t>未命中 / 凭证异常</a:t>
            </a:r>
          </a:p>
          <a:p>
            <a:pPr algn="l">
              <a:lnSpc>
                <a:spcPct val="95000"/>
              </a:lnSpc>
              <a:spcAft>
                <a:spcPts val="200"/>
              </a:spcAft>
            </a:pPr>
            <a:r>
              <a:rPr sz="1200" b="0">
                <a:solidFill>
                  <a:srgbClr val="E9F8FF"/>
                </a:solidFill>
                <a:latin typeface="微软雅黑"/>
                <a:ea typeface="微软雅黑"/>
              </a:rPr>
              <a:t>明确停止，不用模型常识补答</a:t>
            </a:r>
          </a:p>
        </p:txBody>
      </p:sp>
      <p:sp>
        <p:nvSpPr>
          <p:cNvPr id="74" name="Rounded Rectangle 73"/>
          <p:cNvSpPr/>
          <p:nvPr/>
        </p:nvSpPr>
        <p:spPr>
          <a:xfrm>
            <a:off x="4297680" y="3456432"/>
            <a:ext cx="3584448" cy="1444752"/>
          </a:xfrm>
          <a:prstGeom prst="roundRect">
            <a:avLst>
              <a:gd name="adj" fmla="val 8000"/>
            </a:avLst>
          </a:prstGeom>
          <a:solidFill>
            <a:srgbClr val="032B5C">
              <a:alpha val="97000"/>
            </a:srgbClr>
          </a:solidFill>
          <a:ln w="12700">
            <a:solidFill>
              <a:srgbClr val="FFA4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4297680" y="3456432"/>
            <a:ext cx="73152" cy="1444752"/>
          </a:xfrm>
          <a:prstGeom prst="rect">
            <a:avLst/>
          </a:prstGeom>
          <a:solidFill>
            <a:srgbClr val="FFA4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480560" y="3584448"/>
            <a:ext cx="3218688" cy="274320"/>
          </a:xfrm>
          <a:prstGeom prst="rect">
            <a:avLst/>
          </a:prstGeom>
          <a:noFill/>
        </p:spPr>
        <p:txBody>
          <a:bodyPr wrap="square" lIns="18288" rIns="18288" tIns="18288" bIns="18288" anchor="t">
            <a:spAutoFit/>
          </a:bodyPr>
          <a:lstStyle/>
          <a:p>
            <a:pPr algn="l">
              <a:lnSpc>
                <a:spcPct val="100000"/>
              </a:lnSpc>
              <a:spcAft>
                <a:spcPts val="200"/>
              </a:spcAft>
            </a:pPr>
            <a:r>
              <a:rPr sz="1300" b="1">
                <a:solidFill>
                  <a:srgbClr val="FFA421"/>
                </a:solidFill>
                <a:latin typeface="微软雅黑"/>
                <a:ea typeface="微软雅黑"/>
              </a:rPr>
              <a:t>该不该回答</a:t>
            </a:r>
          </a:p>
        </p:txBody>
      </p:sp>
      <p:sp>
        <p:nvSpPr>
          <p:cNvPr id="77" name="TextBox 76"/>
          <p:cNvSpPr txBox="1"/>
          <p:nvPr/>
        </p:nvSpPr>
        <p:spPr>
          <a:xfrm>
            <a:off x="4480560" y="3986784"/>
            <a:ext cx="3218688" cy="804672"/>
          </a:xfrm>
          <a:prstGeom prst="rect">
            <a:avLst/>
          </a:prstGeom>
          <a:noFill/>
        </p:spPr>
        <p:txBody>
          <a:bodyPr wrap="square" lIns="18288" rIns="18288" tIns="18288" bIns="18288" anchor="t">
            <a:spAutoFit/>
          </a:bodyPr>
          <a:lstStyle/>
          <a:p>
            <a:pPr algn="l">
              <a:lnSpc>
                <a:spcPct val="95000"/>
              </a:lnSpc>
              <a:spcAft>
                <a:spcPts val="200"/>
              </a:spcAft>
            </a:pPr>
            <a:r>
              <a:rPr sz="1200" b="0">
                <a:solidFill>
                  <a:srgbClr val="E9F8FF"/>
                </a:solidFill>
                <a:latin typeface="微软雅黑"/>
                <a:ea typeface="微软雅黑"/>
              </a:rPr>
              <a:t>工资差异 / 劳动争议</a:t>
            </a:r>
          </a:p>
          <a:p>
            <a:pPr algn="l">
              <a:lnSpc>
                <a:spcPct val="95000"/>
              </a:lnSpc>
              <a:spcAft>
                <a:spcPts val="200"/>
              </a:spcAft>
            </a:pPr>
            <a:r>
              <a:rPr sz="1200" b="0">
                <a:solidFill>
                  <a:srgbClr val="E9F8FF"/>
                </a:solidFill>
                <a:latin typeface="微软雅黑"/>
                <a:ea typeface="微软雅黑"/>
              </a:rPr>
              <a:t>法律定性 / 破例审批 → 转人工</a:t>
            </a:r>
          </a:p>
        </p:txBody>
      </p:sp>
      <p:sp>
        <p:nvSpPr>
          <p:cNvPr id="78" name="Rounded Rectangle 77"/>
          <p:cNvSpPr/>
          <p:nvPr/>
        </p:nvSpPr>
        <p:spPr>
          <a:xfrm>
            <a:off x="8156448" y="3456432"/>
            <a:ext cx="3584448" cy="1444752"/>
          </a:xfrm>
          <a:prstGeom prst="roundRect">
            <a:avLst>
              <a:gd name="adj" fmla="val 8000"/>
            </a:avLst>
          </a:prstGeom>
          <a:solidFill>
            <a:srgbClr val="085057">
              <a:alpha val="97000"/>
            </a:srgbClr>
          </a:solidFill>
          <a:ln w="12700">
            <a:solidFill>
              <a:srgbClr val="26D0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8156448" y="3456432"/>
            <a:ext cx="73152" cy="1444752"/>
          </a:xfrm>
          <a:prstGeom prst="rect">
            <a:avLst/>
          </a:prstGeom>
          <a:solidFill>
            <a:srgbClr val="26D0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339328" y="3584448"/>
            <a:ext cx="3218688" cy="274320"/>
          </a:xfrm>
          <a:prstGeom prst="rect">
            <a:avLst/>
          </a:prstGeom>
          <a:noFill/>
        </p:spPr>
        <p:txBody>
          <a:bodyPr wrap="square" lIns="18288" rIns="18288" tIns="18288" bIns="18288" anchor="t">
            <a:spAutoFit/>
          </a:bodyPr>
          <a:lstStyle/>
          <a:p>
            <a:pPr algn="l">
              <a:lnSpc>
                <a:spcPct val="100000"/>
              </a:lnSpc>
              <a:spcAft>
                <a:spcPts val="200"/>
              </a:spcAft>
            </a:pPr>
            <a:r>
              <a:rPr sz="1300" b="1">
                <a:solidFill>
                  <a:srgbClr val="26D098"/>
                </a:solidFill>
                <a:latin typeface="微软雅黑"/>
                <a:ea typeface="微软雅黑"/>
              </a:rPr>
              <a:t>输出纪律</a:t>
            </a:r>
          </a:p>
        </p:txBody>
      </p:sp>
      <p:sp>
        <p:nvSpPr>
          <p:cNvPr id="81" name="TextBox 80"/>
          <p:cNvSpPr txBox="1"/>
          <p:nvPr/>
        </p:nvSpPr>
        <p:spPr>
          <a:xfrm>
            <a:off x="8339328" y="3986784"/>
            <a:ext cx="3218688" cy="804672"/>
          </a:xfrm>
          <a:prstGeom prst="rect">
            <a:avLst/>
          </a:prstGeom>
          <a:noFill/>
        </p:spPr>
        <p:txBody>
          <a:bodyPr wrap="square" lIns="18288" rIns="18288" tIns="18288" bIns="18288" anchor="t">
            <a:spAutoFit/>
          </a:bodyPr>
          <a:lstStyle/>
          <a:p>
            <a:pPr algn="l">
              <a:lnSpc>
                <a:spcPct val="95000"/>
              </a:lnSpc>
              <a:spcAft>
                <a:spcPts val="200"/>
              </a:spcAft>
            </a:pPr>
            <a:r>
              <a:rPr sz="1200" b="0">
                <a:solidFill>
                  <a:srgbClr val="E9F8FF"/>
                </a:solidFill>
                <a:latin typeface="微软雅黑"/>
                <a:ea typeface="微软雅黑"/>
              </a:rPr>
              <a:t>关键数字与原文一致</a:t>
            </a:r>
          </a:p>
          <a:p>
            <a:pPr algn="l">
              <a:lnSpc>
                <a:spcPct val="95000"/>
              </a:lnSpc>
              <a:spcAft>
                <a:spcPts val="200"/>
              </a:spcAft>
            </a:pPr>
            <a:r>
              <a:rPr sz="1200" b="0">
                <a:solidFill>
                  <a:srgbClr val="E9F8FF"/>
                </a:solidFill>
                <a:latin typeface="微软雅黑"/>
                <a:ea typeface="微软雅黑"/>
              </a:rPr>
              <a:t>结尾注明政策出处与处理渠道</a:t>
            </a:r>
          </a:p>
        </p:txBody>
      </p:sp>
      <p:sp>
        <p:nvSpPr>
          <p:cNvPr id="82" name="Rounded Rectangle 81"/>
          <p:cNvSpPr/>
          <p:nvPr/>
        </p:nvSpPr>
        <p:spPr>
          <a:xfrm>
            <a:off x="438912" y="5166360"/>
            <a:ext cx="11301984" cy="841248"/>
          </a:xfrm>
          <a:prstGeom prst="roundRect">
            <a:avLst>
              <a:gd name="adj" fmla="val 8000"/>
            </a:avLst>
          </a:prstGeom>
          <a:solidFill>
            <a:srgbClr val="04457D"/>
          </a:solidFill>
          <a:ln w="12700">
            <a:solidFill>
              <a:srgbClr val="FFA4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40080" y="5303520"/>
            <a:ext cx="2057400" cy="228600"/>
          </a:xfrm>
          <a:prstGeom prst="rect">
            <a:avLst/>
          </a:prstGeom>
          <a:noFill/>
        </p:spPr>
        <p:txBody>
          <a:bodyPr wrap="square" lIns="18288" rIns="18288" tIns="18288" bIns="18288" anchor="t">
            <a:spAutoFit/>
          </a:bodyPr>
          <a:lstStyle/>
          <a:p>
            <a:pPr algn="l">
              <a:lnSpc>
                <a:spcPct val="100000"/>
              </a:lnSpc>
              <a:spcAft>
                <a:spcPts val="200"/>
              </a:spcAft>
            </a:pPr>
            <a:r>
              <a:rPr sz="1150" b="1">
                <a:solidFill>
                  <a:srgbClr val="FFA421"/>
                </a:solidFill>
                <a:latin typeface="微软雅黑"/>
                <a:ea typeface="微软雅黑"/>
              </a:rPr>
              <a:t>法律锚点</a:t>
            </a:r>
          </a:p>
        </p:txBody>
      </p:sp>
      <p:sp>
        <p:nvSpPr>
          <p:cNvPr id="84" name="TextBox 83"/>
          <p:cNvSpPr txBox="1"/>
          <p:nvPr/>
        </p:nvSpPr>
        <p:spPr>
          <a:xfrm>
            <a:off x="1965960" y="5248656"/>
            <a:ext cx="9464040" cy="502920"/>
          </a:xfrm>
          <a:prstGeom prst="rect">
            <a:avLst/>
          </a:prstGeom>
          <a:noFill/>
        </p:spPr>
        <p:txBody>
          <a:bodyPr wrap="square" lIns="18288" rIns="18288" tIns="18288" bIns="18288" anchor="ctr">
            <a:spAutoFit/>
          </a:bodyPr>
          <a:lstStyle/>
          <a:p>
            <a:pPr algn="l">
              <a:lnSpc>
                <a:spcPct val="100000"/>
              </a:lnSpc>
              <a:spcAft>
                <a:spcPts val="200"/>
              </a:spcAft>
            </a:pPr>
            <a:r>
              <a:rPr sz="1170" b="0">
                <a:solidFill>
                  <a:srgbClr val="E9F8FF"/>
                </a:solidFill>
                <a:latin typeface="微软雅黑"/>
                <a:ea typeface="微软雅黑"/>
              </a:rPr>
              <a:t>《劳动合同法》第四条｜直接涉及劳动者切身利益的规章制度，应依法制定，并公示或告知劳动者</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2163B"/>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21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0" y="941832"/>
            <a:ext cx="12191695" cy="475488"/>
          </a:xfrm>
          <a:prstGeom prst="line">
            <a:avLst/>
          </a:prstGeom>
          <a:ln w="10160">
            <a:solidFill>
              <a:srgbClr val="04457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0" y="2834640"/>
            <a:ext cx="12191695" cy="475488"/>
          </a:xfrm>
          <a:prstGeom prst="line">
            <a:avLst/>
          </a:prstGeom>
          <a:ln w="10160">
            <a:solidFill>
              <a:srgbClr val="04457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0" y="5522975"/>
            <a:ext cx="12191695" cy="475489"/>
          </a:xfrm>
          <a:prstGeom prst="line">
            <a:avLst/>
          </a:prstGeom>
          <a:ln w="10160">
            <a:solidFill>
              <a:srgbClr val="04457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11480" y="658368"/>
            <a:ext cx="685800" cy="5907024"/>
          </a:xfrm>
          <a:prstGeom prst="line">
            <a:avLst/>
          </a:prstGeom>
          <a:ln w="8890">
            <a:solidFill>
              <a:srgbClr val="032B5C"/>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880360" y="658368"/>
            <a:ext cx="685800" cy="5907024"/>
          </a:xfrm>
          <a:prstGeom prst="line">
            <a:avLst/>
          </a:prstGeom>
          <a:ln w="8890">
            <a:solidFill>
              <a:srgbClr val="032B5C"/>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537960" y="658368"/>
            <a:ext cx="685800" cy="5907024"/>
          </a:xfrm>
          <a:prstGeom prst="line">
            <a:avLst/>
          </a:prstGeom>
          <a:ln w="8890">
            <a:solidFill>
              <a:srgbClr val="032B5C"/>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698480" y="658368"/>
            <a:ext cx="685800" cy="5907024"/>
          </a:xfrm>
          <a:prstGeom prst="line">
            <a:avLst/>
          </a:prstGeom>
          <a:ln w="8890">
            <a:solidFill>
              <a:srgbClr val="032B5C"/>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548640" y="1353312"/>
            <a:ext cx="73152" cy="73152"/>
          </a:xfrm>
          <a:prstGeom prst="ellipse">
            <a:avLst/>
          </a:prstGeom>
          <a:solidFill>
            <a:srgbClr val="00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246120" y="2670048"/>
            <a:ext cx="73152" cy="73152"/>
          </a:xfrm>
          <a:prstGeom prst="ellipse">
            <a:avLst/>
          </a:prstGeom>
          <a:solidFill>
            <a:srgbClr val="00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995160" y="1618488"/>
            <a:ext cx="73152" cy="73152"/>
          </a:xfrm>
          <a:prstGeom prst="ellipse">
            <a:avLst/>
          </a:prstGeom>
          <a:solidFill>
            <a:srgbClr val="00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64240" y="4389120"/>
            <a:ext cx="73152" cy="73152"/>
          </a:xfrm>
          <a:prstGeom prst="ellipse">
            <a:avLst/>
          </a:prstGeom>
          <a:solidFill>
            <a:srgbClr val="00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503920" y="5559552"/>
            <a:ext cx="73152" cy="73152"/>
          </a:xfrm>
          <a:prstGeom prst="ellipse">
            <a:avLst/>
          </a:prstGeom>
          <a:solidFill>
            <a:srgbClr val="00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658368"/>
          </a:xfrm>
          <a:prstGeom prst="rect">
            <a:avLst/>
          </a:prstGeom>
          <a:solidFill>
            <a:srgbClr val="032B5C"/>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100584"/>
            <a:ext cx="2011680" cy="384048"/>
          </a:xfrm>
          <a:prstGeom prst="rect">
            <a:avLst/>
          </a:prstGeom>
          <a:noFill/>
        </p:spPr>
        <p:txBody>
          <a:bodyPr wrap="square" lIns="18288" rIns="18288" tIns="18288" bIns="18288" anchor="ctr">
            <a:spAutoFit/>
          </a:bodyPr>
          <a:lstStyle/>
          <a:p>
            <a:pPr algn="l">
              <a:lnSpc>
                <a:spcPct val="100000"/>
              </a:lnSpc>
              <a:spcAft>
                <a:spcPts val="200"/>
              </a:spcAft>
            </a:pPr>
            <a:r>
              <a:rPr sz="1350" b="1">
                <a:solidFill>
                  <a:srgbClr val="FFFFFF"/>
                </a:solidFill>
                <a:latin typeface="微软雅黑"/>
                <a:ea typeface="微软雅黑"/>
              </a:rPr>
              <a:t>小慧 · HR数字员工</a:t>
            </a:r>
          </a:p>
        </p:txBody>
      </p:sp>
      <p:sp>
        <p:nvSpPr>
          <p:cNvPr id="17" name="Parallelogram 16"/>
          <p:cNvSpPr/>
          <p:nvPr/>
        </p:nvSpPr>
        <p:spPr>
          <a:xfrm>
            <a:off x="2423160" y="109728"/>
            <a:ext cx="1527048" cy="356616"/>
          </a:xfrm>
          <a:prstGeom prst="parallelogram">
            <a:avLst/>
          </a:prstGeom>
          <a:solidFill>
            <a:srgbClr val="04457D">
              <a:alpha val="82000"/>
            </a:srgbClr>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423160" y="109728"/>
            <a:ext cx="1527048" cy="356616"/>
          </a:xfrm>
          <a:prstGeom prst="rect">
            <a:avLst/>
          </a:prstGeom>
          <a:noFill/>
        </p:spPr>
        <p:txBody>
          <a:bodyPr wrap="square" lIns="18288" rIns="18288" tIns="18288" bIns="18288" anchor="ctr">
            <a:spAutoFit/>
          </a:bodyPr>
          <a:lstStyle/>
          <a:p>
            <a:pPr algn="ctr">
              <a:lnSpc>
                <a:spcPct val="100000"/>
              </a:lnSpc>
              <a:spcAft>
                <a:spcPts val="200"/>
              </a:spcAft>
            </a:pPr>
            <a:r>
              <a:rPr sz="1200" b="0">
                <a:solidFill>
                  <a:srgbClr val="9EC2D8"/>
                </a:solidFill>
                <a:latin typeface="微软雅黑"/>
                <a:ea typeface="微软雅黑"/>
              </a:rPr>
              <a:t>项目背景</a:t>
            </a:r>
          </a:p>
        </p:txBody>
      </p:sp>
      <p:sp>
        <p:nvSpPr>
          <p:cNvPr id="19" name="Parallelogram 18"/>
          <p:cNvSpPr/>
          <p:nvPr/>
        </p:nvSpPr>
        <p:spPr>
          <a:xfrm>
            <a:off x="4023360" y="109728"/>
            <a:ext cx="1527048" cy="356616"/>
          </a:xfrm>
          <a:prstGeom prst="parallelogram">
            <a:avLst/>
          </a:prstGeom>
          <a:solidFill>
            <a:srgbClr val="04457D">
              <a:alpha val="82000"/>
            </a:srgbClr>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23360" y="109728"/>
            <a:ext cx="1527048" cy="356616"/>
          </a:xfrm>
          <a:prstGeom prst="rect">
            <a:avLst/>
          </a:prstGeom>
          <a:noFill/>
        </p:spPr>
        <p:txBody>
          <a:bodyPr wrap="square" lIns="18288" rIns="18288" tIns="18288" bIns="18288" anchor="ctr">
            <a:spAutoFit/>
          </a:bodyPr>
          <a:lstStyle/>
          <a:p>
            <a:pPr algn="ctr">
              <a:lnSpc>
                <a:spcPct val="100000"/>
              </a:lnSpc>
              <a:spcAft>
                <a:spcPts val="200"/>
              </a:spcAft>
            </a:pPr>
            <a:r>
              <a:rPr sz="1200" b="0">
                <a:solidFill>
                  <a:srgbClr val="9EC2D8"/>
                </a:solidFill>
                <a:latin typeface="微软雅黑"/>
                <a:ea typeface="微软雅黑"/>
              </a:rPr>
              <a:t>方案规划</a:t>
            </a:r>
          </a:p>
        </p:txBody>
      </p:sp>
      <p:sp>
        <p:nvSpPr>
          <p:cNvPr id="21" name="Parallelogram 20"/>
          <p:cNvSpPr/>
          <p:nvPr/>
        </p:nvSpPr>
        <p:spPr>
          <a:xfrm>
            <a:off x="5623560" y="109728"/>
            <a:ext cx="1527048" cy="356616"/>
          </a:xfrm>
          <a:prstGeom prst="parallelogram">
            <a:avLst/>
          </a:prstGeom>
          <a:solidFill>
            <a:srgbClr val="00D8FF"/>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23560" y="109728"/>
            <a:ext cx="1527048" cy="356616"/>
          </a:xfrm>
          <a:prstGeom prst="rect">
            <a:avLst/>
          </a:prstGeom>
          <a:noFill/>
        </p:spPr>
        <p:txBody>
          <a:bodyPr wrap="square" lIns="18288" rIns="18288" tIns="18288" bIns="18288" anchor="ctr">
            <a:spAutoFit/>
          </a:bodyPr>
          <a:lstStyle/>
          <a:p>
            <a:pPr algn="ctr">
              <a:lnSpc>
                <a:spcPct val="100000"/>
              </a:lnSpc>
              <a:spcAft>
                <a:spcPts val="200"/>
              </a:spcAft>
            </a:pPr>
            <a:r>
              <a:rPr sz="1200" b="1">
                <a:solidFill>
                  <a:srgbClr val="02163B"/>
                </a:solidFill>
                <a:latin typeface="微软雅黑"/>
                <a:ea typeface="微软雅黑"/>
              </a:rPr>
              <a:t>技能演示</a:t>
            </a:r>
          </a:p>
        </p:txBody>
      </p:sp>
      <p:sp>
        <p:nvSpPr>
          <p:cNvPr id="23" name="Parallelogram 22"/>
          <p:cNvSpPr/>
          <p:nvPr/>
        </p:nvSpPr>
        <p:spPr>
          <a:xfrm>
            <a:off x="7223760" y="109728"/>
            <a:ext cx="1527048" cy="356616"/>
          </a:xfrm>
          <a:prstGeom prst="parallelogram">
            <a:avLst/>
          </a:prstGeom>
          <a:solidFill>
            <a:srgbClr val="04457D">
              <a:alpha val="82000"/>
            </a:srgbClr>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0" y="109728"/>
            <a:ext cx="1527048" cy="356616"/>
          </a:xfrm>
          <a:prstGeom prst="rect">
            <a:avLst/>
          </a:prstGeom>
          <a:noFill/>
        </p:spPr>
        <p:txBody>
          <a:bodyPr wrap="square" lIns="18288" rIns="18288" tIns="18288" bIns="18288" anchor="ctr">
            <a:spAutoFit/>
          </a:bodyPr>
          <a:lstStyle/>
          <a:p>
            <a:pPr algn="ctr">
              <a:lnSpc>
                <a:spcPct val="100000"/>
              </a:lnSpc>
              <a:spcAft>
                <a:spcPts val="200"/>
              </a:spcAft>
            </a:pPr>
            <a:r>
              <a:rPr sz="1200" b="0">
                <a:solidFill>
                  <a:srgbClr val="9EC2D8"/>
                </a:solidFill>
                <a:latin typeface="微软雅黑"/>
                <a:ea typeface="微软雅黑"/>
              </a:rPr>
              <a:t>完整流程</a:t>
            </a:r>
          </a:p>
        </p:txBody>
      </p:sp>
      <p:sp>
        <p:nvSpPr>
          <p:cNvPr id="25" name="Parallelogram 24"/>
          <p:cNvSpPr/>
          <p:nvPr/>
        </p:nvSpPr>
        <p:spPr>
          <a:xfrm>
            <a:off x="8823960" y="109728"/>
            <a:ext cx="1527048" cy="356616"/>
          </a:xfrm>
          <a:prstGeom prst="parallelogram">
            <a:avLst/>
          </a:prstGeom>
          <a:solidFill>
            <a:srgbClr val="04457D">
              <a:alpha val="82000"/>
            </a:srgbClr>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23960" y="109728"/>
            <a:ext cx="1527048" cy="356616"/>
          </a:xfrm>
          <a:prstGeom prst="rect">
            <a:avLst/>
          </a:prstGeom>
          <a:noFill/>
        </p:spPr>
        <p:txBody>
          <a:bodyPr wrap="square" lIns="18288" rIns="18288" tIns="18288" bIns="18288" anchor="ctr">
            <a:spAutoFit/>
          </a:bodyPr>
          <a:lstStyle/>
          <a:p>
            <a:pPr algn="ctr">
              <a:lnSpc>
                <a:spcPct val="100000"/>
              </a:lnSpc>
              <a:spcAft>
                <a:spcPts val="200"/>
              </a:spcAft>
            </a:pPr>
            <a:r>
              <a:rPr sz="1200" b="0">
                <a:solidFill>
                  <a:srgbClr val="9EC2D8"/>
                </a:solidFill>
                <a:latin typeface="微软雅黑"/>
                <a:ea typeface="微软雅黑"/>
              </a:rPr>
              <a:t>成果展望</a:t>
            </a:r>
          </a:p>
        </p:txBody>
      </p:sp>
      <p:sp>
        <p:nvSpPr>
          <p:cNvPr id="27" name="TextBox 26"/>
          <p:cNvSpPr txBox="1"/>
          <p:nvPr/>
        </p:nvSpPr>
        <p:spPr>
          <a:xfrm>
            <a:off x="10716768" y="109728"/>
            <a:ext cx="1051560" cy="347472"/>
          </a:xfrm>
          <a:prstGeom prst="rect">
            <a:avLst/>
          </a:prstGeom>
          <a:noFill/>
        </p:spPr>
        <p:txBody>
          <a:bodyPr wrap="square" lIns="18288" rIns="18288" tIns="18288" bIns="18288" anchor="ctr">
            <a:spAutoFit/>
          </a:bodyPr>
          <a:lstStyle/>
          <a:p>
            <a:pPr algn="r">
              <a:lnSpc>
                <a:spcPct val="100000"/>
              </a:lnSpc>
              <a:spcAft>
                <a:spcPts val="200"/>
              </a:spcAft>
            </a:pPr>
            <a:r>
              <a:rPr sz="1100" b="0">
                <a:solidFill>
                  <a:srgbClr val="9EC2D8"/>
                </a:solidFill>
                <a:latin typeface="微软雅黑"/>
                <a:ea typeface="微软雅黑"/>
              </a:rPr>
              <a:t>03 / 04</a:t>
            </a:r>
          </a:p>
        </p:txBody>
      </p:sp>
      <p:sp>
        <p:nvSpPr>
          <p:cNvPr id="28" name="Rectangle 27"/>
          <p:cNvSpPr/>
          <p:nvPr/>
        </p:nvSpPr>
        <p:spPr>
          <a:xfrm>
            <a:off x="0" y="658368"/>
            <a:ext cx="12191695" cy="411480"/>
          </a:xfrm>
          <a:prstGeom prst="rect">
            <a:avLst/>
          </a:prstGeom>
          <a:solidFill>
            <a:srgbClr val="02163B"/>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7472" y="722376"/>
            <a:ext cx="822960" cy="246888"/>
          </a:xfrm>
          <a:prstGeom prst="rect">
            <a:avLst/>
          </a:prstGeom>
          <a:noFill/>
        </p:spPr>
        <p:txBody>
          <a:bodyPr wrap="square" lIns="18288" rIns="18288" tIns="18288" bIns="18288" anchor="ctr">
            <a:spAutoFit/>
          </a:bodyPr>
          <a:lstStyle/>
          <a:p>
            <a:pPr algn="l">
              <a:lnSpc>
                <a:spcPct val="100000"/>
              </a:lnSpc>
              <a:spcAft>
                <a:spcPts val="200"/>
              </a:spcAft>
            </a:pPr>
            <a:r>
              <a:rPr sz="1000" b="1">
                <a:solidFill>
                  <a:srgbClr val="9EC2D8"/>
                </a:solidFill>
                <a:latin typeface="微软雅黑"/>
                <a:ea typeface="微软雅黑"/>
              </a:rPr>
              <a:t>技能地图</a:t>
            </a:r>
          </a:p>
        </p:txBody>
      </p:sp>
      <p:sp>
        <p:nvSpPr>
          <p:cNvPr id="30" name="Rounded Rectangle 29"/>
          <p:cNvSpPr/>
          <p:nvPr/>
        </p:nvSpPr>
        <p:spPr>
          <a:xfrm>
            <a:off x="1216152" y="713232"/>
            <a:ext cx="1444752" cy="265176"/>
          </a:xfrm>
          <a:prstGeom prst="roundRect">
            <a:avLst>
              <a:gd name="adj" fmla="val 8000"/>
            </a:avLst>
          </a:prstGeom>
          <a:solidFill>
            <a:srgbClr val="032B5C"/>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16152" y="713232"/>
            <a:ext cx="1444752" cy="265176"/>
          </a:xfrm>
          <a:prstGeom prst="rect">
            <a:avLst/>
          </a:prstGeom>
          <a:noFill/>
        </p:spPr>
        <p:txBody>
          <a:bodyPr wrap="square" lIns="18288" rIns="18288" tIns="18288" bIns="18288" anchor="ctr">
            <a:spAutoFit/>
          </a:bodyPr>
          <a:lstStyle/>
          <a:p>
            <a:pPr algn="ctr">
              <a:lnSpc>
                <a:spcPct val="100000"/>
              </a:lnSpc>
              <a:spcAft>
                <a:spcPts val="200"/>
              </a:spcAft>
            </a:pPr>
            <a:r>
              <a:rPr sz="1050" b="0">
                <a:solidFill>
                  <a:srgbClr val="9EC2D8"/>
                </a:solidFill>
                <a:latin typeface="微软雅黑"/>
                <a:ea typeface="微软雅黑"/>
              </a:rPr>
              <a:t>总控</a:t>
            </a:r>
          </a:p>
        </p:txBody>
      </p:sp>
      <p:sp>
        <p:nvSpPr>
          <p:cNvPr id="32" name="Rounded Rectangle 31"/>
          <p:cNvSpPr/>
          <p:nvPr/>
        </p:nvSpPr>
        <p:spPr>
          <a:xfrm>
            <a:off x="2834640" y="713232"/>
            <a:ext cx="1444752" cy="265176"/>
          </a:xfrm>
          <a:prstGeom prst="roundRect">
            <a:avLst>
              <a:gd name="adj" fmla="val 8000"/>
            </a:avLst>
          </a:prstGeom>
          <a:solidFill>
            <a:srgbClr val="032B5C"/>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34640" y="713232"/>
            <a:ext cx="1444752" cy="265176"/>
          </a:xfrm>
          <a:prstGeom prst="rect">
            <a:avLst/>
          </a:prstGeom>
          <a:noFill/>
        </p:spPr>
        <p:txBody>
          <a:bodyPr wrap="square" lIns="18288" rIns="18288" tIns="18288" bIns="18288" anchor="ctr">
            <a:spAutoFit/>
          </a:bodyPr>
          <a:lstStyle/>
          <a:p>
            <a:pPr algn="ctr">
              <a:lnSpc>
                <a:spcPct val="100000"/>
              </a:lnSpc>
              <a:spcAft>
                <a:spcPts val="200"/>
              </a:spcAft>
            </a:pPr>
            <a:r>
              <a:rPr sz="1050" b="0">
                <a:solidFill>
                  <a:srgbClr val="9EC2D8"/>
                </a:solidFill>
                <a:latin typeface="微软雅黑"/>
                <a:ea typeface="微软雅黑"/>
              </a:rPr>
              <a:t>招聘</a:t>
            </a:r>
          </a:p>
        </p:txBody>
      </p:sp>
      <p:sp>
        <p:nvSpPr>
          <p:cNvPr id="34" name="Rounded Rectangle 33"/>
          <p:cNvSpPr/>
          <p:nvPr/>
        </p:nvSpPr>
        <p:spPr>
          <a:xfrm>
            <a:off x="4453128" y="713232"/>
            <a:ext cx="1444752" cy="265176"/>
          </a:xfrm>
          <a:prstGeom prst="roundRect">
            <a:avLst>
              <a:gd name="adj" fmla="val 8000"/>
            </a:avLst>
          </a:prstGeom>
          <a:solidFill>
            <a:srgbClr val="032B5C"/>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53128" y="713232"/>
            <a:ext cx="1444752" cy="265176"/>
          </a:xfrm>
          <a:prstGeom prst="rect">
            <a:avLst/>
          </a:prstGeom>
          <a:noFill/>
        </p:spPr>
        <p:txBody>
          <a:bodyPr wrap="square" lIns="18288" rIns="18288" tIns="18288" bIns="18288" anchor="ctr">
            <a:spAutoFit/>
          </a:bodyPr>
          <a:lstStyle/>
          <a:p>
            <a:pPr algn="ctr">
              <a:lnSpc>
                <a:spcPct val="100000"/>
              </a:lnSpc>
              <a:spcAft>
                <a:spcPts val="200"/>
              </a:spcAft>
            </a:pPr>
            <a:r>
              <a:rPr sz="1050" b="0">
                <a:solidFill>
                  <a:srgbClr val="9EC2D8"/>
                </a:solidFill>
                <a:latin typeface="微软雅黑"/>
                <a:ea typeface="微软雅黑"/>
              </a:rPr>
              <a:t>入职</a:t>
            </a:r>
          </a:p>
        </p:txBody>
      </p:sp>
      <p:sp>
        <p:nvSpPr>
          <p:cNvPr id="36" name="Rounded Rectangle 35"/>
          <p:cNvSpPr/>
          <p:nvPr/>
        </p:nvSpPr>
        <p:spPr>
          <a:xfrm>
            <a:off x="6071616" y="713232"/>
            <a:ext cx="1444752" cy="265176"/>
          </a:xfrm>
          <a:prstGeom prst="roundRect">
            <a:avLst>
              <a:gd name="adj" fmla="val 8000"/>
            </a:avLst>
          </a:prstGeom>
          <a:solidFill>
            <a:srgbClr val="032B5C"/>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71616" y="713232"/>
            <a:ext cx="1444752" cy="265176"/>
          </a:xfrm>
          <a:prstGeom prst="rect">
            <a:avLst/>
          </a:prstGeom>
          <a:noFill/>
        </p:spPr>
        <p:txBody>
          <a:bodyPr wrap="square" lIns="18288" rIns="18288" tIns="18288" bIns="18288" anchor="ctr">
            <a:spAutoFit/>
          </a:bodyPr>
          <a:lstStyle/>
          <a:p>
            <a:pPr algn="ctr">
              <a:lnSpc>
                <a:spcPct val="100000"/>
              </a:lnSpc>
              <a:spcAft>
                <a:spcPts val="200"/>
              </a:spcAft>
            </a:pPr>
            <a:r>
              <a:rPr sz="1050" b="0">
                <a:solidFill>
                  <a:srgbClr val="9EC2D8"/>
                </a:solidFill>
                <a:latin typeface="微软雅黑"/>
                <a:ea typeface="微软雅黑"/>
              </a:rPr>
              <a:t>培训</a:t>
            </a:r>
          </a:p>
        </p:txBody>
      </p:sp>
      <p:sp>
        <p:nvSpPr>
          <p:cNvPr id="38" name="Rounded Rectangle 37"/>
          <p:cNvSpPr/>
          <p:nvPr/>
        </p:nvSpPr>
        <p:spPr>
          <a:xfrm>
            <a:off x="7690104" y="713232"/>
            <a:ext cx="1444752" cy="265176"/>
          </a:xfrm>
          <a:prstGeom prst="roundRect">
            <a:avLst>
              <a:gd name="adj" fmla="val 8000"/>
            </a:avLst>
          </a:prstGeom>
          <a:solidFill>
            <a:srgbClr val="032B5C"/>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90104" y="713232"/>
            <a:ext cx="1444752" cy="265176"/>
          </a:xfrm>
          <a:prstGeom prst="rect">
            <a:avLst/>
          </a:prstGeom>
          <a:noFill/>
        </p:spPr>
        <p:txBody>
          <a:bodyPr wrap="square" lIns="18288" rIns="18288" tIns="18288" bIns="18288" anchor="ctr">
            <a:spAutoFit/>
          </a:bodyPr>
          <a:lstStyle/>
          <a:p>
            <a:pPr algn="ctr">
              <a:lnSpc>
                <a:spcPct val="100000"/>
              </a:lnSpc>
              <a:spcAft>
                <a:spcPts val="200"/>
              </a:spcAft>
            </a:pPr>
            <a:r>
              <a:rPr sz="1050" b="0">
                <a:solidFill>
                  <a:srgbClr val="9EC2D8"/>
                </a:solidFill>
                <a:latin typeface="微软雅黑"/>
                <a:ea typeface="微软雅黑"/>
              </a:rPr>
              <a:t>绩效</a:t>
            </a:r>
          </a:p>
        </p:txBody>
      </p:sp>
      <p:sp>
        <p:nvSpPr>
          <p:cNvPr id="40" name="Rounded Rectangle 39"/>
          <p:cNvSpPr/>
          <p:nvPr/>
        </p:nvSpPr>
        <p:spPr>
          <a:xfrm>
            <a:off x="9308592" y="713232"/>
            <a:ext cx="1444752" cy="265176"/>
          </a:xfrm>
          <a:prstGeom prst="roundRect">
            <a:avLst>
              <a:gd name="adj" fmla="val 8000"/>
            </a:avLst>
          </a:prstGeom>
          <a:solidFill>
            <a:srgbClr val="00D8FF"/>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08592" y="713232"/>
            <a:ext cx="1444752" cy="265176"/>
          </a:xfrm>
          <a:prstGeom prst="rect">
            <a:avLst/>
          </a:prstGeom>
          <a:noFill/>
        </p:spPr>
        <p:txBody>
          <a:bodyPr wrap="square" lIns="18288" rIns="18288" tIns="18288" bIns="18288" anchor="ctr">
            <a:spAutoFit/>
          </a:bodyPr>
          <a:lstStyle/>
          <a:p>
            <a:pPr algn="ctr">
              <a:lnSpc>
                <a:spcPct val="100000"/>
              </a:lnSpc>
              <a:spcAft>
                <a:spcPts val="200"/>
              </a:spcAft>
            </a:pPr>
            <a:r>
              <a:rPr sz="1050" b="1">
                <a:solidFill>
                  <a:srgbClr val="02163B"/>
                </a:solidFill>
                <a:latin typeface="微软雅黑"/>
                <a:ea typeface="微软雅黑"/>
              </a:rPr>
              <a:t>行政</a:t>
            </a:r>
          </a:p>
        </p:txBody>
      </p:sp>
      <p:sp>
        <p:nvSpPr>
          <p:cNvPr id="42" name="TextBox 41"/>
          <p:cNvSpPr txBox="1"/>
          <p:nvPr/>
        </p:nvSpPr>
        <p:spPr>
          <a:xfrm>
            <a:off x="438912" y="1170432"/>
            <a:ext cx="4389120" cy="228600"/>
          </a:xfrm>
          <a:prstGeom prst="rect">
            <a:avLst/>
          </a:prstGeom>
          <a:noFill/>
        </p:spPr>
        <p:txBody>
          <a:bodyPr wrap="square" lIns="18288" rIns="18288" tIns="18288" bIns="18288" anchor="t">
            <a:spAutoFit/>
          </a:bodyPr>
          <a:lstStyle/>
          <a:p>
            <a:pPr algn="l">
              <a:lnSpc>
                <a:spcPct val="100000"/>
              </a:lnSpc>
              <a:spcAft>
                <a:spcPts val="200"/>
              </a:spcAft>
            </a:pPr>
            <a:r>
              <a:rPr sz="1050" b="1">
                <a:solidFill>
                  <a:srgbClr val="00D8FF"/>
                </a:solidFill>
                <a:latin typeface="微软雅黑"/>
                <a:ea typeface="微软雅黑"/>
              </a:rPr>
              <a:t>06  REPORT · DETERMINISTIC NUMBERS</a:t>
            </a:r>
          </a:p>
        </p:txBody>
      </p:sp>
      <p:sp>
        <p:nvSpPr>
          <p:cNvPr id="43" name="TextBox 42"/>
          <p:cNvSpPr txBox="1"/>
          <p:nvPr/>
        </p:nvSpPr>
        <p:spPr>
          <a:xfrm>
            <a:off x="420624" y="1399032"/>
            <a:ext cx="11155680" cy="448056"/>
          </a:xfrm>
          <a:prstGeom prst="rect">
            <a:avLst/>
          </a:prstGeom>
          <a:noFill/>
        </p:spPr>
        <p:txBody>
          <a:bodyPr wrap="square" lIns="18288" rIns="18288" tIns="18288" bIns="18288" anchor="t">
            <a:spAutoFit/>
          </a:bodyPr>
          <a:lstStyle/>
          <a:p>
            <a:pPr algn="l">
              <a:lnSpc>
                <a:spcPct val="100000"/>
              </a:lnSpc>
              <a:spcAft>
                <a:spcPts val="200"/>
              </a:spcAft>
            </a:pPr>
            <a:r>
              <a:rPr sz="2200" b="1">
                <a:solidFill>
                  <a:srgbClr val="FFFFFF"/>
                </a:solidFill>
                <a:latin typeface="优设标题黑"/>
                <a:ea typeface="优设标题黑"/>
              </a:rPr>
              <a:t>9月阶段性月报：数字由脚本计算，观察期不补数</a:t>
            </a:r>
          </a:p>
        </p:txBody>
      </p:sp>
      <p:sp>
        <p:nvSpPr>
          <p:cNvPr id="44" name="Rectangle 43"/>
          <p:cNvSpPr/>
          <p:nvPr/>
        </p:nvSpPr>
        <p:spPr>
          <a:xfrm>
            <a:off x="429768" y="1901952"/>
            <a:ext cx="685800" cy="45720"/>
          </a:xfrm>
          <a:prstGeom prst="rect">
            <a:avLst/>
          </a:prstGeom>
          <a:solidFill>
            <a:srgbClr val="00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80160" y="1819656"/>
            <a:ext cx="10149840" cy="265176"/>
          </a:xfrm>
          <a:prstGeom prst="rect">
            <a:avLst/>
          </a:prstGeom>
          <a:noFill/>
        </p:spPr>
        <p:txBody>
          <a:bodyPr wrap="square" lIns="18288" rIns="18288" tIns="18288" bIns="18288" anchor="t">
            <a:spAutoFit/>
          </a:bodyPr>
          <a:lstStyle/>
          <a:p>
            <a:pPr algn="l">
              <a:lnSpc>
                <a:spcPct val="100000"/>
              </a:lnSpc>
              <a:spcAft>
                <a:spcPts val="200"/>
              </a:spcAft>
            </a:pPr>
            <a:r>
              <a:rPr sz="1120" b="0">
                <a:solidFill>
                  <a:srgbClr val="9EC2D8"/>
                </a:solidFill>
                <a:latin typeface="微软雅黑"/>
                <a:ea typeface="微软雅黑"/>
              </a:rPr>
              <a:t>截至 2026-09-17｜演示环境使用脱敏业务台账，验证计算、异常提示与来源回核</a:t>
            </a:r>
          </a:p>
        </p:txBody>
      </p:sp>
      <p:sp>
        <p:nvSpPr>
          <p:cNvPr id="46" name="Rounded Rectangle 45"/>
          <p:cNvSpPr/>
          <p:nvPr/>
        </p:nvSpPr>
        <p:spPr>
          <a:xfrm>
            <a:off x="438912" y="2212848"/>
            <a:ext cx="1225296" cy="310896"/>
          </a:xfrm>
          <a:prstGeom prst="roundRect">
            <a:avLst>
              <a:gd name="adj" fmla="val 8000"/>
            </a:avLst>
          </a:prstGeom>
          <a:solidFill>
            <a:srgbClr val="04457D"/>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38912" y="2212848"/>
            <a:ext cx="1225296" cy="310896"/>
          </a:xfrm>
          <a:prstGeom prst="rect">
            <a:avLst/>
          </a:prstGeom>
          <a:noFill/>
        </p:spPr>
        <p:txBody>
          <a:bodyPr wrap="square" lIns="18288" rIns="18288" tIns="18288" bIns="18288" anchor="ctr">
            <a:spAutoFit/>
          </a:bodyPr>
          <a:lstStyle/>
          <a:p>
            <a:pPr algn="ctr">
              <a:lnSpc>
                <a:spcPct val="100000"/>
              </a:lnSpc>
              <a:spcAft>
                <a:spcPts val="200"/>
              </a:spcAft>
            </a:pPr>
            <a:r>
              <a:rPr sz="1019" b="1">
                <a:solidFill>
                  <a:srgbClr val="00D8FF"/>
                </a:solidFill>
                <a:latin typeface="微软雅黑"/>
                <a:ea typeface="微软雅黑"/>
              </a:rPr>
              <a:t>招聘过程</a:t>
            </a:r>
          </a:p>
        </p:txBody>
      </p:sp>
      <p:sp>
        <p:nvSpPr>
          <p:cNvPr id="48" name="Rounded Rectangle 47"/>
          <p:cNvSpPr/>
          <p:nvPr/>
        </p:nvSpPr>
        <p:spPr>
          <a:xfrm>
            <a:off x="1819656" y="2212848"/>
            <a:ext cx="1225296" cy="310896"/>
          </a:xfrm>
          <a:prstGeom prst="roundRect">
            <a:avLst>
              <a:gd name="adj" fmla="val 8000"/>
            </a:avLst>
          </a:prstGeom>
          <a:solidFill>
            <a:srgbClr val="04457D"/>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819656" y="2212848"/>
            <a:ext cx="1225296" cy="310896"/>
          </a:xfrm>
          <a:prstGeom prst="rect">
            <a:avLst/>
          </a:prstGeom>
          <a:noFill/>
        </p:spPr>
        <p:txBody>
          <a:bodyPr wrap="square" lIns="18288" rIns="18288" tIns="18288" bIns="18288" anchor="ctr">
            <a:spAutoFit/>
          </a:bodyPr>
          <a:lstStyle/>
          <a:p>
            <a:pPr algn="ctr">
              <a:lnSpc>
                <a:spcPct val="100000"/>
              </a:lnSpc>
              <a:spcAft>
                <a:spcPts val="200"/>
              </a:spcAft>
            </a:pPr>
            <a:r>
              <a:rPr sz="1019" b="1">
                <a:solidFill>
                  <a:srgbClr val="00D8FF"/>
                </a:solidFill>
                <a:latin typeface="微软雅黑"/>
                <a:ea typeface="微软雅黑"/>
              </a:rPr>
              <a:t>岗位编制</a:t>
            </a:r>
          </a:p>
        </p:txBody>
      </p:sp>
      <p:sp>
        <p:nvSpPr>
          <p:cNvPr id="50" name="Rounded Rectangle 49"/>
          <p:cNvSpPr/>
          <p:nvPr/>
        </p:nvSpPr>
        <p:spPr>
          <a:xfrm>
            <a:off x="3200400" y="2212848"/>
            <a:ext cx="1225296" cy="310896"/>
          </a:xfrm>
          <a:prstGeom prst="roundRect">
            <a:avLst>
              <a:gd name="adj" fmla="val 8000"/>
            </a:avLst>
          </a:prstGeom>
          <a:solidFill>
            <a:srgbClr val="04457D"/>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200400" y="2212848"/>
            <a:ext cx="1225296" cy="310896"/>
          </a:xfrm>
          <a:prstGeom prst="rect">
            <a:avLst/>
          </a:prstGeom>
          <a:noFill/>
        </p:spPr>
        <p:txBody>
          <a:bodyPr wrap="square" lIns="18288" rIns="18288" tIns="18288" bIns="18288" anchor="ctr">
            <a:spAutoFit/>
          </a:bodyPr>
          <a:lstStyle/>
          <a:p>
            <a:pPr algn="ctr">
              <a:lnSpc>
                <a:spcPct val="100000"/>
              </a:lnSpc>
              <a:spcAft>
                <a:spcPts val="200"/>
              </a:spcAft>
            </a:pPr>
            <a:r>
              <a:rPr sz="1019" b="1">
                <a:solidFill>
                  <a:srgbClr val="00D8FF"/>
                </a:solidFill>
                <a:latin typeface="微软雅黑"/>
                <a:ea typeface="微软雅黑"/>
              </a:rPr>
              <a:t>入职记录</a:t>
            </a:r>
          </a:p>
        </p:txBody>
      </p:sp>
      <p:sp>
        <p:nvSpPr>
          <p:cNvPr id="52" name="Rounded Rectangle 51"/>
          <p:cNvSpPr/>
          <p:nvPr/>
        </p:nvSpPr>
        <p:spPr>
          <a:xfrm>
            <a:off x="4581144" y="2212848"/>
            <a:ext cx="1225296" cy="310896"/>
          </a:xfrm>
          <a:prstGeom prst="roundRect">
            <a:avLst>
              <a:gd name="adj" fmla="val 8000"/>
            </a:avLst>
          </a:prstGeom>
          <a:solidFill>
            <a:srgbClr val="04457D"/>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581144" y="2212848"/>
            <a:ext cx="1225296" cy="310896"/>
          </a:xfrm>
          <a:prstGeom prst="rect">
            <a:avLst/>
          </a:prstGeom>
          <a:noFill/>
        </p:spPr>
        <p:txBody>
          <a:bodyPr wrap="square" lIns="18288" rIns="18288" tIns="18288" bIns="18288" anchor="ctr">
            <a:spAutoFit/>
          </a:bodyPr>
          <a:lstStyle/>
          <a:p>
            <a:pPr algn="ctr">
              <a:lnSpc>
                <a:spcPct val="100000"/>
              </a:lnSpc>
              <a:spcAft>
                <a:spcPts val="200"/>
              </a:spcAft>
            </a:pPr>
            <a:r>
              <a:rPr sz="1019" b="1">
                <a:solidFill>
                  <a:srgbClr val="00D8FF"/>
                </a:solidFill>
                <a:latin typeface="微软雅黑"/>
                <a:ea typeface="微软雅黑"/>
              </a:rPr>
              <a:t>培训记录</a:t>
            </a:r>
          </a:p>
        </p:txBody>
      </p:sp>
      <p:sp>
        <p:nvSpPr>
          <p:cNvPr id="54" name="Rounded Rectangle 53"/>
          <p:cNvSpPr/>
          <p:nvPr/>
        </p:nvSpPr>
        <p:spPr>
          <a:xfrm>
            <a:off x="5961888" y="2212848"/>
            <a:ext cx="1225296" cy="310896"/>
          </a:xfrm>
          <a:prstGeom prst="roundRect">
            <a:avLst>
              <a:gd name="adj" fmla="val 8000"/>
            </a:avLst>
          </a:prstGeom>
          <a:solidFill>
            <a:srgbClr val="04457D"/>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961888" y="2212848"/>
            <a:ext cx="1225296" cy="310896"/>
          </a:xfrm>
          <a:prstGeom prst="rect">
            <a:avLst/>
          </a:prstGeom>
          <a:noFill/>
        </p:spPr>
        <p:txBody>
          <a:bodyPr wrap="square" lIns="18288" rIns="18288" tIns="18288" bIns="18288" anchor="ctr">
            <a:spAutoFit/>
          </a:bodyPr>
          <a:lstStyle/>
          <a:p>
            <a:pPr algn="ctr">
              <a:lnSpc>
                <a:spcPct val="100000"/>
              </a:lnSpc>
              <a:spcAft>
                <a:spcPts val="200"/>
              </a:spcAft>
            </a:pPr>
            <a:r>
              <a:rPr sz="1019" b="1">
                <a:solidFill>
                  <a:srgbClr val="00D8FF"/>
                </a:solidFill>
                <a:latin typeface="微软雅黑"/>
                <a:ea typeface="微软雅黑"/>
              </a:rPr>
              <a:t>招聘费用</a:t>
            </a:r>
          </a:p>
        </p:txBody>
      </p:sp>
      <p:sp>
        <p:nvSpPr>
          <p:cNvPr id="56" name="Rounded Rectangle 55"/>
          <p:cNvSpPr/>
          <p:nvPr/>
        </p:nvSpPr>
        <p:spPr>
          <a:xfrm>
            <a:off x="7342631" y="2212848"/>
            <a:ext cx="1225296" cy="310896"/>
          </a:xfrm>
          <a:prstGeom prst="roundRect">
            <a:avLst>
              <a:gd name="adj" fmla="val 8000"/>
            </a:avLst>
          </a:prstGeom>
          <a:solidFill>
            <a:srgbClr val="04457D"/>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342631" y="2212848"/>
            <a:ext cx="1225296" cy="310896"/>
          </a:xfrm>
          <a:prstGeom prst="rect">
            <a:avLst/>
          </a:prstGeom>
          <a:noFill/>
        </p:spPr>
        <p:txBody>
          <a:bodyPr wrap="square" lIns="18288" rIns="18288" tIns="18288" bIns="18288" anchor="ctr">
            <a:spAutoFit/>
          </a:bodyPr>
          <a:lstStyle/>
          <a:p>
            <a:pPr algn="ctr">
              <a:lnSpc>
                <a:spcPct val="100000"/>
              </a:lnSpc>
              <a:spcAft>
                <a:spcPts val="200"/>
              </a:spcAft>
            </a:pPr>
            <a:r>
              <a:rPr sz="1019" b="1">
                <a:solidFill>
                  <a:srgbClr val="00D8FF"/>
                </a:solidFill>
                <a:latin typeface="微软雅黑"/>
                <a:ea typeface="微软雅黑"/>
              </a:rPr>
              <a:t>离职登记</a:t>
            </a:r>
          </a:p>
        </p:txBody>
      </p:sp>
      <p:cxnSp>
        <p:nvCxnSpPr>
          <p:cNvPr id="58" name="Connector 57"/>
          <p:cNvCxnSpPr/>
          <p:nvPr/>
        </p:nvCxnSpPr>
        <p:spPr>
          <a:xfrm>
            <a:off x="8705088" y="2368296"/>
            <a:ext cx="402336" cy="0"/>
          </a:xfrm>
          <a:prstGeom prst="line">
            <a:avLst/>
          </a:prstGeom>
          <a:ln w="13970">
            <a:solidFill>
              <a:srgbClr val="00D8FF"/>
            </a:solidFill>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9162288" y="2121408"/>
            <a:ext cx="2578608" cy="493776"/>
          </a:xfrm>
          <a:prstGeom prst="roundRect">
            <a:avLst>
              <a:gd name="adj" fmla="val 8000"/>
            </a:avLst>
          </a:prstGeom>
          <a:solidFill>
            <a:srgbClr val="032B5C"/>
          </a:solidFill>
          <a:ln w="12700">
            <a:solidFill>
              <a:srgbClr val="26D0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162288" y="2121408"/>
            <a:ext cx="2578608" cy="493776"/>
          </a:xfrm>
          <a:prstGeom prst="rect">
            <a:avLst/>
          </a:prstGeom>
          <a:noFill/>
        </p:spPr>
        <p:txBody>
          <a:bodyPr wrap="square" lIns="18288" rIns="18288" tIns="18288" bIns="18288" anchor="ctr">
            <a:spAutoFit/>
          </a:bodyPr>
          <a:lstStyle/>
          <a:p>
            <a:pPr algn="ctr">
              <a:lnSpc>
                <a:spcPct val="100000"/>
              </a:lnSpc>
              <a:spcAft>
                <a:spcPts val="200"/>
              </a:spcAft>
            </a:pPr>
            <a:r>
              <a:rPr sz="1120" b="1">
                <a:solidFill>
                  <a:srgbClr val="26D098"/>
                </a:solidFill>
                <a:latin typeface="微软雅黑"/>
                <a:ea typeface="微软雅黑"/>
              </a:rPr>
              <a:t>统一数据契约 → pandas</a:t>
            </a:r>
          </a:p>
        </p:txBody>
      </p:sp>
      <p:sp>
        <p:nvSpPr>
          <p:cNvPr id="61" name="Rounded Rectangle 60"/>
          <p:cNvSpPr/>
          <p:nvPr/>
        </p:nvSpPr>
        <p:spPr>
          <a:xfrm>
            <a:off x="438912" y="2926080"/>
            <a:ext cx="3566160" cy="896112"/>
          </a:xfrm>
          <a:prstGeom prst="roundRect">
            <a:avLst>
              <a:gd name="adj" fmla="val 8000"/>
            </a:avLst>
          </a:prstGeom>
          <a:solidFill>
            <a:srgbClr val="032B5C"/>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40080" y="3044952"/>
            <a:ext cx="1325880" cy="329184"/>
          </a:xfrm>
          <a:prstGeom prst="rect">
            <a:avLst/>
          </a:prstGeom>
          <a:noFill/>
        </p:spPr>
        <p:txBody>
          <a:bodyPr wrap="square" lIns="18288" rIns="18288" tIns="18288" bIns="18288" anchor="t">
            <a:spAutoFit/>
          </a:bodyPr>
          <a:lstStyle/>
          <a:p>
            <a:pPr algn="l">
              <a:lnSpc>
                <a:spcPct val="100000"/>
              </a:lnSpc>
              <a:spcAft>
                <a:spcPts val="200"/>
              </a:spcAft>
            </a:pPr>
            <a:r>
              <a:rPr sz="1800" b="1">
                <a:solidFill>
                  <a:srgbClr val="00D8FF"/>
                </a:solidFill>
                <a:latin typeface="微软雅黑"/>
                <a:ea typeface="微软雅黑"/>
              </a:rPr>
              <a:t>9 人</a:t>
            </a:r>
          </a:p>
        </p:txBody>
      </p:sp>
      <p:sp>
        <p:nvSpPr>
          <p:cNvPr id="63" name="TextBox 62"/>
          <p:cNvSpPr txBox="1"/>
          <p:nvPr/>
        </p:nvSpPr>
        <p:spPr>
          <a:xfrm>
            <a:off x="1993392" y="3127248"/>
            <a:ext cx="1792224" cy="256032"/>
          </a:xfrm>
          <a:prstGeom prst="rect">
            <a:avLst/>
          </a:prstGeom>
          <a:noFill/>
        </p:spPr>
        <p:txBody>
          <a:bodyPr wrap="square" lIns="18288" rIns="18288" tIns="18288" bIns="18288" anchor="t">
            <a:spAutoFit/>
          </a:bodyPr>
          <a:lstStyle/>
          <a:p>
            <a:pPr algn="r">
              <a:lnSpc>
                <a:spcPct val="100000"/>
              </a:lnSpc>
              <a:spcAft>
                <a:spcPts val="200"/>
              </a:spcAft>
            </a:pPr>
            <a:r>
              <a:rPr sz="1120" b="1">
                <a:solidFill>
                  <a:srgbClr val="E9F8FF"/>
                </a:solidFill>
                <a:latin typeface="微软雅黑"/>
                <a:ea typeface="微软雅黑"/>
              </a:rPr>
              <a:t>本月入职</a:t>
            </a:r>
          </a:p>
        </p:txBody>
      </p:sp>
      <p:sp>
        <p:nvSpPr>
          <p:cNvPr id="64" name="Rounded Rectangle 63"/>
          <p:cNvSpPr/>
          <p:nvPr/>
        </p:nvSpPr>
        <p:spPr>
          <a:xfrm>
            <a:off x="4261104" y="2926080"/>
            <a:ext cx="3566160" cy="896112"/>
          </a:xfrm>
          <a:prstGeom prst="roundRect">
            <a:avLst>
              <a:gd name="adj" fmla="val 8000"/>
            </a:avLst>
          </a:prstGeom>
          <a:solidFill>
            <a:srgbClr val="032B5C"/>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462272" y="3044952"/>
            <a:ext cx="1325880" cy="329184"/>
          </a:xfrm>
          <a:prstGeom prst="rect">
            <a:avLst/>
          </a:prstGeom>
          <a:noFill/>
        </p:spPr>
        <p:txBody>
          <a:bodyPr wrap="square" lIns="18288" rIns="18288" tIns="18288" bIns="18288" anchor="t">
            <a:spAutoFit/>
          </a:bodyPr>
          <a:lstStyle/>
          <a:p>
            <a:pPr algn="l">
              <a:lnSpc>
                <a:spcPct val="100000"/>
              </a:lnSpc>
              <a:spcAft>
                <a:spcPts val="200"/>
              </a:spcAft>
            </a:pPr>
            <a:r>
              <a:rPr sz="1800" b="1">
                <a:solidFill>
                  <a:srgbClr val="00D8FF"/>
                </a:solidFill>
                <a:latin typeface="微软雅黑"/>
                <a:ea typeface="微软雅黑"/>
              </a:rPr>
              <a:t>94.3%</a:t>
            </a:r>
          </a:p>
        </p:txBody>
      </p:sp>
      <p:sp>
        <p:nvSpPr>
          <p:cNvPr id="66" name="TextBox 65"/>
          <p:cNvSpPr txBox="1"/>
          <p:nvPr/>
        </p:nvSpPr>
        <p:spPr>
          <a:xfrm>
            <a:off x="5815584" y="3127248"/>
            <a:ext cx="1792224" cy="256032"/>
          </a:xfrm>
          <a:prstGeom prst="rect">
            <a:avLst/>
          </a:prstGeom>
          <a:noFill/>
        </p:spPr>
        <p:txBody>
          <a:bodyPr wrap="square" lIns="18288" rIns="18288" tIns="18288" bIns="18288" anchor="t">
            <a:spAutoFit/>
          </a:bodyPr>
          <a:lstStyle/>
          <a:p>
            <a:pPr algn="r">
              <a:lnSpc>
                <a:spcPct val="100000"/>
              </a:lnSpc>
              <a:spcAft>
                <a:spcPts val="200"/>
              </a:spcAft>
            </a:pPr>
            <a:r>
              <a:rPr sz="1120" b="1">
                <a:solidFill>
                  <a:srgbClr val="E9F8FF"/>
                </a:solidFill>
                <a:latin typeface="微软雅黑"/>
                <a:ea typeface="微软雅黑"/>
              </a:rPr>
              <a:t>岗位整体到位率</a:t>
            </a:r>
          </a:p>
        </p:txBody>
      </p:sp>
      <p:sp>
        <p:nvSpPr>
          <p:cNvPr id="67" name="Rounded Rectangle 66"/>
          <p:cNvSpPr/>
          <p:nvPr/>
        </p:nvSpPr>
        <p:spPr>
          <a:xfrm>
            <a:off x="8083296" y="2926080"/>
            <a:ext cx="3566160" cy="896112"/>
          </a:xfrm>
          <a:prstGeom prst="roundRect">
            <a:avLst>
              <a:gd name="adj" fmla="val 8000"/>
            </a:avLst>
          </a:prstGeom>
          <a:solidFill>
            <a:srgbClr val="032B5C"/>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284464" y="3044952"/>
            <a:ext cx="1325880" cy="329184"/>
          </a:xfrm>
          <a:prstGeom prst="rect">
            <a:avLst/>
          </a:prstGeom>
          <a:noFill/>
        </p:spPr>
        <p:txBody>
          <a:bodyPr wrap="square" lIns="18288" rIns="18288" tIns="18288" bIns="18288" anchor="t">
            <a:spAutoFit/>
          </a:bodyPr>
          <a:lstStyle/>
          <a:p>
            <a:pPr algn="l">
              <a:lnSpc>
                <a:spcPct val="100000"/>
              </a:lnSpc>
              <a:spcAft>
                <a:spcPts val="200"/>
              </a:spcAft>
            </a:pPr>
            <a:r>
              <a:rPr sz="1800" b="1">
                <a:solidFill>
                  <a:srgbClr val="00D8FF"/>
                </a:solidFill>
                <a:latin typeface="微软雅黑"/>
                <a:ea typeface="微软雅黑"/>
              </a:rPr>
              <a:t>40 天</a:t>
            </a:r>
          </a:p>
        </p:txBody>
      </p:sp>
      <p:sp>
        <p:nvSpPr>
          <p:cNvPr id="69" name="TextBox 68"/>
          <p:cNvSpPr txBox="1"/>
          <p:nvPr/>
        </p:nvSpPr>
        <p:spPr>
          <a:xfrm>
            <a:off x="9637776" y="3127248"/>
            <a:ext cx="1792224" cy="256032"/>
          </a:xfrm>
          <a:prstGeom prst="rect">
            <a:avLst/>
          </a:prstGeom>
          <a:noFill/>
        </p:spPr>
        <p:txBody>
          <a:bodyPr wrap="square" lIns="18288" rIns="18288" tIns="18288" bIns="18288" anchor="t">
            <a:spAutoFit/>
          </a:bodyPr>
          <a:lstStyle/>
          <a:p>
            <a:pPr algn="r">
              <a:lnSpc>
                <a:spcPct val="100000"/>
              </a:lnSpc>
              <a:spcAft>
                <a:spcPts val="200"/>
              </a:spcAft>
            </a:pPr>
            <a:r>
              <a:rPr sz="1120" b="1">
                <a:solidFill>
                  <a:srgbClr val="E9F8FF"/>
                </a:solidFill>
                <a:latin typeface="微软雅黑"/>
                <a:ea typeface="微软雅黑"/>
              </a:rPr>
              <a:t>Time to Hire</a:t>
            </a:r>
          </a:p>
        </p:txBody>
      </p:sp>
      <p:sp>
        <p:nvSpPr>
          <p:cNvPr id="70" name="Rounded Rectangle 69"/>
          <p:cNvSpPr/>
          <p:nvPr/>
        </p:nvSpPr>
        <p:spPr>
          <a:xfrm>
            <a:off x="438912" y="4005072"/>
            <a:ext cx="3566160" cy="896112"/>
          </a:xfrm>
          <a:prstGeom prst="roundRect">
            <a:avLst>
              <a:gd name="adj" fmla="val 8000"/>
            </a:avLst>
          </a:prstGeom>
          <a:solidFill>
            <a:srgbClr val="032B5C"/>
          </a:solidFill>
          <a:ln w="12700">
            <a:solidFill>
              <a:srgbClr val="26D0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40080" y="4123944"/>
            <a:ext cx="1325880" cy="329184"/>
          </a:xfrm>
          <a:prstGeom prst="rect">
            <a:avLst/>
          </a:prstGeom>
          <a:noFill/>
        </p:spPr>
        <p:txBody>
          <a:bodyPr wrap="square" lIns="18288" rIns="18288" tIns="18288" bIns="18288" anchor="t">
            <a:spAutoFit/>
          </a:bodyPr>
          <a:lstStyle/>
          <a:p>
            <a:pPr algn="l">
              <a:lnSpc>
                <a:spcPct val="100000"/>
              </a:lnSpc>
              <a:spcAft>
                <a:spcPts val="200"/>
              </a:spcAft>
            </a:pPr>
            <a:r>
              <a:rPr sz="1800" b="1">
                <a:solidFill>
                  <a:srgbClr val="26D098"/>
                </a:solidFill>
                <a:latin typeface="微软雅黑"/>
                <a:ea typeface="微软雅黑"/>
              </a:rPr>
              <a:t>8000 元</a:t>
            </a:r>
          </a:p>
        </p:txBody>
      </p:sp>
      <p:sp>
        <p:nvSpPr>
          <p:cNvPr id="72" name="TextBox 71"/>
          <p:cNvSpPr txBox="1"/>
          <p:nvPr/>
        </p:nvSpPr>
        <p:spPr>
          <a:xfrm>
            <a:off x="1993392" y="4206240"/>
            <a:ext cx="1792224" cy="256032"/>
          </a:xfrm>
          <a:prstGeom prst="rect">
            <a:avLst/>
          </a:prstGeom>
          <a:noFill/>
        </p:spPr>
        <p:txBody>
          <a:bodyPr wrap="square" lIns="18288" rIns="18288" tIns="18288" bIns="18288" anchor="t">
            <a:spAutoFit/>
          </a:bodyPr>
          <a:lstStyle/>
          <a:p>
            <a:pPr algn="r">
              <a:lnSpc>
                <a:spcPct val="100000"/>
              </a:lnSpc>
              <a:spcAft>
                <a:spcPts val="200"/>
              </a:spcAft>
            </a:pPr>
            <a:r>
              <a:rPr sz="1120" b="1">
                <a:solidFill>
                  <a:srgbClr val="E9F8FF"/>
                </a:solidFill>
                <a:latin typeface="微软雅黑"/>
                <a:ea typeface="微软雅黑"/>
              </a:rPr>
              <a:t>人均招聘成本</a:t>
            </a:r>
          </a:p>
        </p:txBody>
      </p:sp>
      <p:sp>
        <p:nvSpPr>
          <p:cNvPr id="73" name="Rounded Rectangle 72"/>
          <p:cNvSpPr/>
          <p:nvPr/>
        </p:nvSpPr>
        <p:spPr>
          <a:xfrm>
            <a:off x="4261104" y="4005072"/>
            <a:ext cx="3566160" cy="896112"/>
          </a:xfrm>
          <a:prstGeom prst="roundRect">
            <a:avLst>
              <a:gd name="adj" fmla="val 8000"/>
            </a:avLst>
          </a:prstGeom>
          <a:solidFill>
            <a:srgbClr val="032B5C"/>
          </a:solidFill>
          <a:ln w="12700">
            <a:solidFill>
              <a:srgbClr val="26D0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462272" y="4123944"/>
            <a:ext cx="1325880" cy="329184"/>
          </a:xfrm>
          <a:prstGeom prst="rect">
            <a:avLst/>
          </a:prstGeom>
          <a:noFill/>
        </p:spPr>
        <p:txBody>
          <a:bodyPr wrap="square" lIns="18288" rIns="18288" tIns="18288" bIns="18288" anchor="t">
            <a:spAutoFit/>
          </a:bodyPr>
          <a:lstStyle/>
          <a:p>
            <a:pPr algn="l">
              <a:lnSpc>
                <a:spcPct val="100000"/>
              </a:lnSpc>
              <a:spcAft>
                <a:spcPts val="200"/>
              </a:spcAft>
            </a:pPr>
            <a:r>
              <a:rPr sz="1800" b="1">
                <a:solidFill>
                  <a:srgbClr val="26D098"/>
                </a:solidFill>
                <a:latin typeface="微软雅黑"/>
                <a:ea typeface="微软雅黑"/>
              </a:rPr>
              <a:t>91.7%</a:t>
            </a:r>
          </a:p>
        </p:txBody>
      </p:sp>
      <p:sp>
        <p:nvSpPr>
          <p:cNvPr id="75" name="TextBox 74"/>
          <p:cNvSpPr txBox="1"/>
          <p:nvPr/>
        </p:nvSpPr>
        <p:spPr>
          <a:xfrm>
            <a:off x="5815584" y="4206240"/>
            <a:ext cx="1792224" cy="256032"/>
          </a:xfrm>
          <a:prstGeom prst="rect">
            <a:avLst/>
          </a:prstGeom>
          <a:noFill/>
        </p:spPr>
        <p:txBody>
          <a:bodyPr wrap="square" lIns="18288" rIns="18288" tIns="18288" bIns="18288" anchor="t">
            <a:spAutoFit/>
          </a:bodyPr>
          <a:lstStyle/>
          <a:p>
            <a:pPr algn="r">
              <a:lnSpc>
                <a:spcPct val="100000"/>
              </a:lnSpc>
              <a:spcAft>
                <a:spcPts val="200"/>
              </a:spcAft>
            </a:pPr>
            <a:r>
              <a:rPr sz="1120" b="1">
                <a:solidFill>
                  <a:srgbClr val="E9F8FF"/>
                </a:solidFill>
                <a:latin typeface="微软雅黑"/>
                <a:ea typeface="微软雅黑"/>
              </a:rPr>
              <a:t>培训完成率</a:t>
            </a:r>
          </a:p>
        </p:txBody>
      </p:sp>
      <p:sp>
        <p:nvSpPr>
          <p:cNvPr id="76" name="Rounded Rectangle 75"/>
          <p:cNvSpPr/>
          <p:nvPr/>
        </p:nvSpPr>
        <p:spPr>
          <a:xfrm>
            <a:off x="8083296" y="4005072"/>
            <a:ext cx="3566160" cy="896112"/>
          </a:xfrm>
          <a:prstGeom prst="roundRect">
            <a:avLst>
              <a:gd name="adj" fmla="val 8000"/>
            </a:avLst>
          </a:prstGeom>
          <a:solidFill>
            <a:srgbClr val="032B5C"/>
          </a:solidFill>
          <a:ln w="12700">
            <a:solidFill>
              <a:srgbClr val="FFA4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284464" y="4123944"/>
            <a:ext cx="1325880" cy="329184"/>
          </a:xfrm>
          <a:prstGeom prst="rect">
            <a:avLst/>
          </a:prstGeom>
          <a:noFill/>
        </p:spPr>
        <p:txBody>
          <a:bodyPr wrap="square" lIns="18288" rIns="18288" tIns="18288" bIns="18288" anchor="t">
            <a:spAutoFit/>
          </a:bodyPr>
          <a:lstStyle/>
          <a:p>
            <a:pPr algn="l">
              <a:lnSpc>
                <a:spcPct val="100000"/>
              </a:lnSpc>
              <a:spcAft>
                <a:spcPts val="200"/>
              </a:spcAft>
            </a:pPr>
            <a:r>
              <a:rPr sz="1800" b="1">
                <a:solidFill>
                  <a:srgbClr val="FFA421"/>
                </a:solidFill>
                <a:latin typeface="微软雅黑"/>
                <a:ea typeface="微软雅黑"/>
              </a:rPr>
              <a:t>统计中</a:t>
            </a:r>
          </a:p>
        </p:txBody>
      </p:sp>
      <p:sp>
        <p:nvSpPr>
          <p:cNvPr id="78" name="TextBox 77"/>
          <p:cNvSpPr txBox="1"/>
          <p:nvPr/>
        </p:nvSpPr>
        <p:spPr>
          <a:xfrm>
            <a:off x="9637776" y="4206240"/>
            <a:ext cx="1792224" cy="256032"/>
          </a:xfrm>
          <a:prstGeom prst="rect">
            <a:avLst/>
          </a:prstGeom>
          <a:noFill/>
        </p:spPr>
        <p:txBody>
          <a:bodyPr wrap="square" lIns="18288" rIns="18288" tIns="18288" bIns="18288" anchor="t">
            <a:spAutoFit/>
          </a:bodyPr>
          <a:lstStyle/>
          <a:p>
            <a:pPr algn="r">
              <a:lnSpc>
                <a:spcPct val="100000"/>
              </a:lnSpc>
              <a:spcAft>
                <a:spcPts val="200"/>
              </a:spcAft>
            </a:pPr>
            <a:r>
              <a:rPr sz="1120" b="1">
                <a:solidFill>
                  <a:srgbClr val="E9F8FF"/>
                </a:solidFill>
                <a:latin typeface="微软雅黑"/>
                <a:ea typeface="微软雅黑"/>
              </a:rPr>
              <a:t>45天内离职率</a:t>
            </a:r>
          </a:p>
        </p:txBody>
      </p:sp>
      <p:sp>
        <p:nvSpPr>
          <p:cNvPr id="79" name="TextBox 78"/>
          <p:cNvSpPr txBox="1"/>
          <p:nvPr/>
        </p:nvSpPr>
        <p:spPr>
          <a:xfrm>
            <a:off x="8284464" y="4562856"/>
            <a:ext cx="3127248" cy="182880"/>
          </a:xfrm>
          <a:prstGeom prst="rect">
            <a:avLst/>
          </a:prstGeom>
          <a:noFill/>
        </p:spPr>
        <p:txBody>
          <a:bodyPr wrap="square" lIns="18288" rIns="18288" tIns="18288" bIns="18288" anchor="t">
            <a:spAutoFit/>
          </a:bodyPr>
          <a:lstStyle/>
          <a:p>
            <a:pPr algn="r">
              <a:lnSpc>
                <a:spcPct val="100000"/>
              </a:lnSpc>
              <a:spcAft>
                <a:spcPts val="200"/>
              </a:spcAft>
            </a:pPr>
            <a:r>
              <a:rPr sz="940" b="0">
                <a:solidFill>
                  <a:srgbClr val="9EC2D8"/>
                </a:solidFill>
                <a:latin typeface="微软雅黑"/>
                <a:ea typeface="微软雅黑"/>
              </a:rPr>
              <a:t>观察期未结束，不补数</a:t>
            </a:r>
          </a:p>
        </p:txBody>
      </p:sp>
      <p:sp>
        <p:nvSpPr>
          <p:cNvPr id="80" name="Rounded Rectangle 79"/>
          <p:cNvSpPr/>
          <p:nvPr/>
        </p:nvSpPr>
        <p:spPr>
          <a:xfrm>
            <a:off x="438912" y="5230368"/>
            <a:ext cx="11301984" cy="822960"/>
          </a:xfrm>
          <a:prstGeom prst="roundRect">
            <a:avLst>
              <a:gd name="adj" fmla="val 8000"/>
            </a:avLst>
          </a:prstGeom>
          <a:solidFill>
            <a:srgbClr val="04457D"/>
          </a:solidFill>
          <a:ln w="12700">
            <a:solidFill>
              <a:srgbClr val="26D0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58368" y="5340096"/>
            <a:ext cx="2103120" cy="228600"/>
          </a:xfrm>
          <a:prstGeom prst="rect">
            <a:avLst/>
          </a:prstGeom>
          <a:noFill/>
        </p:spPr>
        <p:txBody>
          <a:bodyPr wrap="square" lIns="18288" rIns="18288" tIns="18288" bIns="18288" anchor="t">
            <a:spAutoFit/>
          </a:bodyPr>
          <a:lstStyle/>
          <a:p>
            <a:pPr algn="l">
              <a:lnSpc>
                <a:spcPct val="100000"/>
              </a:lnSpc>
              <a:spcAft>
                <a:spcPts val="200"/>
              </a:spcAft>
            </a:pPr>
            <a:r>
              <a:rPr sz="1150" b="1">
                <a:solidFill>
                  <a:srgbClr val="26D098"/>
                </a:solidFill>
                <a:latin typeface="微软雅黑"/>
                <a:ea typeface="微软雅黑"/>
              </a:rPr>
              <a:t>数据口径</a:t>
            </a:r>
          </a:p>
        </p:txBody>
      </p:sp>
      <p:sp>
        <p:nvSpPr>
          <p:cNvPr id="82" name="TextBox 81"/>
          <p:cNvSpPr txBox="1"/>
          <p:nvPr/>
        </p:nvSpPr>
        <p:spPr>
          <a:xfrm>
            <a:off x="1920240" y="5285232"/>
            <a:ext cx="9555480" cy="548640"/>
          </a:xfrm>
          <a:prstGeom prst="rect">
            <a:avLst/>
          </a:prstGeom>
          <a:noFill/>
        </p:spPr>
        <p:txBody>
          <a:bodyPr wrap="square" lIns="18288" rIns="18288" tIns="18288" bIns="18288" anchor="ctr">
            <a:spAutoFit/>
          </a:bodyPr>
          <a:lstStyle/>
          <a:p>
            <a:pPr algn="l">
              <a:lnSpc>
                <a:spcPct val="100000"/>
              </a:lnSpc>
              <a:spcAft>
                <a:spcPts val="200"/>
              </a:spcAft>
            </a:pPr>
            <a:r>
              <a:rPr sz="1140" b="0">
                <a:solidFill>
                  <a:srgbClr val="E9F8FF"/>
                </a:solidFill>
                <a:latin typeface="微软雅黑"/>
                <a:ea typeface="微软雅黑"/>
              </a:rPr>
              <a:t>脱敏业务台账验证计算与回核机制｜落地可接企业导出表或 API，数据契约不变｜18项数字保留来源和算式</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2163B"/>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216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0" y="941832"/>
            <a:ext cx="12191695" cy="475488"/>
          </a:xfrm>
          <a:prstGeom prst="line">
            <a:avLst/>
          </a:prstGeom>
          <a:ln w="10160">
            <a:solidFill>
              <a:srgbClr val="04457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0" y="2834640"/>
            <a:ext cx="12191695" cy="475488"/>
          </a:xfrm>
          <a:prstGeom prst="line">
            <a:avLst/>
          </a:prstGeom>
          <a:ln w="10160">
            <a:solidFill>
              <a:srgbClr val="04457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0" y="5522975"/>
            <a:ext cx="12191695" cy="475489"/>
          </a:xfrm>
          <a:prstGeom prst="line">
            <a:avLst/>
          </a:prstGeom>
          <a:ln w="10160">
            <a:solidFill>
              <a:srgbClr val="04457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11480" y="658368"/>
            <a:ext cx="685800" cy="5907024"/>
          </a:xfrm>
          <a:prstGeom prst="line">
            <a:avLst/>
          </a:prstGeom>
          <a:ln w="8890">
            <a:solidFill>
              <a:srgbClr val="032B5C"/>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880360" y="658368"/>
            <a:ext cx="685800" cy="5907024"/>
          </a:xfrm>
          <a:prstGeom prst="line">
            <a:avLst/>
          </a:prstGeom>
          <a:ln w="8890">
            <a:solidFill>
              <a:srgbClr val="032B5C"/>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537960" y="658368"/>
            <a:ext cx="685800" cy="5907024"/>
          </a:xfrm>
          <a:prstGeom prst="line">
            <a:avLst/>
          </a:prstGeom>
          <a:ln w="8890">
            <a:solidFill>
              <a:srgbClr val="032B5C"/>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698480" y="658368"/>
            <a:ext cx="685800" cy="5907024"/>
          </a:xfrm>
          <a:prstGeom prst="line">
            <a:avLst/>
          </a:prstGeom>
          <a:ln w="8890">
            <a:solidFill>
              <a:srgbClr val="032B5C"/>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548640" y="1353312"/>
            <a:ext cx="73152" cy="73152"/>
          </a:xfrm>
          <a:prstGeom prst="ellipse">
            <a:avLst/>
          </a:prstGeom>
          <a:solidFill>
            <a:srgbClr val="00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246120" y="2670048"/>
            <a:ext cx="73152" cy="73152"/>
          </a:xfrm>
          <a:prstGeom prst="ellipse">
            <a:avLst/>
          </a:prstGeom>
          <a:solidFill>
            <a:srgbClr val="00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995160" y="1618488"/>
            <a:ext cx="73152" cy="73152"/>
          </a:xfrm>
          <a:prstGeom prst="ellipse">
            <a:avLst/>
          </a:prstGeom>
          <a:solidFill>
            <a:srgbClr val="00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64240" y="4389120"/>
            <a:ext cx="73152" cy="73152"/>
          </a:xfrm>
          <a:prstGeom prst="ellipse">
            <a:avLst/>
          </a:prstGeom>
          <a:solidFill>
            <a:srgbClr val="00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503920" y="5559552"/>
            <a:ext cx="73152" cy="73152"/>
          </a:xfrm>
          <a:prstGeom prst="ellipse">
            <a:avLst/>
          </a:prstGeom>
          <a:solidFill>
            <a:srgbClr val="00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658368"/>
          </a:xfrm>
          <a:prstGeom prst="rect">
            <a:avLst/>
          </a:prstGeom>
          <a:solidFill>
            <a:srgbClr val="032B5C"/>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100584"/>
            <a:ext cx="2011680" cy="384048"/>
          </a:xfrm>
          <a:prstGeom prst="rect">
            <a:avLst/>
          </a:prstGeom>
          <a:noFill/>
        </p:spPr>
        <p:txBody>
          <a:bodyPr wrap="square" lIns="18288" rIns="18288" tIns="18288" bIns="18288" anchor="ctr">
            <a:spAutoFit/>
          </a:bodyPr>
          <a:lstStyle/>
          <a:p>
            <a:pPr algn="l">
              <a:lnSpc>
                <a:spcPct val="100000"/>
              </a:lnSpc>
              <a:spcAft>
                <a:spcPts val="200"/>
              </a:spcAft>
            </a:pPr>
            <a:r>
              <a:rPr sz="1350" b="1">
                <a:solidFill>
                  <a:srgbClr val="FFFFFF"/>
                </a:solidFill>
                <a:latin typeface="微软雅黑"/>
                <a:ea typeface="微软雅黑"/>
              </a:rPr>
              <a:t>小慧 · HR数字员工</a:t>
            </a:r>
          </a:p>
        </p:txBody>
      </p:sp>
      <p:sp>
        <p:nvSpPr>
          <p:cNvPr id="17" name="Parallelogram 16"/>
          <p:cNvSpPr/>
          <p:nvPr/>
        </p:nvSpPr>
        <p:spPr>
          <a:xfrm>
            <a:off x="2423160" y="109728"/>
            <a:ext cx="1527048" cy="356616"/>
          </a:xfrm>
          <a:prstGeom prst="parallelogram">
            <a:avLst/>
          </a:prstGeom>
          <a:solidFill>
            <a:srgbClr val="04457D">
              <a:alpha val="82000"/>
            </a:srgbClr>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423160" y="109728"/>
            <a:ext cx="1527048" cy="356616"/>
          </a:xfrm>
          <a:prstGeom prst="rect">
            <a:avLst/>
          </a:prstGeom>
          <a:noFill/>
        </p:spPr>
        <p:txBody>
          <a:bodyPr wrap="square" lIns="18288" rIns="18288" tIns="18288" bIns="18288" anchor="ctr">
            <a:spAutoFit/>
          </a:bodyPr>
          <a:lstStyle/>
          <a:p>
            <a:pPr algn="ctr">
              <a:lnSpc>
                <a:spcPct val="100000"/>
              </a:lnSpc>
              <a:spcAft>
                <a:spcPts val="200"/>
              </a:spcAft>
            </a:pPr>
            <a:r>
              <a:rPr sz="1200" b="0">
                <a:solidFill>
                  <a:srgbClr val="9EC2D8"/>
                </a:solidFill>
                <a:latin typeface="微软雅黑"/>
                <a:ea typeface="微软雅黑"/>
              </a:rPr>
              <a:t>项目背景</a:t>
            </a:r>
          </a:p>
        </p:txBody>
      </p:sp>
      <p:sp>
        <p:nvSpPr>
          <p:cNvPr id="19" name="Parallelogram 18"/>
          <p:cNvSpPr/>
          <p:nvPr/>
        </p:nvSpPr>
        <p:spPr>
          <a:xfrm>
            <a:off x="4023360" y="109728"/>
            <a:ext cx="1527048" cy="356616"/>
          </a:xfrm>
          <a:prstGeom prst="parallelogram">
            <a:avLst/>
          </a:prstGeom>
          <a:solidFill>
            <a:srgbClr val="04457D">
              <a:alpha val="82000"/>
            </a:srgbClr>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23360" y="109728"/>
            <a:ext cx="1527048" cy="356616"/>
          </a:xfrm>
          <a:prstGeom prst="rect">
            <a:avLst/>
          </a:prstGeom>
          <a:noFill/>
        </p:spPr>
        <p:txBody>
          <a:bodyPr wrap="square" lIns="18288" rIns="18288" tIns="18288" bIns="18288" anchor="ctr">
            <a:spAutoFit/>
          </a:bodyPr>
          <a:lstStyle/>
          <a:p>
            <a:pPr algn="ctr">
              <a:lnSpc>
                <a:spcPct val="100000"/>
              </a:lnSpc>
              <a:spcAft>
                <a:spcPts val="200"/>
              </a:spcAft>
            </a:pPr>
            <a:r>
              <a:rPr sz="1200" b="0">
                <a:solidFill>
                  <a:srgbClr val="9EC2D8"/>
                </a:solidFill>
                <a:latin typeface="微软雅黑"/>
                <a:ea typeface="微软雅黑"/>
              </a:rPr>
              <a:t>方案规划</a:t>
            </a:r>
          </a:p>
        </p:txBody>
      </p:sp>
      <p:sp>
        <p:nvSpPr>
          <p:cNvPr id="21" name="Parallelogram 20"/>
          <p:cNvSpPr/>
          <p:nvPr/>
        </p:nvSpPr>
        <p:spPr>
          <a:xfrm>
            <a:off x="5623560" y="109728"/>
            <a:ext cx="1527048" cy="356616"/>
          </a:xfrm>
          <a:prstGeom prst="parallelogram">
            <a:avLst/>
          </a:prstGeom>
          <a:solidFill>
            <a:srgbClr val="00D8FF"/>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23560" y="109728"/>
            <a:ext cx="1527048" cy="356616"/>
          </a:xfrm>
          <a:prstGeom prst="rect">
            <a:avLst/>
          </a:prstGeom>
          <a:noFill/>
        </p:spPr>
        <p:txBody>
          <a:bodyPr wrap="square" lIns="18288" rIns="18288" tIns="18288" bIns="18288" anchor="ctr">
            <a:spAutoFit/>
          </a:bodyPr>
          <a:lstStyle/>
          <a:p>
            <a:pPr algn="ctr">
              <a:lnSpc>
                <a:spcPct val="100000"/>
              </a:lnSpc>
              <a:spcAft>
                <a:spcPts val="200"/>
              </a:spcAft>
            </a:pPr>
            <a:r>
              <a:rPr sz="1200" b="1">
                <a:solidFill>
                  <a:srgbClr val="02163B"/>
                </a:solidFill>
                <a:latin typeface="微软雅黑"/>
                <a:ea typeface="微软雅黑"/>
              </a:rPr>
              <a:t>技能演示</a:t>
            </a:r>
          </a:p>
        </p:txBody>
      </p:sp>
      <p:sp>
        <p:nvSpPr>
          <p:cNvPr id="23" name="Parallelogram 22"/>
          <p:cNvSpPr/>
          <p:nvPr/>
        </p:nvSpPr>
        <p:spPr>
          <a:xfrm>
            <a:off x="7223760" y="109728"/>
            <a:ext cx="1527048" cy="356616"/>
          </a:xfrm>
          <a:prstGeom prst="parallelogram">
            <a:avLst/>
          </a:prstGeom>
          <a:solidFill>
            <a:srgbClr val="04457D">
              <a:alpha val="82000"/>
            </a:srgbClr>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0" y="109728"/>
            <a:ext cx="1527048" cy="356616"/>
          </a:xfrm>
          <a:prstGeom prst="rect">
            <a:avLst/>
          </a:prstGeom>
          <a:noFill/>
        </p:spPr>
        <p:txBody>
          <a:bodyPr wrap="square" lIns="18288" rIns="18288" tIns="18288" bIns="18288" anchor="ctr">
            <a:spAutoFit/>
          </a:bodyPr>
          <a:lstStyle/>
          <a:p>
            <a:pPr algn="ctr">
              <a:lnSpc>
                <a:spcPct val="100000"/>
              </a:lnSpc>
              <a:spcAft>
                <a:spcPts val="200"/>
              </a:spcAft>
            </a:pPr>
            <a:r>
              <a:rPr sz="1200" b="0">
                <a:solidFill>
                  <a:srgbClr val="9EC2D8"/>
                </a:solidFill>
                <a:latin typeface="微软雅黑"/>
                <a:ea typeface="微软雅黑"/>
              </a:rPr>
              <a:t>完整流程</a:t>
            </a:r>
          </a:p>
        </p:txBody>
      </p:sp>
      <p:sp>
        <p:nvSpPr>
          <p:cNvPr id="25" name="Parallelogram 24"/>
          <p:cNvSpPr/>
          <p:nvPr/>
        </p:nvSpPr>
        <p:spPr>
          <a:xfrm>
            <a:off x="8823960" y="109728"/>
            <a:ext cx="1527048" cy="356616"/>
          </a:xfrm>
          <a:prstGeom prst="parallelogram">
            <a:avLst/>
          </a:prstGeom>
          <a:solidFill>
            <a:srgbClr val="04457D">
              <a:alpha val="82000"/>
            </a:srgbClr>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23960" y="109728"/>
            <a:ext cx="1527048" cy="356616"/>
          </a:xfrm>
          <a:prstGeom prst="rect">
            <a:avLst/>
          </a:prstGeom>
          <a:noFill/>
        </p:spPr>
        <p:txBody>
          <a:bodyPr wrap="square" lIns="18288" rIns="18288" tIns="18288" bIns="18288" anchor="ctr">
            <a:spAutoFit/>
          </a:bodyPr>
          <a:lstStyle/>
          <a:p>
            <a:pPr algn="ctr">
              <a:lnSpc>
                <a:spcPct val="100000"/>
              </a:lnSpc>
              <a:spcAft>
                <a:spcPts val="200"/>
              </a:spcAft>
            </a:pPr>
            <a:r>
              <a:rPr sz="1200" b="0">
                <a:solidFill>
                  <a:srgbClr val="9EC2D8"/>
                </a:solidFill>
                <a:latin typeface="微软雅黑"/>
                <a:ea typeface="微软雅黑"/>
              </a:rPr>
              <a:t>成果展望</a:t>
            </a:r>
          </a:p>
        </p:txBody>
      </p:sp>
      <p:sp>
        <p:nvSpPr>
          <p:cNvPr id="27" name="TextBox 26"/>
          <p:cNvSpPr txBox="1"/>
          <p:nvPr/>
        </p:nvSpPr>
        <p:spPr>
          <a:xfrm>
            <a:off x="10716768" y="109728"/>
            <a:ext cx="1051560" cy="347472"/>
          </a:xfrm>
          <a:prstGeom prst="rect">
            <a:avLst/>
          </a:prstGeom>
          <a:noFill/>
        </p:spPr>
        <p:txBody>
          <a:bodyPr wrap="square" lIns="18288" rIns="18288" tIns="18288" bIns="18288" anchor="ctr">
            <a:spAutoFit/>
          </a:bodyPr>
          <a:lstStyle/>
          <a:p>
            <a:pPr algn="r">
              <a:lnSpc>
                <a:spcPct val="100000"/>
              </a:lnSpc>
              <a:spcAft>
                <a:spcPts val="200"/>
              </a:spcAft>
            </a:pPr>
            <a:r>
              <a:rPr sz="1100" b="0">
                <a:solidFill>
                  <a:srgbClr val="9EC2D8"/>
                </a:solidFill>
                <a:latin typeface="微软雅黑"/>
                <a:ea typeface="微软雅黑"/>
              </a:rPr>
              <a:t>04 / 04</a:t>
            </a:r>
          </a:p>
        </p:txBody>
      </p:sp>
      <p:sp>
        <p:nvSpPr>
          <p:cNvPr id="28" name="Rectangle 27"/>
          <p:cNvSpPr/>
          <p:nvPr/>
        </p:nvSpPr>
        <p:spPr>
          <a:xfrm>
            <a:off x="0" y="658368"/>
            <a:ext cx="12191695" cy="411480"/>
          </a:xfrm>
          <a:prstGeom prst="rect">
            <a:avLst/>
          </a:prstGeom>
          <a:solidFill>
            <a:srgbClr val="02163B"/>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7472" y="722376"/>
            <a:ext cx="822960" cy="246888"/>
          </a:xfrm>
          <a:prstGeom prst="rect">
            <a:avLst/>
          </a:prstGeom>
          <a:noFill/>
        </p:spPr>
        <p:txBody>
          <a:bodyPr wrap="square" lIns="18288" rIns="18288" tIns="18288" bIns="18288" anchor="ctr">
            <a:spAutoFit/>
          </a:bodyPr>
          <a:lstStyle/>
          <a:p>
            <a:pPr algn="l">
              <a:lnSpc>
                <a:spcPct val="100000"/>
              </a:lnSpc>
              <a:spcAft>
                <a:spcPts val="200"/>
              </a:spcAft>
            </a:pPr>
            <a:r>
              <a:rPr sz="1000" b="1">
                <a:solidFill>
                  <a:srgbClr val="9EC2D8"/>
                </a:solidFill>
                <a:latin typeface="微软雅黑"/>
                <a:ea typeface="微软雅黑"/>
              </a:rPr>
              <a:t>技能地图</a:t>
            </a:r>
          </a:p>
        </p:txBody>
      </p:sp>
      <p:sp>
        <p:nvSpPr>
          <p:cNvPr id="30" name="Rounded Rectangle 29"/>
          <p:cNvSpPr/>
          <p:nvPr/>
        </p:nvSpPr>
        <p:spPr>
          <a:xfrm>
            <a:off x="1216152" y="713232"/>
            <a:ext cx="1444752" cy="265176"/>
          </a:xfrm>
          <a:prstGeom prst="roundRect">
            <a:avLst>
              <a:gd name="adj" fmla="val 8000"/>
            </a:avLst>
          </a:prstGeom>
          <a:solidFill>
            <a:srgbClr val="032B5C"/>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16152" y="713232"/>
            <a:ext cx="1444752" cy="265176"/>
          </a:xfrm>
          <a:prstGeom prst="rect">
            <a:avLst/>
          </a:prstGeom>
          <a:noFill/>
        </p:spPr>
        <p:txBody>
          <a:bodyPr wrap="square" lIns="18288" rIns="18288" tIns="18288" bIns="18288" anchor="ctr">
            <a:spAutoFit/>
          </a:bodyPr>
          <a:lstStyle/>
          <a:p>
            <a:pPr algn="ctr">
              <a:lnSpc>
                <a:spcPct val="100000"/>
              </a:lnSpc>
              <a:spcAft>
                <a:spcPts val="200"/>
              </a:spcAft>
            </a:pPr>
            <a:r>
              <a:rPr sz="1050" b="0">
                <a:solidFill>
                  <a:srgbClr val="9EC2D8"/>
                </a:solidFill>
                <a:latin typeface="微软雅黑"/>
                <a:ea typeface="微软雅黑"/>
              </a:rPr>
              <a:t>总控</a:t>
            </a:r>
          </a:p>
        </p:txBody>
      </p:sp>
      <p:sp>
        <p:nvSpPr>
          <p:cNvPr id="32" name="Rounded Rectangle 31"/>
          <p:cNvSpPr/>
          <p:nvPr/>
        </p:nvSpPr>
        <p:spPr>
          <a:xfrm>
            <a:off x="2834640" y="713232"/>
            <a:ext cx="1444752" cy="265176"/>
          </a:xfrm>
          <a:prstGeom prst="roundRect">
            <a:avLst>
              <a:gd name="adj" fmla="val 8000"/>
            </a:avLst>
          </a:prstGeom>
          <a:solidFill>
            <a:srgbClr val="032B5C"/>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34640" y="713232"/>
            <a:ext cx="1444752" cy="265176"/>
          </a:xfrm>
          <a:prstGeom prst="rect">
            <a:avLst/>
          </a:prstGeom>
          <a:noFill/>
        </p:spPr>
        <p:txBody>
          <a:bodyPr wrap="square" lIns="18288" rIns="18288" tIns="18288" bIns="18288" anchor="ctr">
            <a:spAutoFit/>
          </a:bodyPr>
          <a:lstStyle/>
          <a:p>
            <a:pPr algn="ctr">
              <a:lnSpc>
                <a:spcPct val="100000"/>
              </a:lnSpc>
              <a:spcAft>
                <a:spcPts val="200"/>
              </a:spcAft>
            </a:pPr>
            <a:r>
              <a:rPr sz="1050" b="0">
                <a:solidFill>
                  <a:srgbClr val="9EC2D8"/>
                </a:solidFill>
                <a:latin typeface="微软雅黑"/>
                <a:ea typeface="微软雅黑"/>
              </a:rPr>
              <a:t>招聘</a:t>
            </a:r>
          </a:p>
        </p:txBody>
      </p:sp>
      <p:sp>
        <p:nvSpPr>
          <p:cNvPr id="34" name="Rounded Rectangle 33"/>
          <p:cNvSpPr/>
          <p:nvPr/>
        </p:nvSpPr>
        <p:spPr>
          <a:xfrm>
            <a:off x="4453128" y="713232"/>
            <a:ext cx="1444752" cy="265176"/>
          </a:xfrm>
          <a:prstGeom prst="roundRect">
            <a:avLst>
              <a:gd name="adj" fmla="val 8000"/>
            </a:avLst>
          </a:prstGeom>
          <a:solidFill>
            <a:srgbClr val="032B5C"/>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53128" y="713232"/>
            <a:ext cx="1444752" cy="265176"/>
          </a:xfrm>
          <a:prstGeom prst="rect">
            <a:avLst/>
          </a:prstGeom>
          <a:noFill/>
        </p:spPr>
        <p:txBody>
          <a:bodyPr wrap="square" lIns="18288" rIns="18288" tIns="18288" bIns="18288" anchor="ctr">
            <a:spAutoFit/>
          </a:bodyPr>
          <a:lstStyle/>
          <a:p>
            <a:pPr algn="ctr">
              <a:lnSpc>
                <a:spcPct val="100000"/>
              </a:lnSpc>
              <a:spcAft>
                <a:spcPts val="200"/>
              </a:spcAft>
            </a:pPr>
            <a:r>
              <a:rPr sz="1050" b="0">
                <a:solidFill>
                  <a:srgbClr val="9EC2D8"/>
                </a:solidFill>
                <a:latin typeface="微软雅黑"/>
                <a:ea typeface="微软雅黑"/>
              </a:rPr>
              <a:t>入职</a:t>
            </a:r>
          </a:p>
        </p:txBody>
      </p:sp>
      <p:sp>
        <p:nvSpPr>
          <p:cNvPr id="36" name="Rounded Rectangle 35"/>
          <p:cNvSpPr/>
          <p:nvPr/>
        </p:nvSpPr>
        <p:spPr>
          <a:xfrm>
            <a:off x="6071616" y="713232"/>
            <a:ext cx="1444752" cy="265176"/>
          </a:xfrm>
          <a:prstGeom prst="roundRect">
            <a:avLst>
              <a:gd name="adj" fmla="val 8000"/>
            </a:avLst>
          </a:prstGeom>
          <a:solidFill>
            <a:srgbClr val="032B5C"/>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71616" y="713232"/>
            <a:ext cx="1444752" cy="265176"/>
          </a:xfrm>
          <a:prstGeom prst="rect">
            <a:avLst/>
          </a:prstGeom>
          <a:noFill/>
        </p:spPr>
        <p:txBody>
          <a:bodyPr wrap="square" lIns="18288" rIns="18288" tIns="18288" bIns="18288" anchor="ctr">
            <a:spAutoFit/>
          </a:bodyPr>
          <a:lstStyle/>
          <a:p>
            <a:pPr algn="ctr">
              <a:lnSpc>
                <a:spcPct val="100000"/>
              </a:lnSpc>
              <a:spcAft>
                <a:spcPts val="200"/>
              </a:spcAft>
            </a:pPr>
            <a:r>
              <a:rPr sz="1050" b="0">
                <a:solidFill>
                  <a:srgbClr val="9EC2D8"/>
                </a:solidFill>
                <a:latin typeface="微软雅黑"/>
                <a:ea typeface="微软雅黑"/>
              </a:rPr>
              <a:t>培训</a:t>
            </a:r>
          </a:p>
        </p:txBody>
      </p:sp>
      <p:sp>
        <p:nvSpPr>
          <p:cNvPr id="38" name="Rounded Rectangle 37"/>
          <p:cNvSpPr/>
          <p:nvPr/>
        </p:nvSpPr>
        <p:spPr>
          <a:xfrm>
            <a:off x="7690104" y="713232"/>
            <a:ext cx="1444752" cy="265176"/>
          </a:xfrm>
          <a:prstGeom prst="roundRect">
            <a:avLst>
              <a:gd name="adj" fmla="val 8000"/>
            </a:avLst>
          </a:prstGeom>
          <a:solidFill>
            <a:srgbClr val="032B5C"/>
          </a:solidFill>
          <a:ln w="12700">
            <a:solidFill>
              <a:srgbClr val="126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90104" y="713232"/>
            <a:ext cx="1444752" cy="265176"/>
          </a:xfrm>
          <a:prstGeom prst="rect">
            <a:avLst/>
          </a:prstGeom>
          <a:noFill/>
        </p:spPr>
        <p:txBody>
          <a:bodyPr wrap="square" lIns="18288" rIns="18288" tIns="18288" bIns="18288" anchor="ctr">
            <a:spAutoFit/>
          </a:bodyPr>
          <a:lstStyle/>
          <a:p>
            <a:pPr algn="ctr">
              <a:lnSpc>
                <a:spcPct val="100000"/>
              </a:lnSpc>
              <a:spcAft>
                <a:spcPts val="200"/>
              </a:spcAft>
            </a:pPr>
            <a:r>
              <a:rPr sz="1050" b="0">
                <a:solidFill>
                  <a:srgbClr val="9EC2D8"/>
                </a:solidFill>
                <a:latin typeface="微软雅黑"/>
                <a:ea typeface="微软雅黑"/>
              </a:rPr>
              <a:t>绩效</a:t>
            </a:r>
          </a:p>
        </p:txBody>
      </p:sp>
      <p:sp>
        <p:nvSpPr>
          <p:cNvPr id="40" name="Rounded Rectangle 39"/>
          <p:cNvSpPr/>
          <p:nvPr/>
        </p:nvSpPr>
        <p:spPr>
          <a:xfrm>
            <a:off x="9308592" y="713232"/>
            <a:ext cx="1444752" cy="265176"/>
          </a:xfrm>
          <a:prstGeom prst="roundRect">
            <a:avLst>
              <a:gd name="adj" fmla="val 8000"/>
            </a:avLst>
          </a:prstGeom>
          <a:solidFill>
            <a:srgbClr val="00D8FF"/>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08592" y="713232"/>
            <a:ext cx="1444752" cy="265176"/>
          </a:xfrm>
          <a:prstGeom prst="rect">
            <a:avLst/>
          </a:prstGeom>
          <a:noFill/>
        </p:spPr>
        <p:txBody>
          <a:bodyPr wrap="square" lIns="18288" rIns="18288" tIns="18288" bIns="18288" anchor="ctr">
            <a:spAutoFit/>
          </a:bodyPr>
          <a:lstStyle/>
          <a:p>
            <a:pPr algn="ctr">
              <a:lnSpc>
                <a:spcPct val="100000"/>
              </a:lnSpc>
              <a:spcAft>
                <a:spcPts val="200"/>
              </a:spcAft>
            </a:pPr>
            <a:r>
              <a:rPr sz="1050" b="1">
                <a:solidFill>
                  <a:srgbClr val="02163B"/>
                </a:solidFill>
                <a:latin typeface="微软雅黑"/>
                <a:ea typeface="微软雅黑"/>
              </a:rPr>
              <a:t>行政</a:t>
            </a:r>
          </a:p>
        </p:txBody>
      </p:sp>
      <p:sp>
        <p:nvSpPr>
          <p:cNvPr id="42" name="TextBox 41"/>
          <p:cNvSpPr txBox="1"/>
          <p:nvPr/>
        </p:nvSpPr>
        <p:spPr>
          <a:xfrm>
            <a:off x="438912" y="1170432"/>
            <a:ext cx="4389120" cy="228600"/>
          </a:xfrm>
          <a:prstGeom prst="rect">
            <a:avLst/>
          </a:prstGeom>
          <a:noFill/>
        </p:spPr>
        <p:txBody>
          <a:bodyPr wrap="square" lIns="18288" rIns="18288" tIns="18288" bIns="18288" anchor="t">
            <a:spAutoFit/>
          </a:bodyPr>
          <a:lstStyle/>
          <a:p>
            <a:pPr algn="l">
              <a:lnSpc>
                <a:spcPct val="100000"/>
              </a:lnSpc>
              <a:spcAft>
                <a:spcPts val="200"/>
              </a:spcAft>
            </a:pPr>
            <a:r>
              <a:rPr sz="1050" b="1">
                <a:solidFill>
                  <a:srgbClr val="00D8FF"/>
                </a:solidFill>
                <a:latin typeface="微软雅黑"/>
                <a:ea typeface="微软雅黑"/>
              </a:rPr>
              <a:t>06  PERMISSION · LIVE DEMO</a:t>
            </a:r>
          </a:p>
        </p:txBody>
      </p:sp>
      <p:sp>
        <p:nvSpPr>
          <p:cNvPr id="43" name="TextBox 42"/>
          <p:cNvSpPr txBox="1"/>
          <p:nvPr/>
        </p:nvSpPr>
        <p:spPr>
          <a:xfrm>
            <a:off x="420624" y="1399032"/>
            <a:ext cx="11155680" cy="448056"/>
          </a:xfrm>
          <a:prstGeom prst="rect">
            <a:avLst/>
          </a:prstGeom>
          <a:noFill/>
        </p:spPr>
        <p:txBody>
          <a:bodyPr wrap="square" lIns="18288" rIns="18288" tIns="18288" bIns="18288" anchor="t">
            <a:spAutoFit/>
          </a:bodyPr>
          <a:lstStyle/>
          <a:p>
            <a:pPr algn="l">
              <a:lnSpc>
                <a:spcPct val="100000"/>
              </a:lnSpc>
              <a:spcAft>
                <a:spcPts val="200"/>
              </a:spcAft>
            </a:pPr>
            <a:r>
              <a:rPr sz="2200" b="1">
                <a:solidFill>
                  <a:srgbClr val="FFFFFF"/>
                </a:solidFill>
                <a:latin typeface="优设标题黑"/>
                <a:ea typeface="优设标题黑"/>
              </a:rPr>
              <a:t>权限分级：同一请求，不同身份，不同结果</a:t>
            </a:r>
          </a:p>
        </p:txBody>
      </p:sp>
      <p:sp>
        <p:nvSpPr>
          <p:cNvPr id="44" name="Rectangle 43"/>
          <p:cNvSpPr/>
          <p:nvPr/>
        </p:nvSpPr>
        <p:spPr>
          <a:xfrm>
            <a:off x="429768" y="1901952"/>
            <a:ext cx="685800" cy="45720"/>
          </a:xfrm>
          <a:prstGeom prst="rect">
            <a:avLst/>
          </a:prstGeom>
          <a:solidFill>
            <a:srgbClr val="00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80160" y="1819656"/>
            <a:ext cx="10149840" cy="265176"/>
          </a:xfrm>
          <a:prstGeom prst="rect">
            <a:avLst/>
          </a:prstGeom>
          <a:noFill/>
        </p:spPr>
        <p:txBody>
          <a:bodyPr wrap="square" lIns="18288" rIns="18288" tIns="18288" bIns="18288" anchor="t">
            <a:spAutoFit/>
          </a:bodyPr>
          <a:lstStyle/>
          <a:p>
            <a:pPr algn="l">
              <a:lnSpc>
                <a:spcPct val="100000"/>
              </a:lnSpc>
              <a:spcAft>
                <a:spcPts val="200"/>
              </a:spcAft>
            </a:pPr>
            <a:r>
              <a:rPr sz="1120" b="0">
                <a:solidFill>
                  <a:srgbClr val="9EC2D8"/>
                </a:solidFill>
                <a:latin typeface="微软雅黑"/>
                <a:ea typeface="微软雅黑"/>
              </a:rPr>
              <a:t>不提前展示答案；下面切换两个真实飞书身份，验证敏感数据在读取前被拦截</a:t>
            </a:r>
          </a:p>
        </p:txBody>
      </p:sp>
      <p:sp>
        <p:nvSpPr>
          <p:cNvPr id="46" name="Rounded Rectangle 45"/>
          <p:cNvSpPr/>
          <p:nvPr/>
        </p:nvSpPr>
        <p:spPr>
          <a:xfrm>
            <a:off x="621792" y="2176272"/>
            <a:ext cx="2414016" cy="658368"/>
          </a:xfrm>
          <a:prstGeom prst="roundRect">
            <a:avLst>
              <a:gd name="adj" fmla="val 8000"/>
            </a:avLst>
          </a:prstGeom>
          <a:solidFill>
            <a:srgbClr val="032B5C"/>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096" y="2350008"/>
            <a:ext cx="347472" cy="201168"/>
          </a:xfrm>
          <a:prstGeom prst="rect">
            <a:avLst/>
          </a:prstGeom>
          <a:noFill/>
        </p:spPr>
        <p:txBody>
          <a:bodyPr wrap="square" lIns="18288" rIns="18288" tIns="18288" bIns="18288" anchor="t">
            <a:spAutoFit/>
          </a:bodyPr>
          <a:lstStyle/>
          <a:p>
            <a:pPr algn="l">
              <a:lnSpc>
                <a:spcPct val="100000"/>
              </a:lnSpc>
              <a:spcAft>
                <a:spcPts val="200"/>
              </a:spcAft>
            </a:pPr>
            <a:r>
              <a:rPr sz="950" b="1">
                <a:solidFill>
                  <a:srgbClr val="00D8FF"/>
                </a:solidFill>
                <a:latin typeface="微软雅黑"/>
                <a:ea typeface="微软雅黑"/>
              </a:rPr>
              <a:t>01</a:t>
            </a:r>
          </a:p>
        </p:txBody>
      </p:sp>
      <p:sp>
        <p:nvSpPr>
          <p:cNvPr id="48" name="TextBox 47"/>
          <p:cNvSpPr txBox="1"/>
          <p:nvPr/>
        </p:nvSpPr>
        <p:spPr>
          <a:xfrm>
            <a:off x="1124712" y="2276856"/>
            <a:ext cx="1719072" cy="283464"/>
          </a:xfrm>
          <a:prstGeom prst="rect">
            <a:avLst/>
          </a:prstGeom>
          <a:noFill/>
        </p:spPr>
        <p:txBody>
          <a:bodyPr wrap="square" lIns="18288" rIns="18288" tIns="18288" bIns="18288" anchor="t">
            <a:spAutoFit/>
          </a:bodyPr>
          <a:lstStyle/>
          <a:p>
            <a:pPr algn="ctr">
              <a:lnSpc>
                <a:spcPct val="100000"/>
              </a:lnSpc>
              <a:spcAft>
                <a:spcPts val="200"/>
              </a:spcAft>
            </a:pPr>
            <a:r>
              <a:rPr sz="1180" b="1">
                <a:solidFill>
                  <a:srgbClr val="E9F8FF"/>
                </a:solidFill>
                <a:latin typeface="微软雅黑"/>
                <a:ea typeface="微软雅黑"/>
              </a:rPr>
              <a:t>飞书 sender_id</a:t>
            </a:r>
          </a:p>
        </p:txBody>
      </p:sp>
      <p:cxnSp>
        <p:nvCxnSpPr>
          <p:cNvPr id="49" name="Connector 48"/>
          <p:cNvCxnSpPr/>
          <p:nvPr/>
        </p:nvCxnSpPr>
        <p:spPr>
          <a:xfrm>
            <a:off x="3035808" y="2505456"/>
            <a:ext cx="374904" cy="0"/>
          </a:xfrm>
          <a:prstGeom prst="line">
            <a:avLst/>
          </a:prstGeom>
          <a:ln w="13970">
            <a:solidFill>
              <a:srgbClr val="00D8FF"/>
            </a:solidFill>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3474720" y="2176272"/>
            <a:ext cx="2414016" cy="658368"/>
          </a:xfrm>
          <a:prstGeom prst="roundRect">
            <a:avLst>
              <a:gd name="adj" fmla="val 8000"/>
            </a:avLst>
          </a:prstGeom>
          <a:solidFill>
            <a:srgbClr val="032B5C"/>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621024" y="2350008"/>
            <a:ext cx="347472" cy="201168"/>
          </a:xfrm>
          <a:prstGeom prst="rect">
            <a:avLst/>
          </a:prstGeom>
          <a:noFill/>
        </p:spPr>
        <p:txBody>
          <a:bodyPr wrap="square" lIns="18288" rIns="18288" tIns="18288" bIns="18288" anchor="t">
            <a:spAutoFit/>
          </a:bodyPr>
          <a:lstStyle/>
          <a:p>
            <a:pPr algn="l">
              <a:lnSpc>
                <a:spcPct val="100000"/>
              </a:lnSpc>
              <a:spcAft>
                <a:spcPts val="200"/>
              </a:spcAft>
            </a:pPr>
            <a:r>
              <a:rPr sz="950" b="1">
                <a:solidFill>
                  <a:srgbClr val="00D8FF"/>
                </a:solidFill>
                <a:latin typeface="微软雅黑"/>
                <a:ea typeface="微软雅黑"/>
              </a:rPr>
              <a:t>02</a:t>
            </a:r>
          </a:p>
        </p:txBody>
      </p:sp>
      <p:sp>
        <p:nvSpPr>
          <p:cNvPr id="52" name="TextBox 51"/>
          <p:cNvSpPr txBox="1"/>
          <p:nvPr/>
        </p:nvSpPr>
        <p:spPr>
          <a:xfrm>
            <a:off x="3977640" y="2276856"/>
            <a:ext cx="1719072" cy="283464"/>
          </a:xfrm>
          <a:prstGeom prst="rect">
            <a:avLst/>
          </a:prstGeom>
          <a:noFill/>
        </p:spPr>
        <p:txBody>
          <a:bodyPr wrap="square" lIns="18288" rIns="18288" tIns="18288" bIns="18288" anchor="t">
            <a:spAutoFit/>
          </a:bodyPr>
          <a:lstStyle/>
          <a:p>
            <a:pPr algn="ctr">
              <a:lnSpc>
                <a:spcPct val="100000"/>
              </a:lnSpc>
              <a:spcAft>
                <a:spcPts val="200"/>
              </a:spcAft>
            </a:pPr>
            <a:r>
              <a:rPr sz="1180" b="1">
                <a:solidFill>
                  <a:srgbClr val="E9F8FF"/>
                </a:solidFill>
                <a:latin typeface="微软雅黑"/>
                <a:ea typeface="微软雅黑"/>
              </a:rPr>
              <a:t>身份识别</a:t>
            </a:r>
          </a:p>
        </p:txBody>
      </p:sp>
      <p:cxnSp>
        <p:nvCxnSpPr>
          <p:cNvPr id="53" name="Connector 52"/>
          <p:cNvCxnSpPr/>
          <p:nvPr/>
        </p:nvCxnSpPr>
        <p:spPr>
          <a:xfrm>
            <a:off x="5888736" y="2505456"/>
            <a:ext cx="374904" cy="0"/>
          </a:xfrm>
          <a:prstGeom prst="line">
            <a:avLst/>
          </a:prstGeom>
          <a:ln w="13970">
            <a:solidFill>
              <a:srgbClr val="00D8FF"/>
            </a:solidFill>
          </a:ln>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6327648" y="2176272"/>
            <a:ext cx="2414016" cy="658368"/>
          </a:xfrm>
          <a:prstGeom prst="roundRect">
            <a:avLst>
              <a:gd name="adj" fmla="val 8000"/>
            </a:avLst>
          </a:prstGeom>
          <a:solidFill>
            <a:srgbClr val="032B5C"/>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73952" y="2350008"/>
            <a:ext cx="347472" cy="201168"/>
          </a:xfrm>
          <a:prstGeom prst="rect">
            <a:avLst/>
          </a:prstGeom>
          <a:noFill/>
        </p:spPr>
        <p:txBody>
          <a:bodyPr wrap="square" lIns="18288" rIns="18288" tIns="18288" bIns="18288" anchor="t">
            <a:spAutoFit/>
          </a:bodyPr>
          <a:lstStyle/>
          <a:p>
            <a:pPr algn="l">
              <a:lnSpc>
                <a:spcPct val="100000"/>
              </a:lnSpc>
              <a:spcAft>
                <a:spcPts val="200"/>
              </a:spcAft>
            </a:pPr>
            <a:r>
              <a:rPr sz="950" b="1">
                <a:solidFill>
                  <a:srgbClr val="00D8FF"/>
                </a:solidFill>
                <a:latin typeface="微软雅黑"/>
                <a:ea typeface="微软雅黑"/>
              </a:rPr>
              <a:t>03</a:t>
            </a:r>
          </a:p>
        </p:txBody>
      </p:sp>
      <p:sp>
        <p:nvSpPr>
          <p:cNvPr id="56" name="TextBox 55"/>
          <p:cNvSpPr txBox="1"/>
          <p:nvPr/>
        </p:nvSpPr>
        <p:spPr>
          <a:xfrm>
            <a:off x="6830568" y="2276856"/>
            <a:ext cx="1719072" cy="283464"/>
          </a:xfrm>
          <a:prstGeom prst="rect">
            <a:avLst/>
          </a:prstGeom>
          <a:noFill/>
        </p:spPr>
        <p:txBody>
          <a:bodyPr wrap="square" lIns="18288" rIns="18288" tIns="18288" bIns="18288" anchor="t">
            <a:spAutoFit/>
          </a:bodyPr>
          <a:lstStyle/>
          <a:p>
            <a:pPr algn="ctr">
              <a:lnSpc>
                <a:spcPct val="100000"/>
              </a:lnSpc>
              <a:spcAft>
                <a:spcPts val="200"/>
              </a:spcAft>
            </a:pPr>
            <a:r>
              <a:rPr sz="1180" b="1">
                <a:solidFill>
                  <a:srgbClr val="E9F8FF"/>
                </a:solidFill>
                <a:latin typeface="微软雅黑"/>
                <a:ea typeface="微软雅黑"/>
              </a:rPr>
              <a:t>脚本权限闸门</a:t>
            </a:r>
          </a:p>
        </p:txBody>
      </p:sp>
      <p:cxnSp>
        <p:nvCxnSpPr>
          <p:cNvPr id="57" name="Connector 56"/>
          <p:cNvCxnSpPr/>
          <p:nvPr/>
        </p:nvCxnSpPr>
        <p:spPr>
          <a:xfrm>
            <a:off x="8741664" y="2505456"/>
            <a:ext cx="374904" cy="0"/>
          </a:xfrm>
          <a:prstGeom prst="line">
            <a:avLst/>
          </a:prstGeom>
          <a:ln w="13970">
            <a:solidFill>
              <a:srgbClr val="00D8FF"/>
            </a:solidFill>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9180576" y="2176272"/>
            <a:ext cx="2414016" cy="658368"/>
          </a:xfrm>
          <a:prstGeom prst="roundRect">
            <a:avLst>
              <a:gd name="adj" fmla="val 8000"/>
            </a:avLst>
          </a:prstGeom>
          <a:solidFill>
            <a:srgbClr val="032B5C"/>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326880" y="2350008"/>
            <a:ext cx="347472" cy="201168"/>
          </a:xfrm>
          <a:prstGeom prst="rect">
            <a:avLst/>
          </a:prstGeom>
          <a:noFill/>
        </p:spPr>
        <p:txBody>
          <a:bodyPr wrap="square" lIns="18288" rIns="18288" tIns="18288" bIns="18288" anchor="t">
            <a:spAutoFit/>
          </a:bodyPr>
          <a:lstStyle/>
          <a:p>
            <a:pPr algn="l">
              <a:lnSpc>
                <a:spcPct val="100000"/>
              </a:lnSpc>
              <a:spcAft>
                <a:spcPts val="200"/>
              </a:spcAft>
            </a:pPr>
            <a:r>
              <a:rPr sz="950" b="1">
                <a:solidFill>
                  <a:srgbClr val="00D8FF"/>
                </a:solidFill>
                <a:latin typeface="微软雅黑"/>
                <a:ea typeface="微软雅黑"/>
              </a:rPr>
              <a:t>04</a:t>
            </a:r>
          </a:p>
        </p:txBody>
      </p:sp>
      <p:sp>
        <p:nvSpPr>
          <p:cNvPr id="60" name="TextBox 59"/>
          <p:cNvSpPr txBox="1"/>
          <p:nvPr/>
        </p:nvSpPr>
        <p:spPr>
          <a:xfrm>
            <a:off x="9683496" y="2276856"/>
            <a:ext cx="1719072" cy="283464"/>
          </a:xfrm>
          <a:prstGeom prst="rect">
            <a:avLst/>
          </a:prstGeom>
          <a:noFill/>
        </p:spPr>
        <p:txBody>
          <a:bodyPr wrap="square" lIns="18288" rIns="18288" tIns="18288" bIns="18288" anchor="t">
            <a:spAutoFit/>
          </a:bodyPr>
          <a:lstStyle/>
          <a:p>
            <a:pPr algn="ctr">
              <a:lnSpc>
                <a:spcPct val="100000"/>
              </a:lnSpc>
              <a:spcAft>
                <a:spcPts val="200"/>
              </a:spcAft>
            </a:pPr>
            <a:r>
              <a:rPr sz="1180" b="1">
                <a:solidFill>
                  <a:srgbClr val="E9F8FF"/>
                </a:solidFill>
                <a:latin typeface="微软雅黑"/>
                <a:ea typeface="微软雅黑"/>
              </a:rPr>
              <a:t>是否读取 HCM</a:t>
            </a:r>
          </a:p>
        </p:txBody>
      </p:sp>
      <p:sp>
        <p:nvSpPr>
          <p:cNvPr id="61" name="Rounded Rectangle 60"/>
          <p:cNvSpPr/>
          <p:nvPr/>
        </p:nvSpPr>
        <p:spPr>
          <a:xfrm>
            <a:off x="438912" y="3154680"/>
            <a:ext cx="3657600" cy="1591056"/>
          </a:xfrm>
          <a:prstGeom prst="roundRect">
            <a:avLst>
              <a:gd name="adj" fmla="val 8000"/>
            </a:avLst>
          </a:prstGeom>
          <a:solidFill>
            <a:srgbClr val="032B5C">
              <a:alpha val="97000"/>
            </a:srgbClr>
          </a:solidFill>
          <a:ln w="12700">
            <a:solidFill>
              <a:srgbClr val="FFA4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438912" y="3154680"/>
            <a:ext cx="73152" cy="1591056"/>
          </a:xfrm>
          <a:prstGeom prst="rect">
            <a:avLst/>
          </a:prstGeom>
          <a:solidFill>
            <a:srgbClr val="FFA4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21792" y="3282696"/>
            <a:ext cx="3291840" cy="274320"/>
          </a:xfrm>
          <a:prstGeom prst="rect">
            <a:avLst/>
          </a:prstGeom>
          <a:noFill/>
        </p:spPr>
        <p:txBody>
          <a:bodyPr wrap="square" lIns="18288" rIns="18288" tIns="18288" bIns="18288" anchor="t">
            <a:spAutoFit/>
          </a:bodyPr>
          <a:lstStyle/>
          <a:p>
            <a:pPr algn="l">
              <a:lnSpc>
                <a:spcPct val="100000"/>
              </a:lnSpc>
              <a:spcAft>
                <a:spcPts val="200"/>
              </a:spcAft>
            </a:pPr>
            <a:r>
              <a:rPr sz="1300" b="1">
                <a:solidFill>
                  <a:srgbClr val="FFA421"/>
                </a:solidFill>
                <a:latin typeface="微软雅黑"/>
                <a:ea typeface="微软雅黑"/>
              </a:rPr>
              <a:t>普通员工（演示）</a:t>
            </a:r>
          </a:p>
        </p:txBody>
      </p:sp>
      <p:sp>
        <p:nvSpPr>
          <p:cNvPr id="64" name="TextBox 63"/>
          <p:cNvSpPr txBox="1"/>
          <p:nvPr/>
        </p:nvSpPr>
        <p:spPr>
          <a:xfrm>
            <a:off x="621792" y="3685032"/>
            <a:ext cx="3291840" cy="950976"/>
          </a:xfrm>
          <a:prstGeom prst="rect">
            <a:avLst/>
          </a:prstGeom>
          <a:noFill/>
        </p:spPr>
        <p:txBody>
          <a:bodyPr wrap="square" lIns="18288" rIns="18288" tIns="18288" bIns="18288" anchor="t">
            <a:spAutoFit/>
          </a:bodyPr>
          <a:lstStyle/>
          <a:p>
            <a:pPr algn="l">
              <a:lnSpc>
                <a:spcPct val="95000"/>
              </a:lnSpc>
              <a:spcAft>
                <a:spcPts val="200"/>
              </a:spcAft>
            </a:pPr>
            <a:r>
              <a:rPr sz="1180" b="0">
                <a:solidFill>
                  <a:srgbClr val="E9F8FF"/>
                </a:solidFill>
                <a:latin typeface="微软雅黑"/>
                <a:ea typeface="微软雅黑"/>
              </a:rPr>
              <a:t>相同请求：请查询员工1的合同薪资</a:t>
            </a:r>
          </a:p>
          <a:p>
            <a:pPr algn="l">
              <a:lnSpc>
                <a:spcPct val="95000"/>
              </a:lnSpc>
              <a:spcAft>
                <a:spcPts val="200"/>
              </a:spcAft>
            </a:pPr>
            <a:r>
              <a:rPr sz="1180" b="0">
                <a:solidFill>
                  <a:srgbClr val="E9F8FF"/>
                </a:solidFill>
                <a:latin typeface="微软雅黑"/>
                <a:ea typeface="微软雅黑"/>
              </a:rPr>
              <a:t/>
            </a:r>
          </a:p>
          <a:p>
            <a:pPr algn="l">
              <a:lnSpc>
                <a:spcPct val="95000"/>
              </a:lnSpc>
              <a:spcAft>
                <a:spcPts val="200"/>
              </a:spcAft>
            </a:pPr>
            <a:r>
              <a:rPr sz="1180" b="0">
                <a:solidFill>
                  <a:srgbClr val="E9F8FF"/>
                </a:solidFill>
                <a:latin typeface="微软雅黑"/>
                <a:ea typeface="微软雅黑"/>
              </a:rPr>
              <a:t>结果：现场验证</a:t>
            </a:r>
          </a:p>
        </p:txBody>
      </p:sp>
      <p:sp>
        <p:nvSpPr>
          <p:cNvPr id="65" name="Rounded Rectangle 64"/>
          <p:cNvSpPr/>
          <p:nvPr/>
        </p:nvSpPr>
        <p:spPr>
          <a:xfrm>
            <a:off x="4343400" y="3364992"/>
            <a:ext cx="3502152" cy="1170432"/>
          </a:xfrm>
          <a:prstGeom prst="roundRect">
            <a:avLst>
              <a:gd name="adj" fmla="val 8000"/>
            </a:avLst>
          </a:prstGeom>
          <a:solidFill>
            <a:srgbClr val="04457D"/>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553712" y="3511296"/>
            <a:ext cx="3063240" cy="256032"/>
          </a:xfrm>
          <a:prstGeom prst="rect">
            <a:avLst/>
          </a:prstGeom>
          <a:noFill/>
        </p:spPr>
        <p:txBody>
          <a:bodyPr wrap="square" lIns="18288" rIns="18288" tIns="18288" bIns="18288" anchor="t">
            <a:spAutoFit/>
          </a:bodyPr>
          <a:lstStyle/>
          <a:p>
            <a:pPr algn="ctr">
              <a:lnSpc>
                <a:spcPct val="100000"/>
              </a:lnSpc>
              <a:spcAft>
                <a:spcPts val="200"/>
              </a:spcAft>
            </a:pPr>
            <a:r>
              <a:rPr sz="1300" b="1">
                <a:solidFill>
                  <a:srgbClr val="00D8FF"/>
                </a:solidFill>
                <a:latin typeface="微软雅黑"/>
                <a:ea typeface="微软雅黑"/>
              </a:rPr>
              <a:t>同一条飞书消息</a:t>
            </a:r>
          </a:p>
        </p:txBody>
      </p:sp>
      <p:sp>
        <p:nvSpPr>
          <p:cNvPr id="67" name="TextBox 66"/>
          <p:cNvSpPr txBox="1"/>
          <p:nvPr/>
        </p:nvSpPr>
        <p:spPr>
          <a:xfrm>
            <a:off x="4553712" y="3913632"/>
            <a:ext cx="3063240" cy="256032"/>
          </a:xfrm>
          <a:prstGeom prst="rect">
            <a:avLst/>
          </a:prstGeom>
          <a:noFill/>
        </p:spPr>
        <p:txBody>
          <a:bodyPr wrap="square" lIns="18288" rIns="18288" tIns="18288" bIns="18288" anchor="t">
            <a:spAutoFit/>
          </a:bodyPr>
          <a:lstStyle/>
          <a:p>
            <a:pPr algn="ctr">
              <a:lnSpc>
                <a:spcPct val="100000"/>
              </a:lnSpc>
              <a:spcAft>
                <a:spcPts val="200"/>
              </a:spcAft>
            </a:pPr>
            <a:r>
              <a:rPr sz="1080" b="0">
                <a:solidFill>
                  <a:srgbClr val="E9F8FF"/>
                </a:solidFill>
                <a:latin typeface="微软雅黑"/>
                <a:ea typeface="微软雅黑"/>
              </a:rPr>
              <a:t>权限检查发生在读取数据之前</a:t>
            </a:r>
          </a:p>
        </p:txBody>
      </p:sp>
      <p:sp>
        <p:nvSpPr>
          <p:cNvPr id="68" name="Rounded Rectangle 67"/>
          <p:cNvSpPr/>
          <p:nvPr/>
        </p:nvSpPr>
        <p:spPr>
          <a:xfrm>
            <a:off x="8101583" y="3154680"/>
            <a:ext cx="3657600" cy="1591056"/>
          </a:xfrm>
          <a:prstGeom prst="roundRect">
            <a:avLst>
              <a:gd name="adj" fmla="val 8000"/>
            </a:avLst>
          </a:prstGeom>
          <a:solidFill>
            <a:srgbClr val="085057">
              <a:alpha val="97000"/>
            </a:srgbClr>
          </a:solidFill>
          <a:ln w="12700">
            <a:solidFill>
              <a:srgbClr val="26D0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8101583" y="3154680"/>
            <a:ext cx="73152" cy="1591056"/>
          </a:xfrm>
          <a:prstGeom prst="rect">
            <a:avLst/>
          </a:prstGeom>
          <a:solidFill>
            <a:srgbClr val="26D0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284463" y="3282696"/>
            <a:ext cx="3291840" cy="274320"/>
          </a:xfrm>
          <a:prstGeom prst="rect">
            <a:avLst/>
          </a:prstGeom>
          <a:noFill/>
        </p:spPr>
        <p:txBody>
          <a:bodyPr wrap="square" lIns="18288" rIns="18288" tIns="18288" bIns="18288" anchor="t">
            <a:spAutoFit/>
          </a:bodyPr>
          <a:lstStyle/>
          <a:p>
            <a:pPr algn="l">
              <a:lnSpc>
                <a:spcPct val="100000"/>
              </a:lnSpc>
              <a:spcAft>
                <a:spcPts val="200"/>
              </a:spcAft>
            </a:pPr>
            <a:r>
              <a:rPr sz="1300" b="1">
                <a:solidFill>
                  <a:srgbClr val="26D098"/>
                </a:solidFill>
                <a:latin typeface="微软雅黑"/>
                <a:ea typeface="微软雅黑"/>
              </a:rPr>
              <a:t>HR 专员（演示）</a:t>
            </a:r>
          </a:p>
        </p:txBody>
      </p:sp>
      <p:sp>
        <p:nvSpPr>
          <p:cNvPr id="71" name="TextBox 70"/>
          <p:cNvSpPr txBox="1"/>
          <p:nvPr/>
        </p:nvSpPr>
        <p:spPr>
          <a:xfrm>
            <a:off x="8284463" y="3685032"/>
            <a:ext cx="3291840" cy="950976"/>
          </a:xfrm>
          <a:prstGeom prst="rect">
            <a:avLst/>
          </a:prstGeom>
          <a:noFill/>
        </p:spPr>
        <p:txBody>
          <a:bodyPr wrap="square" lIns="18288" rIns="18288" tIns="18288" bIns="18288" anchor="t">
            <a:spAutoFit/>
          </a:bodyPr>
          <a:lstStyle/>
          <a:p>
            <a:pPr algn="l">
              <a:lnSpc>
                <a:spcPct val="95000"/>
              </a:lnSpc>
              <a:spcAft>
                <a:spcPts val="200"/>
              </a:spcAft>
            </a:pPr>
            <a:r>
              <a:rPr sz="1180" b="0">
                <a:solidFill>
                  <a:srgbClr val="E9F8FF"/>
                </a:solidFill>
                <a:latin typeface="微软雅黑"/>
                <a:ea typeface="微软雅黑"/>
              </a:rPr>
              <a:t>相同请求：请查询员工1的合同薪资</a:t>
            </a:r>
          </a:p>
          <a:p>
            <a:pPr algn="l">
              <a:lnSpc>
                <a:spcPct val="95000"/>
              </a:lnSpc>
              <a:spcAft>
                <a:spcPts val="200"/>
              </a:spcAft>
            </a:pPr>
            <a:r>
              <a:rPr sz="1180" b="0">
                <a:solidFill>
                  <a:srgbClr val="E9F8FF"/>
                </a:solidFill>
                <a:latin typeface="微软雅黑"/>
                <a:ea typeface="微软雅黑"/>
              </a:rPr>
              <a:t/>
            </a:r>
          </a:p>
          <a:p>
            <a:pPr algn="l">
              <a:lnSpc>
                <a:spcPct val="95000"/>
              </a:lnSpc>
              <a:spcAft>
                <a:spcPts val="200"/>
              </a:spcAft>
            </a:pPr>
            <a:r>
              <a:rPr sz="1180" b="0">
                <a:solidFill>
                  <a:srgbClr val="E9F8FF"/>
                </a:solidFill>
                <a:latin typeface="微软雅黑"/>
                <a:ea typeface="微软雅黑"/>
              </a:rPr>
              <a:t>结果：现场验证</a:t>
            </a:r>
          </a:p>
        </p:txBody>
      </p:sp>
      <p:sp>
        <p:nvSpPr>
          <p:cNvPr id="72" name="Rounded Rectangle 71"/>
          <p:cNvSpPr/>
          <p:nvPr/>
        </p:nvSpPr>
        <p:spPr>
          <a:xfrm>
            <a:off x="438912" y="5047488"/>
            <a:ext cx="2487168" cy="310896"/>
          </a:xfrm>
          <a:prstGeom prst="roundRect">
            <a:avLst>
              <a:gd name="adj" fmla="val 8000"/>
            </a:avLst>
          </a:prstGeom>
          <a:solidFill>
            <a:srgbClr val="04457D"/>
          </a:solidFill>
          <a:ln w="12700">
            <a:solidFill>
              <a:srgbClr val="FFA4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38912" y="5047488"/>
            <a:ext cx="2487168" cy="310896"/>
          </a:xfrm>
          <a:prstGeom prst="rect">
            <a:avLst/>
          </a:prstGeom>
          <a:noFill/>
        </p:spPr>
        <p:txBody>
          <a:bodyPr wrap="square" lIns="18288" rIns="18288" tIns="18288" bIns="18288" anchor="ctr">
            <a:spAutoFit/>
          </a:bodyPr>
          <a:lstStyle/>
          <a:p>
            <a:pPr algn="ctr">
              <a:lnSpc>
                <a:spcPct val="100000"/>
              </a:lnSpc>
              <a:spcAft>
                <a:spcPts val="200"/>
              </a:spcAft>
            </a:pPr>
            <a:r>
              <a:rPr sz="1019" b="1">
                <a:solidFill>
                  <a:srgbClr val="FFA421"/>
                </a:solidFill>
                <a:latin typeface="微软雅黑"/>
                <a:ea typeface="微软雅黑"/>
              </a:rPr>
              <a:t>未知身份默认拒绝</a:t>
            </a:r>
          </a:p>
        </p:txBody>
      </p:sp>
      <p:sp>
        <p:nvSpPr>
          <p:cNvPr id="74" name="Rounded Rectangle 73"/>
          <p:cNvSpPr/>
          <p:nvPr/>
        </p:nvSpPr>
        <p:spPr>
          <a:xfrm>
            <a:off x="3182112" y="5047488"/>
            <a:ext cx="2487168" cy="310896"/>
          </a:xfrm>
          <a:prstGeom prst="roundRect">
            <a:avLst>
              <a:gd name="adj" fmla="val 8000"/>
            </a:avLst>
          </a:prstGeom>
          <a:solidFill>
            <a:srgbClr val="04457D"/>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182112" y="5047488"/>
            <a:ext cx="2487168" cy="310896"/>
          </a:xfrm>
          <a:prstGeom prst="rect">
            <a:avLst/>
          </a:prstGeom>
          <a:noFill/>
        </p:spPr>
        <p:txBody>
          <a:bodyPr wrap="square" lIns="18288" rIns="18288" tIns="18288" bIns="18288" anchor="ctr">
            <a:spAutoFit/>
          </a:bodyPr>
          <a:lstStyle/>
          <a:p>
            <a:pPr algn="ctr">
              <a:lnSpc>
                <a:spcPct val="100000"/>
              </a:lnSpc>
              <a:spcAft>
                <a:spcPts val="200"/>
              </a:spcAft>
            </a:pPr>
            <a:r>
              <a:rPr sz="1019" b="1">
                <a:solidFill>
                  <a:srgbClr val="00D8FF"/>
                </a:solidFill>
                <a:latin typeface="微软雅黑"/>
                <a:ea typeface="微软雅黑"/>
              </a:rPr>
              <a:t>拒绝返回非零退出码</a:t>
            </a:r>
          </a:p>
        </p:txBody>
      </p:sp>
      <p:sp>
        <p:nvSpPr>
          <p:cNvPr id="76" name="Rounded Rectangle 75"/>
          <p:cNvSpPr/>
          <p:nvPr/>
        </p:nvSpPr>
        <p:spPr>
          <a:xfrm>
            <a:off x="5925312" y="5047488"/>
            <a:ext cx="2487168" cy="310896"/>
          </a:xfrm>
          <a:prstGeom prst="roundRect">
            <a:avLst>
              <a:gd name="adj" fmla="val 8000"/>
            </a:avLst>
          </a:prstGeom>
          <a:solidFill>
            <a:srgbClr val="04457D"/>
          </a:solidFill>
          <a:ln w="12700">
            <a:solidFill>
              <a:srgbClr val="00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925312" y="5047488"/>
            <a:ext cx="2487168" cy="310896"/>
          </a:xfrm>
          <a:prstGeom prst="rect">
            <a:avLst/>
          </a:prstGeom>
          <a:noFill/>
        </p:spPr>
        <p:txBody>
          <a:bodyPr wrap="square" lIns="18288" rIns="18288" tIns="18288" bIns="18288" anchor="ctr">
            <a:spAutoFit/>
          </a:bodyPr>
          <a:lstStyle/>
          <a:p>
            <a:pPr algn="ctr">
              <a:lnSpc>
                <a:spcPct val="100000"/>
              </a:lnSpc>
              <a:spcAft>
                <a:spcPts val="200"/>
              </a:spcAft>
            </a:pPr>
            <a:r>
              <a:rPr sz="1019" b="1">
                <a:solidFill>
                  <a:srgbClr val="00D8FF"/>
                </a:solidFill>
                <a:latin typeface="微软雅黑"/>
                <a:ea typeface="微软雅黑"/>
              </a:rPr>
              <a:t>不依赖模型临场判断</a:t>
            </a:r>
          </a:p>
        </p:txBody>
      </p:sp>
      <p:sp>
        <p:nvSpPr>
          <p:cNvPr id="78" name="Rounded Rectangle 77"/>
          <p:cNvSpPr/>
          <p:nvPr/>
        </p:nvSpPr>
        <p:spPr>
          <a:xfrm>
            <a:off x="8851392" y="4919472"/>
            <a:ext cx="2889504" cy="978408"/>
          </a:xfrm>
          <a:prstGeom prst="roundRect">
            <a:avLst>
              <a:gd name="adj" fmla="val 8000"/>
            </a:avLst>
          </a:prstGeom>
          <a:solidFill>
            <a:srgbClr val="04457D"/>
          </a:solidFill>
          <a:ln w="12700">
            <a:solidFill>
              <a:srgbClr val="8C7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015984" y="5029200"/>
            <a:ext cx="2542032" cy="201168"/>
          </a:xfrm>
          <a:prstGeom prst="rect">
            <a:avLst/>
          </a:prstGeom>
          <a:noFill/>
        </p:spPr>
        <p:txBody>
          <a:bodyPr wrap="square" lIns="18288" rIns="18288" tIns="18288" bIns="18288" anchor="t">
            <a:spAutoFit/>
          </a:bodyPr>
          <a:lstStyle/>
          <a:p>
            <a:pPr algn="l">
              <a:lnSpc>
                <a:spcPct val="100000"/>
              </a:lnSpc>
              <a:spcAft>
                <a:spcPts val="200"/>
              </a:spcAft>
            </a:pPr>
            <a:r>
              <a:rPr sz="1050" b="1">
                <a:solidFill>
                  <a:srgbClr val="8C7CFF"/>
                </a:solidFill>
                <a:latin typeface="微软雅黑"/>
                <a:ea typeface="微软雅黑"/>
              </a:rPr>
              <a:t>法律锚点</a:t>
            </a:r>
          </a:p>
        </p:txBody>
      </p:sp>
      <p:sp>
        <p:nvSpPr>
          <p:cNvPr id="80" name="TextBox 79"/>
          <p:cNvSpPr txBox="1"/>
          <p:nvPr/>
        </p:nvSpPr>
        <p:spPr>
          <a:xfrm>
            <a:off x="9015984" y="5303520"/>
            <a:ext cx="2542032" cy="384048"/>
          </a:xfrm>
          <a:prstGeom prst="rect">
            <a:avLst/>
          </a:prstGeom>
          <a:noFill/>
        </p:spPr>
        <p:txBody>
          <a:bodyPr wrap="square" lIns="18288" rIns="18288" tIns="18288" bIns="18288" anchor="t">
            <a:spAutoFit/>
          </a:bodyPr>
          <a:lstStyle/>
          <a:p>
            <a:pPr algn="ctr">
              <a:lnSpc>
                <a:spcPct val="100000"/>
              </a:lnSpc>
              <a:spcAft>
                <a:spcPts val="200"/>
              </a:spcAft>
            </a:pPr>
            <a:r>
              <a:rPr sz="1040" b="0">
                <a:solidFill>
                  <a:srgbClr val="E9F8FF"/>
                </a:solidFill>
                <a:latin typeface="微软雅黑"/>
                <a:ea typeface="微软雅黑"/>
              </a:rPr>
              <a:t>《个人信息保护法》</a:t>
            </a:r>
          </a:p>
          <a:p>
            <a:pPr algn="ctr">
              <a:lnSpc>
                <a:spcPct val="100000"/>
              </a:lnSpc>
              <a:spcAft>
                <a:spcPts val="200"/>
              </a:spcAft>
            </a:pPr>
            <a:r>
              <a:rPr sz="1040" b="0">
                <a:solidFill>
                  <a:srgbClr val="E9F8FF"/>
                </a:solidFill>
                <a:latin typeface="微软雅黑"/>
                <a:ea typeface="微软雅黑"/>
              </a:rPr>
              <a:t>第六条 · 第五十一条</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小慧 · 行政模块技能演示无图初版</dc:title>
  <dc:subject>政策有出处、敏感数据有权限、月报数字可复核</dc:subject>
  <dc:creator>小慧项目团队</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