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约50秒。招聘确认录用后才进入入职。入职是跨部门时间轴：HCM管准备事实，Lobster管两道人工门，7/30/60/90管入职后跟进。看板只汇总真实状态。本段不展示Router；完整流程段只做一次员工1查询。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约70秒。五个责任部门状态分散。三类状态源必须拆开。法律嵌在风险旁：劳动合同法对应合同门，网络安全法对应账号门，个人信息保护法对应只读与失败关闭。两道门是项目风险控制设计，不是法律原句。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约2分钟。先用员工2启动，合同pending时退出6并记waiting_departments，不调Lobster。队友在HCM把合同改为in_progress后再次启动，只读快照再进Lobster。强调等待部门是合法状态，小慧不写HCM。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约2分钟。调用链：Skill→启动器→Lobster→工作流文件。run生成审批正文，approval true强制halt，when限制后续节点。现场看needs_approval、正文和resumeToken；批准后用token从暂停点恢复。状态不依赖模型记忆，审批节点不能跳过。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约1分40秒。合同门通过后进入账号权限门，新token。IT安全负责人决定。两门批准只是workflow complete；五节点全绿才开通跟进。未全绿不挂Cron。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1分钟。五节点全绿后，系统注册7、30、60、90天四个一次性Cron。到期任务在隔离会话运行onboarding-review脚本，并通过announce投递飞书。截图显示员工2第7天、HCM五节点全部completed、Review为due。这证明推送链路已运行，但推送成功不等于跟进完成；只有HR真实沟通并执行CLI record后才完成。补充异常守卫：员工总体状态为cancelled时，不新开通跟进，也不输出needs_review催办。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约50秒。跟进到期只提醒，HR回填才完成。展示真实看板和事件。收口并交接：完整流程段用员工1做一次查询，验证Router分发，不重复本段机制。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941832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0" y="2834640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0" y="5522975"/>
            <a:ext cx="12191695" cy="475489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803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79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640" y="135331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267004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95160" y="161848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0" y="4389120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555955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0584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小慧 · HR数字员工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24231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40233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方案规划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5623560" y="109728"/>
            <a:ext cx="1527048" cy="356616"/>
          </a:xfrm>
          <a:prstGeom prst="parallelogram">
            <a:avLst/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2163B"/>
                </a:solidFill>
                <a:latin typeface="微软雅黑"/>
                <a:ea typeface="微软雅黑"/>
              </a:rPr>
              <a:t>技能演示</a:t>
            </a:r>
          </a:p>
        </p:txBody>
      </p:sp>
      <p:sp>
        <p:nvSpPr>
          <p:cNvPr id="23" name="Parallelogram 22"/>
          <p:cNvSpPr/>
          <p:nvPr/>
        </p:nvSpPr>
        <p:spPr>
          <a:xfrm>
            <a:off x="72237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完整流程</a:t>
            </a:r>
          </a:p>
        </p:txBody>
      </p:sp>
      <p:sp>
        <p:nvSpPr>
          <p:cNvPr id="25" name="Parallelogram 24"/>
          <p:cNvSpPr/>
          <p:nvPr/>
        </p:nvSpPr>
        <p:spPr>
          <a:xfrm>
            <a:off x="88239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成果展望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6768" y="109728"/>
            <a:ext cx="10515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EC2D8"/>
                </a:solidFill>
                <a:latin typeface="微软雅黑"/>
                <a:ea typeface="微软雅黑"/>
              </a:rPr>
              <a:t>01 / 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"/>
            <a:ext cx="12191695" cy="411480"/>
          </a:xfrm>
          <a:prstGeom prst="rect">
            <a:avLst/>
          </a:prstGeom>
          <a:solidFill>
            <a:srgbClr val="02163B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722376"/>
            <a:ext cx="8229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9EC2D8"/>
                </a:solidFill>
                <a:latin typeface="微软雅黑"/>
                <a:ea typeface="微软雅黑"/>
              </a:rPr>
              <a:t>技能地图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615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总控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招聘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2163B"/>
                </a:solidFill>
                <a:latin typeface="微软雅黑"/>
                <a:ea typeface="微软雅黑"/>
              </a:rPr>
              <a:t>入职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71616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71616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培训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90104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0104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绩效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859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859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行政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1170432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0D8FF"/>
                </a:solidFill>
                <a:latin typeface="微软雅黑"/>
                <a:ea typeface="微软雅黑"/>
              </a:rPr>
              <a:t>03  ONBOARDING · TIMELINE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1399032"/>
            <a:ext cx="1115568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优设标题黑"/>
                <a:ea typeface="优设标题黑"/>
              </a:rPr>
              <a:t>入职不是清单，而是一条跨部门时间轴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" y="1901952"/>
            <a:ext cx="685800" cy="4572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1819656"/>
            <a:ext cx="101498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20" b="0">
                <a:solidFill>
                  <a:srgbClr val="9EC2D8"/>
                </a:solidFill>
                <a:latin typeface="微软雅黑"/>
                <a:ea typeface="微软雅黑"/>
              </a:rPr>
              <a:t>主命题：编排跨部门、长周期、多人负责的入职事项，不越权、不丢状态、不假完成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" y="219456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8912" y="2194560"/>
            <a:ext cx="3566160" cy="384048"/>
          </a:xfrm>
          <a:prstGeom prst="rect">
            <a:avLst/>
          </a:prstGeom>
          <a:solidFill>
            <a:srgbClr val="044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2194560"/>
            <a:ext cx="35661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0D8FF"/>
                </a:solidFill>
                <a:latin typeface="微软雅黑"/>
                <a:ea typeface="微软雅黑"/>
              </a:rPr>
              <a:t>入职前准备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2743200"/>
            <a:ext cx="3200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E9F8FF"/>
                </a:solidFill>
                <a:latin typeface="微软雅黑"/>
                <a:ea typeface="微软雅黑"/>
              </a:rPr>
              <a:t>HCM 五部门节点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" y="3200400"/>
            <a:ext cx="310896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9EC2D8"/>
                </a:solidFill>
                <a:latin typeface="微软雅黑"/>
                <a:ea typeface="微软雅黑"/>
              </a:rPr>
              <a:t>合同 · 账号 · 设备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9EC2D8"/>
                </a:solidFill>
                <a:latin typeface="微软雅黑"/>
                <a:ea typeface="微软雅黑"/>
              </a:rPr>
              <a:t>Buddy · 培训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005072" y="3246120"/>
            <a:ext cx="201168" cy="0"/>
          </a:xfrm>
          <a:prstGeom prst="line">
            <a:avLst/>
          </a:prstGeom>
          <a:ln w="15240">
            <a:solidFill>
              <a:srgbClr val="00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261104" y="219456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61104" y="2194560"/>
            <a:ext cx="3566160" cy="384048"/>
          </a:xfrm>
          <a:prstGeom prst="rect">
            <a:avLst/>
          </a:prstGeom>
          <a:solidFill>
            <a:srgbClr val="044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61104" y="2194560"/>
            <a:ext cx="35661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A421"/>
                </a:solidFill>
                <a:latin typeface="微软雅黑"/>
                <a:ea typeface="微软雅黑"/>
              </a:rPr>
              <a:t>报到审批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43984" y="2743200"/>
            <a:ext cx="3200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E9F8FF"/>
                </a:solidFill>
                <a:latin typeface="微软雅黑"/>
                <a:ea typeface="微软雅黑"/>
              </a:rPr>
              <a:t>Lobster 两道人工门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9704" y="3200400"/>
            <a:ext cx="310896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9EC2D8"/>
                </a:solidFill>
                <a:latin typeface="微软雅黑"/>
                <a:ea typeface="微软雅黑"/>
              </a:rPr>
              <a:t>合同门 · 账号权限门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9EC2D8"/>
                </a:solidFill>
                <a:latin typeface="微软雅黑"/>
                <a:ea typeface="微软雅黑"/>
              </a:rPr>
              <a:t>resumeToken 恢复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827264" y="3246120"/>
            <a:ext cx="201168" cy="0"/>
          </a:xfrm>
          <a:prstGeom prst="line">
            <a:avLst/>
          </a:prstGeom>
          <a:ln w="15240">
            <a:solidFill>
              <a:srgbClr val="FFA4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8083296" y="219456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83296" y="2194560"/>
            <a:ext cx="3566160" cy="384048"/>
          </a:xfrm>
          <a:prstGeom prst="rect">
            <a:avLst/>
          </a:prstGeom>
          <a:solidFill>
            <a:srgbClr val="044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83296" y="2194560"/>
            <a:ext cx="35661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6D098"/>
                </a:solidFill>
                <a:latin typeface="微软雅黑"/>
                <a:ea typeface="微软雅黑"/>
              </a:rPr>
              <a:t>入职后跟进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66176" y="2743200"/>
            <a:ext cx="3200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E9F8FF"/>
                </a:solidFill>
                <a:latin typeface="微软雅黑"/>
                <a:ea typeface="微软雅黑"/>
              </a:rPr>
              <a:t>7 / 30 / 60 / 90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11896" y="3200400"/>
            <a:ext cx="310896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9EC2D8"/>
                </a:solidFill>
                <a:latin typeface="微软雅黑"/>
                <a:ea typeface="微软雅黑"/>
              </a:rPr>
              <a:t>到期 needs_review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9EC2D8"/>
                </a:solidFill>
                <a:latin typeface="微软雅黑"/>
                <a:ea typeface="微软雅黑"/>
              </a:rPr>
              <a:t>HR 回填后完成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8912" y="4617720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6072" y="4736592"/>
            <a:ext cx="2423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0D8FF"/>
                </a:solidFill>
                <a:latin typeface="微软雅黑"/>
                <a:ea typeface="微软雅黑"/>
              </a:rPr>
              <a:t>HCM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6072" y="5010912"/>
            <a:ext cx="2423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E9F8FF"/>
                </a:solidFill>
                <a:latin typeface="微软雅黑"/>
                <a:ea typeface="微软雅黑"/>
              </a:rPr>
              <a:t>业务事实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E9F8FF"/>
                </a:solidFill>
                <a:latin typeface="微软雅黑"/>
                <a:ea typeface="微软雅黑"/>
              </a:rPr>
              <a:t>不存审批 token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319272" y="4617720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56432" y="4736592"/>
            <a:ext cx="2423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0D8FF"/>
                </a:solidFill>
                <a:latin typeface="微软雅黑"/>
                <a:ea typeface="微软雅黑"/>
              </a:rPr>
              <a:t>Lobster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56432" y="5010912"/>
            <a:ext cx="2423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E9F8FF"/>
                </a:solidFill>
                <a:latin typeface="微软雅黑"/>
                <a:ea typeface="微软雅黑"/>
              </a:rPr>
              <a:t>审批顺序与暂停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E9F8FF"/>
                </a:solidFill>
                <a:latin typeface="微软雅黑"/>
                <a:ea typeface="微软雅黑"/>
              </a:rPr>
              <a:t>不替部门填写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99631" y="4617720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36791" y="4736592"/>
            <a:ext cx="2423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0D8FF"/>
                </a:solidFill>
                <a:latin typeface="微软雅黑"/>
                <a:ea typeface="微软雅黑"/>
              </a:rPr>
              <a:t>reviews.json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36791" y="5010912"/>
            <a:ext cx="2423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E9F8FF"/>
                </a:solidFill>
                <a:latin typeface="微软雅黑"/>
                <a:ea typeface="微软雅黑"/>
              </a:rPr>
              <a:t>试用期跟进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E9F8FF"/>
                </a:solidFill>
                <a:latin typeface="微软雅黑"/>
                <a:ea typeface="微软雅黑"/>
              </a:rPr>
              <a:t>不决定录用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079992" y="4617720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17152" y="4736592"/>
            <a:ext cx="2423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0D8FF"/>
                </a:solidFill>
                <a:latin typeface="微软雅黑"/>
                <a:ea typeface="微软雅黑"/>
              </a:rPr>
              <a:t>入职小慧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17152" y="5010912"/>
            <a:ext cx="2423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E9F8FF"/>
                </a:solidFill>
                <a:latin typeface="微软雅黑"/>
                <a:ea typeface="微软雅黑"/>
              </a:rPr>
              <a:t>读取 · 催办 · 提醒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E9F8FF"/>
                </a:solidFill>
                <a:latin typeface="微软雅黑"/>
                <a:ea typeface="微软雅黑"/>
              </a:rPr>
              <a:t>不代批 · 不写 HCM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38912" y="5687568"/>
            <a:ext cx="11301984" cy="438912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1792" y="5687568"/>
            <a:ext cx="10936224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0D8FF"/>
                </a:solidFill>
                <a:latin typeface="微软雅黑"/>
                <a:ea typeface="微软雅黑"/>
              </a:rPr>
              <a:t>本段直接进入入职 Agent｜完整流程联调再用 Router + 员工1 做一次进度查询，不重复审批机制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941832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0" y="2834640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0" y="5522975"/>
            <a:ext cx="12191695" cy="475489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803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79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640" y="135331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267004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95160" y="161848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0" y="4389120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555955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0584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小慧 · HR数字员工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24231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40233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方案规划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5623560" y="109728"/>
            <a:ext cx="1527048" cy="356616"/>
          </a:xfrm>
          <a:prstGeom prst="parallelogram">
            <a:avLst/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2163B"/>
                </a:solidFill>
                <a:latin typeface="微软雅黑"/>
                <a:ea typeface="微软雅黑"/>
              </a:rPr>
              <a:t>技能演示</a:t>
            </a:r>
          </a:p>
        </p:txBody>
      </p:sp>
      <p:sp>
        <p:nvSpPr>
          <p:cNvPr id="23" name="Parallelogram 22"/>
          <p:cNvSpPr/>
          <p:nvPr/>
        </p:nvSpPr>
        <p:spPr>
          <a:xfrm>
            <a:off x="72237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完整流程</a:t>
            </a:r>
          </a:p>
        </p:txBody>
      </p:sp>
      <p:sp>
        <p:nvSpPr>
          <p:cNvPr id="25" name="Parallelogram 24"/>
          <p:cNvSpPr/>
          <p:nvPr/>
        </p:nvSpPr>
        <p:spPr>
          <a:xfrm>
            <a:off x="88239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成果展望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6768" y="109728"/>
            <a:ext cx="10515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EC2D8"/>
                </a:solidFill>
                <a:latin typeface="微软雅黑"/>
                <a:ea typeface="微软雅黑"/>
              </a:rPr>
              <a:t>02 / 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"/>
            <a:ext cx="12191695" cy="411480"/>
          </a:xfrm>
          <a:prstGeom prst="rect">
            <a:avLst/>
          </a:prstGeom>
          <a:solidFill>
            <a:srgbClr val="02163B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722376"/>
            <a:ext cx="8229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9EC2D8"/>
                </a:solidFill>
                <a:latin typeface="微软雅黑"/>
                <a:ea typeface="微软雅黑"/>
              </a:rPr>
              <a:t>技能地图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615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总控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招聘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2163B"/>
                </a:solidFill>
                <a:latin typeface="微软雅黑"/>
                <a:ea typeface="微软雅黑"/>
              </a:rPr>
              <a:t>入职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71616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71616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培训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90104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0104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绩效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859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859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行政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1170432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0D8FF"/>
                </a:solidFill>
                <a:latin typeface="微软雅黑"/>
                <a:ea typeface="微软雅黑"/>
              </a:rPr>
              <a:t>03  WHY HARD · RISK BOUNDARY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1399032"/>
            <a:ext cx="1115568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优设标题黑"/>
                <a:ea typeface="优设标题黑"/>
              </a:rPr>
              <a:t>状态分散、责任分散，模型最容易说“已经办完了”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" y="1901952"/>
            <a:ext cx="685800" cy="4572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1819656"/>
            <a:ext cx="101498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20" b="0">
                <a:solidFill>
                  <a:srgbClr val="9EC2D8"/>
                </a:solidFill>
                <a:latin typeface="微软雅黑"/>
                <a:ea typeface="微软雅黑"/>
              </a:rPr>
              <a:t>法律不单独成页：嵌在对应风险旁，解释为什么要这样设计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" y="2194560"/>
            <a:ext cx="2084831" cy="438912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2194560"/>
            <a:ext cx="2084831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E9F8FF"/>
                </a:solidFill>
                <a:latin typeface="微软雅黑"/>
                <a:ea typeface="微软雅黑"/>
              </a:rPr>
              <a:t>合同签署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24912" y="2194560"/>
            <a:ext cx="2084831" cy="438912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24912" y="2194560"/>
            <a:ext cx="2084831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E9F8FF"/>
                </a:solidFill>
                <a:latin typeface="微软雅黑"/>
                <a:ea typeface="微软雅黑"/>
              </a:rPr>
              <a:t>IT 账号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10912" y="2194560"/>
            <a:ext cx="2084831" cy="438912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10912" y="2194560"/>
            <a:ext cx="2084831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E9F8FF"/>
                </a:solidFill>
                <a:latin typeface="微软雅黑"/>
                <a:ea typeface="微软雅黑"/>
              </a:rPr>
              <a:t>行政设备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96912" y="2194560"/>
            <a:ext cx="2084831" cy="438912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96912" y="2194560"/>
            <a:ext cx="2084831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E9F8FF"/>
                </a:solidFill>
                <a:latin typeface="微软雅黑"/>
                <a:ea typeface="微软雅黑"/>
              </a:rPr>
              <a:t>Buddy 匹配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582912" y="2194560"/>
            <a:ext cx="2084831" cy="438912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82912" y="2194560"/>
            <a:ext cx="2084831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E9F8FF"/>
                </a:solidFill>
                <a:latin typeface="微软雅黑"/>
                <a:ea typeface="微软雅黑"/>
              </a:rPr>
              <a:t>入职培训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8912" y="288036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032B5C">
              <a:alpha val="97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8912" y="2880360"/>
            <a:ext cx="73152" cy="141732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" y="2990088"/>
            <a:ext cx="32369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0D8FF"/>
                </a:solidFill>
                <a:latin typeface="微软雅黑"/>
                <a:ea typeface="微软雅黑"/>
              </a:rPr>
              <a:t>三类状态源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504" y="3337560"/>
            <a:ext cx="3236976" cy="8503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00" b="0">
                <a:solidFill>
                  <a:srgbClr val="E9F8FF"/>
                </a:solidFill>
                <a:latin typeface="微软雅黑"/>
                <a:ea typeface="微软雅黑"/>
              </a:rPr>
              <a:t>HCM｜部门是否真完成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00" b="0">
                <a:solidFill>
                  <a:srgbClr val="E9F8FF"/>
                </a:solidFill>
                <a:latin typeface="微软雅黑"/>
                <a:ea typeface="微软雅黑"/>
              </a:rPr>
              <a:t>Lobster｜审批是否可恢复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00" b="0">
                <a:solidFill>
                  <a:srgbClr val="E9F8FF"/>
                </a:solidFill>
                <a:latin typeface="微软雅黑"/>
                <a:ea typeface="微软雅黑"/>
              </a:rPr>
              <a:t>reviews｜跟进是否回填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97680" y="288036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561726">
              <a:alpha val="97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97680" y="2880360"/>
            <a:ext cx="73152" cy="1417320"/>
          </a:xfrm>
          <a:prstGeom prst="rect">
            <a:avLst/>
          </a:prstGeom>
          <a:solidFill>
            <a:srgbClr val="F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62272" y="2990088"/>
            <a:ext cx="32369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15A66"/>
                </a:solidFill>
                <a:latin typeface="微软雅黑"/>
                <a:ea typeface="微软雅黑"/>
              </a:rPr>
              <a:t>假成功风险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62272" y="3337560"/>
            <a:ext cx="3236976" cy="8503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00" b="0">
                <a:solidFill>
                  <a:srgbClr val="E9F8FF"/>
                </a:solidFill>
                <a:latin typeface="微软雅黑"/>
                <a:ea typeface="微软雅黑"/>
              </a:rPr>
              <a:t>旧快照冒充实时进度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00" b="0">
                <a:solidFill>
                  <a:srgbClr val="E9F8FF"/>
                </a:solidFill>
                <a:latin typeface="微软雅黑"/>
                <a:ea typeface="微软雅黑"/>
              </a:rPr>
              <a:t>把展示当成代替审批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00" b="0">
                <a:solidFill>
                  <a:srgbClr val="E9F8FF"/>
                </a:solidFill>
                <a:latin typeface="微软雅黑"/>
                <a:ea typeface="微软雅黑"/>
              </a:rPr>
              <a:t>把审批通过当成部门完成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156448" y="288036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085057">
              <a:alpha val="97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56448" y="2880360"/>
            <a:ext cx="73152" cy="1417320"/>
          </a:xfrm>
          <a:prstGeom prst="rect">
            <a:avLst/>
          </a:prstGeom>
          <a:solidFill>
            <a:srgbClr val="26D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21040" y="2990088"/>
            <a:ext cx="32369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26D098"/>
                </a:solidFill>
                <a:latin typeface="微软雅黑"/>
                <a:ea typeface="微软雅黑"/>
              </a:rPr>
              <a:t>设计原则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3337560"/>
            <a:ext cx="3236976" cy="8503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00" b="0">
                <a:solidFill>
                  <a:srgbClr val="E9F8FF"/>
                </a:solidFill>
                <a:latin typeface="微软雅黑"/>
                <a:ea typeface="微软雅黑"/>
              </a:rPr>
              <a:t>业务事实只读 HCM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00" b="0">
                <a:solidFill>
                  <a:srgbClr val="E9F8FF"/>
                </a:solidFill>
                <a:latin typeface="微软雅黑"/>
                <a:ea typeface="微软雅黑"/>
              </a:rPr>
              <a:t>关键决定写入 Lobster 门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00" b="0">
                <a:solidFill>
                  <a:srgbClr val="E9F8FF"/>
                </a:solidFill>
                <a:latin typeface="微软雅黑"/>
                <a:ea typeface="微软雅黑"/>
              </a:rPr>
              <a:t>跟进完成必须 HR 回填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38912" y="4526280"/>
            <a:ext cx="11301984" cy="40233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8912" y="4526280"/>
            <a:ext cx="73152" cy="402336"/>
          </a:xfrm>
          <a:prstGeom prst="rect">
            <a:avLst/>
          </a:prstGeom>
          <a:solidFill>
            <a:srgbClr val="FFA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" y="4526280"/>
            <a:ext cx="320040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A421"/>
                </a:solidFill>
                <a:latin typeface="微软雅黑"/>
                <a:ea typeface="微软雅黑"/>
              </a:rPr>
              <a:t>《劳动合同法》第八、十条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31920" y="4526280"/>
            <a:ext cx="292608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E9F8FF"/>
                </a:solidFill>
                <a:latin typeface="微软雅黑"/>
                <a:ea typeface="微软雅黑"/>
              </a:rPr>
              <a:t>书面合同与告知义务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40880" y="4526280"/>
            <a:ext cx="438912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E9F8FF"/>
                </a:solidFill>
                <a:latin typeface="微软雅黑"/>
                <a:ea typeface="微软雅黑"/>
              </a:rPr>
              <a:t>合同节点守卫 + 合同审批门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38912" y="5001768"/>
            <a:ext cx="11301984" cy="40233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8912" y="5001768"/>
            <a:ext cx="73152" cy="402336"/>
          </a:xfrm>
          <a:prstGeom prst="rect">
            <a:avLst/>
          </a:prstGeom>
          <a:solidFill>
            <a:srgbClr val="26D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8368" y="5001768"/>
            <a:ext cx="320040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6D098"/>
                </a:solidFill>
                <a:latin typeface="微软雅黑"/>
                <a:ea typeface="微软雅黑"/>
              </a:rPr>
              <a:t>现行《网络安全法》第二十三条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31920" y="5001768"/>
            <a:ext cx="292608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E9F8FF"/>
                </a:solidFill>
                <a:latin typeface="微软雅黑"/>
                <a:ea typeface="微软雅黑"/>
              </a:rPr>
              <a:t>防止未经授权访问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40880" y="5001768"/>
            <a:ext cx="438912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E9F8FF"/>
                </a:solidFill>
                <a:latin typeface="微软雅黑"/>
                <a:ea typeface="微软雅黑"/>
              </a:rPr>
              <a:t>账号权限门 + 材料不足不建议批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38912" y="5477256"/>
            <a:ext cx="11301984" cy="40233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38912" y="5477256"/>
            <a:ext cx="73152" cy="402336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8368" y="5477256"/>
            <a:ext cx="320040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0D8FF"/>
                </a:solidFill>
                <a:latin typeface="微软雅黑"/>
                <a:ea typeface="微软雅黑"/>
              </a:rPr>
              <a:t>《个人信息保护法》第六、十三条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31920" y="5477256"/>
            <a:ext cx="292608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E9F8FF"/>
                </a:solidFill>
                <a:latin typeface="微软雅黑"/>
                <a:ea typeface="微软雅黑"/>
              </a:rPr>
              <a:t>目的限定、最小必要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40880" y="5477256"/>
            <a:ext cx="438912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E9F8FF"/>
                </a:solidFill>
                <a:latin typeface="微软雅黑"/>
                <a:ea typeface="微软雅黑"/>
              </a:rPr>
              <a:t>HCM 只 GET · 不可用即停止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941832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0" y="2834640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0" y="5522975"/>
            <a:ext cx="12191695" cy="475489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803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79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640" y="135331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267004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95160" y="161848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0" y="4389120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555955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0584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小慧 · HR数字员工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24231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40233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方案规划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5623560" y="109728"/>
            <a:ext cx="1527048" cy="356616"/>
          </a:xfrm>
          <a:prstGeom prst="parallelogram">
            <a:avLst/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2163B"/>
                </a:solidFill>
                <a:latin typeface="微软雅黑"/>
                <a:ea typeface="微软雅黑"/>
              </a:rPr>
              <a:t>技能演示</a:t>
            </a:r>
          </a:p>
        </p:txBody>
      </p:sp>
      <p:sp>
        <p:nvSpPr>
          <p:cNvPr id="23" name="Parallelogram 22"/>
          <p:cNvSpPr/>
          <p:nvPr/>
        </p:nvSpPr>
        <p:spPr>
          <a:xfrm>
            <a:off x="72237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完整流程</a:t>
            </a:r>
          </a:p>
        </p:txBody>
      </p:sp>
      <p:sp>
        <p:nvSpPr>
          <p:cNvPr id="25" name="Parallelogram 24"/>
          <p:cNvSpPr/>
          <p:nvPr/>
        </p:nvSpPr>
        <p:spPr>
          <a:xfrm>
            <a:off x="88239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成果展望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6768" y="109728"/>
            <a:ext cx="10515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EC2D8"/>
                </a:solidFill>
                <a:latin typeface="微软雅黑"/>
                <a:ea typeface="微软雅黑"/>
              </a:rPr>
              <a:t>03 / 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"/>
            <a:ext cx="12191695" cy="411480"/>
          </a:xfrm>
          <a:prstGeom prst="rect">
            <a:avLst/>
          </a:prstGeom>
          <a:solidFill>
            <a:srgbClr val="02163B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722376"/>
            <a:ext cx="8229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9EC2D8"/>
                </a:solidFill>
                <a:latin typeface="微软雅黑"/>
                <a:ea typeface="微软雅黑"/>
              </a:rPr>
              <a:t>技能地图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615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总控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招聘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2163B"/>
                </a:solidFill>
                <a:latin typeface="微软雅黑"/>
                <a:ea typeface="微软雅黑"/>
              </a:rPr>
              <a:t>入职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71616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71616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培训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90104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0104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绩效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859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859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行政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1170432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0D8FF"/>
                </a:solidFill>
                <a:latin typeface="微软雅黑"/>
                <a:ea typeface="微软雅黑"/>
              </a:rPr>
              <a:t>03  LIVE · WAITING DEPARTMENTS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1399032"/>
            <a:ext cx="1115568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优设标题黑"/>
                <a:ea typeface="优设标题黑"/>
              </a:rPr>
              <a:t>合同未开始：拒绝启动，等待真实部门更新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" y="1901952"/>
            <a:ext cx="685800" cy="4572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1819656"/>
            <a:ext cx="101498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20" b="0">
                <a:solidFill>
                  <a:srgbClr val="9EC2D8"/>
                </a:solidFill>
                <a:latin typeface="微软雅黑"/>
                <a:ea typeface="微软雅黑"/>
              </a:rPr>
              <a:t>现场输入：请为员工2启动入职流程，岗位前端工程师，薪资30K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" y="219456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F15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" y="233172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15A66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" y="2651760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合同 = pending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" y="2971800"/>
            <a:ext cx="2423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EC2D8"/>
                </a:solidFill>
                <a:latin typeface="微软雅黑"/>
                <a:ea typeface="微软雅黑"/>
              </a:rPr>
              <a:t>start 退出 6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136392" y="2743200"/>
            <a:ext cx="137160" cy="0"/>
          </a:xfrm>
          <a:prstGeom prst="line">
            <a:avLst/>
          </a:prstGeom>
          <a:ln w="12700">
            <a:solidFill>
              <a:srgbClr val="F15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3319272" y="219456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56432" y="233172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A421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56432" y="2651760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记 waiting_departments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56432" y="2971800"/>
            <a:ext cx="2423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EC2D8"/>
                </a:solidFill>
                <a:latin typeface="微软雅黑"/>
                <a:ea typeface="微软雅黑"/>
              </a:rPr>
              <a:t>不调用 Lobster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016752" y="2743200"/>
            <a:ext cx="137160" cy="0"/>
          </a:xfrm>
          <a:prstGeom prst="line">
            <a:avLst/>
          </a:prstGeom>
          <a:ln w="12700">
            <a:solidFill>
              <a:srgbClr val="FFA4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6199631" y="219456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36791" y="233172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0D8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36791" y="2651760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队友更新 HCM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36791" y="2971800"/>
            <a:ext cx="2423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EC2D8"/>
                </a:solidFill>
                <a:latin typeface="微软雅黑"/>
                <a:ea typeface="微软雅黑"/>
              </a:rPr>
              <a:t>合同 → in_progress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897111" y="2743200"/>
            <a:ext cx="137160" cy="0"/>
          </a:xfrm>
          <a:prstGeom prst="line">
            <a:avLst/>
          </a:prstGeom>
          <a:ln w="12700">
            <a:solidFill>
              <a:srgbClr val="00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9079992" y="219456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17152" y="233172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6D098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17152" y="2651760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再次 start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17152" y="2971800"/>
            <a:ext cx="2423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EC2D8"/>
                </a:solidFill>
                <a:latin typeface="微软雅黑"/>
                <a:ea typeface="微软雅黑"/>
              </a:rPr>
              <a:t>只读快照后进门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38912" y="3611880"/>
            <a:ext cx="5486400" cy="1965960"/>
          </a:xfrm>
          <a:prstGeom prst="roundRect">
            <a:avLst>
              <a:gd name="adj" fmla="val 8000"/>
            </a:avLst>
          </a:prstGeom>
          <a:solidFill>
            <a:srgbClr val="561726">
              <a:alpha val="97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8912" y="3611880"/>
            <a:ext cx="73152" cy="1965960"/>
          </a:xfrm>
          <a:prstGeom prst="rect">
            <a:avLst/>
          </a:prstGeom>
          <a:solidFill>
            <a:srgbClr val="F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3504" y="3721608"/>
            <a:ext cx="515721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15A66"/>
                </a:solidFill>
                <a:latin typeface="微软雅黑"/>
                <a:ea typeface="微软雅黑"/>
              </a:rPr>
              <a:t>系统真实反应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3504" y="4069080"/>
            <a:ext cx="5157216" cy="1399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300" b="0">
                <a:solidFill>
                  <a:srgbClr val="E9F8FF"/>
                </a:solidFill>
                <a:latin typeface="微软雅黑"/>
                <a:ea typeface="微软雅黑"/>
              </a:rPr>
              <a:t>HCM 合同未齐 → 明确失败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300" b="0">
                <a:solidFill>
                  <a:srgbClr val="E9F8FF"/>
                </a:solidFill>
                <a:latin typeface="微软雅黑"/>
                <a:ea typeface="微软雅黑"/>
              </a:rPr>
              <a:t>workflow.json 记 waiting_departments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300" b="0">
                <a:solidFill>
                  <a:srgbClr val="E9F8FF"/>
                </a:solidFill>
                <a:latin typeface="微软雅黑"/>
                <a:ea typeface="微软雅黑"/>
              </a:rPr>
              <a:t>催办对应责任部门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300" b="0">
                <a:solidFill>
                  <a:srgbClr val="E9F8FF"/>
                </a:solidFill>
                <a:latin typeface="微软雅黑"/>
                <a:ea typeface="微软雅黑"/>
              </a:rPr>
              <a:t>小慧不向 HCM 做 POST / PUT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99632" y="3611880"/>
            <a:ext cx="5541264" cy="1965960"/>
          </a:xfrm>
          <a:prstGeom prst="roundRect">
            <a:avLst>
              <a:gd name="adj" fmla="val 8000"/>
            </a:avLst>
          </a:prstGeom>
          <a:solidFill>
            <a:srgbClr val="085057">
              <a:alpha val="97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99632" y="3611880"/>
            <a:ext cx="73152" cy="1965960"/>
          </a:xfrm>
          <a:prstGeom prst="rect">
            <a:avLst/>
          </a:prstGeom>
          <a:solidFill>
            <a:srgbClr val="26D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64224" y="3721608"/>
            <a:ext cx="5212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26D098"/>
                </a:solidFill>
                <a:latin typeface="微软雅黑"/>
                <a:ea typeface="微软雅黑"/>
              </a:rPr>
              <a:t>协同原则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64224" y="4069080"/>
            <a:ext cx="5212080" cy="1399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50" b="0">
                <a:solidFill>
                  <a:srgbClr val="E9F8FF"/>
                </a:solidFill>
                <a:latin typeface="微软雅黑"/>
                <a:ea typeface="微软雅黑"/>
              </a:rPr>
              <a:t>“等待部门”是合法状态，不是演示失败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50" b="0">
                <a:solidFill>
                  <a:srgbClr val="E9F8FF"/>
                </a:solidFill>
                <a:latin typeface="微软雅黑"/>
                <a:ea typeface="微软雅黑"/>
              </a:rPr>
              <a:t>本地快照只服务当次流程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50" b="0">
                <a:solidFill>
                  <a:srgbClr val="E9F8FF"/>
                </a:solidFill>
                <a:latin typeface="微软雅黑"/>
                <a:ea typeface="微软雅黑"/>
              </a:rPr>
              <a:t>部门更新后才能进入 Lobster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50" b="0">
                <a:solidFill>
                  <a:srgbClr val="E9F8FF"/>
                </a:solidFill>
                <a:latin typeface="微软雅黑"/>
                <a:ea typeface="微软雅黑"/>
              </a:rPr>
              <a:t>跨部门协同 = 读真实状态，不替人执行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941832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0" y="2834640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0" y="5522975"/>
            <a:ext cx="12191695" cy="475489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803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79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640" y="135331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267004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95160" y="161848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0" y="4389120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555955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0584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小慧 · HR数字员工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24231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40233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方案规划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5623560" y="109728"/>
            <a:ext cx="1527048" cy="356616"/>
          </a:xfrm>
          <a:prstGeom prst="parallelogram">
            <a:avLst/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2163B"/>
                </a:solidFill>
                <a:latin typeface="微软雅黑"/>
                <a:ea typeface="微软雅黑"/>
              </a:rPr>
              <a:t>技能演示</a:t>
            </a:r>
          </a:p>
        </p:txBody>
      </p:sp>
      <p:sp>
        <p:nvSpPr>
          <p:cNvPr id="23" name="Parallelogram 22"/>
          <p:cNvSpPr/>
          <p:nvPr/>
        </p:nvSpPr>
        <p:spPr>
          <a:xfrm>
            <a:off x="72237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完整流程</a:t>
            </a:r>
          </a:p>
        </p:txBody>
      </p:sp>
      <p:sp>
        <p:nvSpPr>
          <p:cNvPr id="25" name="Parallelogram 24"/>
          <p:cNvSpPr/>
          <p:nvPr/>
        </p:nvSpPr>
        <p:spPr>
          <a:xfrm>
            <a:off x="88239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成果展望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6768" y="109728"/>
            <a:ext cx="10515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EC2D8"/>
                </a:solidFill>
                <a:latin typeface="微软雅黑"/>
                <a:ea typeface="微软雅黑"/>
              </a:rPr>
              <a:t>04 / 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"/>
            <a:ext cx="12191695" cy="411480"/>
          </a:xfrm>
          <a:prstGeom prst="rect">
            <a:avLst/>
          </a:prstGeom>
          <a:solidFill>
            <a:srgbClr val="02163B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722376"/>
            <a:ext cx="8229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9EC2D8"/>
                </a:solidFill>
                <a:latin typeface="微软雅黑"/>
                <a:ea typeface="微软雅黑"/>
              </a:rPr>
              <a:t>技能地图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615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总控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招聘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2163B"/>
                </a:solidFill>
                <a:latin typeface="微软雅黑"/>
                <a:ea typeface="微软雅黑"/>
              </a:rPr>
              <a:t>入职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71616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71616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培训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90104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0104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绩效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859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859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行政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1170432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0D8FF"/>
                </a:solidFill>
                <a:latin typeface="微软雅黑"/>
                <a:ea typeface="微软雅黑"/>
              </a:rPr>
              <a:t>03  CORE · LOBSTER HITL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1399032"/>
            <a:ext cx="1115568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优设标题黑"/>
                <a:ea typeface="优设标题黑"/>
              </a:rPr>
              <a:t>Lobster：把人工决策写成不可跳过的节点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" y="1901952"/>
            <a:ext cx="685800" cy="4572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1819656"/>
            <a:ext cx="101498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20" b="0">
                <a:solidFill>
                  <a:srgbClr val="9EC2D8"/>
                </a:solidFill>
                <a:latin typeface="微软雅黑"/>
                <a:ea typeface="微软雅黑"/>
              </a:rPr>
              <a:t>现场验证：start → contract_gate halt → resume → 从暂停点恢复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" y="2194560"/>
            <a:ext cx="2697480" cy="50292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2194560"/>
            <a:ext cx="269748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0D8FF"/>
                </a:solidFill>
                <a:latin typeface="微软雅黑"/>
                <a:ea typeface="微软雅黑"/>
              </a:rPr>
              <a:t>入职 Skill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136392" y="2441448"/>
            <a:ext cx="137160" cy="0"/>
          </a:xfrm>
          <a:prstGeom prst="line">
            <a:avLst/>
          </a:prstGeom>
          <a:ln w="12700">
            <a:solidFill>
              <a:srgbClr val="00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3319272" y="2194560"/>
            <a:ext cx="2697480" cy="50292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19272" y="2194560"/>
            <a:ext cx="269748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0D8FF"/>
                </a:solidFill>
                <a:latin typeface="微软雅黑"/>
                <a:ea typeface="微软雅黑"/>
              </a:rPr>
              <a:t>run-onboarding.sh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016752" y="2441448"/>
            <a:ext cx="137160" cy="0"/>
          </a:xfrm>
          <a:prstGeom prst="line">
            <a:avLst/>
          </a:prstGeom>
          <a:ln w="12700">
            <a:solidFill>
              <a:srgbClr val="00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199631" y="2194560"/>
            <a:ext cx="2697480" cy="50292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99631" y="2194560"/>
            <a:ext cx="269748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A421"/>
                </a:solidFill>
                <a:latin typeface="微软雅黑"/>
                <a:ea typeface="微软雅黑"/>
              </a:rPr>
              <a:t>Lobster 引擎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897111" y="2441448"/>
            <a:ext cx="137160" cy="0"/>
          </a:xfrm>
          <a:prstGeom prst="line">
            <a:avLst/>
          </a:prstGeom>
          <a:ln w="12700">
            <a:solidFill>
              <a:srgbClr val="FFA4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9079992" y="2194560"/>
            <a:ext cx="2697480" cy="50292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79992" y="2194560"/>
            <a:ext cx="269748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0D8FF"/>
                </a:solidFill>
                <a:latin typeface="微软雅黑"/>
                <a:ea typeface="微软雅黑"/>
              </a:rPr>
              <a:t>hr-onboarding.lobster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2926080"/>
            <a:ext cx="1920240" cy="384048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2926080"/>
            <a:ext cx="19202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00D8FF"/>
                </a:solidFill>
                <a:latin typeface="微软雅黑"/>
                <a:ea typeface="微软雅黑"/>
              </a:rPr>
              <a:t>prep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60320" y="3118104"/>
            <a:ext cx="228600" cy="0"/>
          </a:xfrm>
          <a:prstGeom prst="line">
            <a:avLst/>
          </a:prstGeom>
          <a:ln w="11430">
            <a:solidFill>
              <a:srgbClr val="1268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2834639" y="2926080"/>
            <a:ext cx="1920240" cy="384048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34639" y="2926080"/>
            <a:ext cx="19202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A421"/>
                </a:solidFill>
                <a:latin typeface="微软雅黑"/>
                <a:ea typeface="微软雅黑"/>
              </a:rPr>
              <a:t>contract_gate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754879" y="3118104"/>
            <a:ext cx="228600" cy="0"/>
          </a:xfrm>
          <a:prstGeom prst="line">
            <a:avLst/>
          </a:prstGeom>
          <a:ln w="11430">
            <a:solidFill>
              <a:srgbClr val="1268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5029200" y="2926080"/>
            <a:ext cx="1920240" cy="384048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0" y="2926080"/>
            <a:ext cx="19202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A421"/>
                </a:solidFill>
                <a:latin typeface="微软雅黑"/>
                <a:ea typeface="微软雅黑"/>
              </a:rPr>
              <a:t>account_gate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949440" y="3118104"/>
            <a:ext cx="228600" cy="0"/>
          </a:xfrm>
          <a:prstGeom prst="line">
            <a:avLst/>
          </a:prstGeom>
          <a:ln w="11430">
            <a:solidFill>
              <a:srgbClr val="1268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7223759" y="2926080"/>
            <a:ext cx="1920240" cy="384048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23759" y="2926080"/>
            <a:ext cx="19202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00D8FF"/>
                </a:solidFill>
                <a:latin typeface="微软雅黑"/>
                <a:ea typeface="微软雅黑"/>
              </a:rPr>
              <a:t>buddy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9143999" y="3118104"/>
            <a:ext cx="228600" cy="0"/>
          </a:xfrm>
          <a:prstGeom prst="line">
            <a:avLst/>
          </a:prstGeom>
          <a:ln w="11430">
            <a:solidFill>
              <a:srgbClr val="1268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9418319" y="2926080"/>
            <a:ext cx="1920240" cy="384048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18319" y="2926080"/>
            <a:ext cx="19202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26D098"/>
                </a:solidFill>
                <a:latin typeface="微软雅黑"/>
                <a:ea typeface="微软雅黑"/>
              </a:rPr>
              <a:t>complete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38912" y="3566160"/>
            <a:ext cx="5577840" cy="2148840"/>
          </a:xfrm>
          <a:prstGeom prst="roundRect">
            <a:avLst>
              <a:gd name="adj" fmla="val 8000"/>
            </a:avLst>
          </a:prstGeom>
          <a:solidFill>
            <a:srgbClr val="00112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" y="3703320"/>
            <a:ext cx="5212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0D8FF"/>
                </a:solidFill>
                <a:latin typeface="微软雅黑"/>
                <a:ea typeface="微软雅黑"/>
              </a:rPr>
              <a:t>hr-onboarding.lobster｜核心语义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069080"/>
            <a:ext cx="512064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88000"/>
              </a:lnSpc>
              <a:spcAft>
                <a:spcPts val="200"/>
              </a:spcAft>
            </a:pPr>
            <a:r>
              <a:rPr sz="1120" b="0">
                <a:solidFill>
                  <a:srgbClr val="E9F8FF"/>
                </a:solidFill>
                <a:latin typeface="Courier New"/>
                <a:ea typeface="Courier New"/>
              </a:rPr>
              <a:t>- id: contract_gate</a:t>
            </a:r>
          </a:p>
          <a:p>
            <a:pPr algn="l">
              <a:lnSpc>
                <a:spcPct val="88000"/>
              </a:lnSpc>
              <a:spcAft>
                <a:spcPts val="200"/>
              </a:spcAft>
            </a:pPr>
            <a:r>
              <a:rPr sz="1120" b="0">
                <a:solidFill>
                  <a:srgbClr val="E9F8FF"/>
                </a:solidFill>
                <a:latin typeface="Courier New"/>
                <a:ea typeface="Courier New"/>
              </a:rPr>
              <a:t>  run: build-approval-prompt.py</a:t>
            </a:r>
          </a:p>
          <a:p>
            <a:pPr algn="l">
              <a:lnSpc>
                <a:spcPct val="88000"/>
              </a:lnSpc>
              <a:spcAft>
                <a:spcPts val="200"/>
              </a:spcAft>
            </a:pPr>
            <a:r>
              <a:rPr sz="1120" b="0">
                <a:solidFill>
                  <a:srgbClr val="E9F8FF"/>
                </a:solidFill>
                <a:latin typeface="Courier New"/>
                <a:ea typeface="Courier New"/>
              </a:rPr>
              <a:t>  approval: true          # 自动 halt</a:t>
            </a:r>
          </a:p>
          <a:p>
            <a:pPr algn="l">
              <a:lnSpc>
                <a:spcPct val="88000"/>
              </a:lnSpc>
              <a:spcAft>
                <a:spcPts val="200"/>
              </a:spcAft>
            </a:pPr>
            <a:r>
              <a:rPr sz="1120" b="0">
                <a:solidFill>
                  <a:srgbClr val="E9F8FF"/>
                </a:solidFill>
                <a:latin typeface="Courier New"/>
                <a:ea typeface="Courier New"/>
              </a:rPr>
              <a:t/>
            </a:r>
          </a:p>
          <a:p>
            <a:pPr algn="l">
              <a:lnSpc>
                <a:spcPct val="88000"/>
              </a:lnSpc>
              <a:spcAft>
                <a:spcPts val="200"/>
              </a:spcAft>
            </a:pPr>
            <a:r>
              <a:rPr sz="1120" b="0">
                <a:solidFill>
                  <a:srgbClr val="E9F8FF"/>
                </a:solidFill>
                <a:latin typeface="Courier New"/>
                <a:ea typeface="Courier New"/>
              </a:rPr>
              <a:t>- id: complete</a:t>
            </a:r>
          </a:p>
          <a:p>
            <a:pPr algn="l">
              <a:lnSpc>
                <a:spcPct val="88000"/>
              </a:lnSpc>
              <a:spcAft>
                <a:spcPts val="200"/>
              </a:spcAft>
            </a:pPr>
            <a:r>
              <a:rPr sz="1120" b="0">
                <a:solidFill>
                  <a:srgbClr val="E9F8FF"/>
                </a:solidFill>
                <a:latin typeface="Courier New"/>
                <a:ea typeface="Courier New"/>
              </a:rPr>
              <a:t>  when: contract &amp;&amp; account approved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09360" y="3566160"/>
            <a:ext cx="5431536" cy="2148840"/>
          </a:xfrm>
          <a:prstGeom prst="roundRect">
            <a:avLst>
              <a:gd name="adj" fmla="val 8000"/>
            </a:avLst>
          </a:prstGeom>
          <a:solidFill>
            <a:srgbClr val="032B5C">
              <a:alpha val="97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09360" y="3566160"/>
            <a:ext cx="73152" cy="2148840"/>
          </a:xfrm>
          <a:prstGeom prst="rect">
            <a:avLst/>
          </a:prstGeom>
          <a:solidFill>
            <a:srgbClr val="FFA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73952" y="3675888"/>
            <a:ext cx="5102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A421"/>
                </a:solidFill>
                <a:latin typeface="微软雅黑"/>
                <a:ea typeface="微软雅黑"/>
              </a:rPr>
              <a:t>现场必须看见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73952" y="4023360"/>
            <a:ext cx="5102352" cy="1581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20" b="0">
                <a:solidFill>
                  <a:srgbClr val="E9F8FF"/>
                </a:solidFill>
                <a:latin typeface="微软雅黑"/>
                <a:ea typeface="微软雅黑"/>
              </a:rPr>
              <a:t>status = needs_approval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20" b="0">
                <a:solidFill>
                  <a:srgbClr val="E9F8FF"/>
                </a:solidFill>
                <a:latin typeface="微软雅黑"/>
                <a:ea typeface="微软雅黑"/>
              </a:rPr>
              <a:t>current_step = contract_gate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20" b="0">
                <a:solidFill>
                  <a:srgbClr val="E9F8FF"/>
                </a:solidFill>
                <a:latin typeface="微软雅黑"/>
                <a:ea typeface="微软雅黑"/>
              </a:rPr>
              <a:t>审批正文原样展示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20" b="0">
                <a:solidFill>
                  <a:srgbClr val="E9F8FF"/>
                </a:solidFill>
                <a:latin typeface="微软雅黑"/>
                <a:ea typeface="微软雅黑"/>
              </a:rPr>
              <a:t>本次专属 resumeToken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20" b="0">
                <a:solidFill>
                  <a:srgbClr val="E9F8FF"/>
                </a:solidFill>
                <a:latin typeface="微软雅黑"/>
                <a:ea typeface="微软雅黑"/>
              </a:rPr>
              <a:t>resume 后从暂停点继续，不重跑整链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941832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0" y="2834640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0" y="5522975"/>
            <a:ext cx="12191695" cy="475489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803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79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640" y="135331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267004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95160" y="161848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0" y="4389120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555955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0584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小慧 · HR数字员工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24231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40233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方案规划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5623560" y="109728"/>
            <a:ext cx="1527048" cy="356616"/>
          </a:xfrm>
          <a:prstGeom prst="parallelogram">
            <a:avLst/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2163B"/>
                </a:solidFill>
                <a:latin typeface="微软雅黑"/>
                <a:ea typeface="微软雅黑"/>
              </a:rPr>
              <a:t>技能演示</a:t>
            </a:r>
          </a:p>
        </p:txBody>
      </p:sp>
      <p:sp>
        <p:nvSpPr>
          <p:cNvPr id="23" name="Parallelogram 22"/>
          <p:cNvSpPr/>
          <p:nvPr/>
        </p:nvSpPr>
        <p:spPr>
          <a:xfrm>
            <a:off x="72237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完整流程</a:t>
            </a:r>
          </a:p>
        </p:txBody>
      </p:sp>
      <p:sp>
        <p:nvSpPr>
          <p:cNvPr id="25" name="Parallelogram 24"/>
          <p:cNvSpPr/>
          <p:nvPr/>
        </p:nvSpPr>
        <p:spPr>
          <a:xfrm>
            <a:off x="88239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成果展望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6768" y="109728"/>
            <a:ext cx="10515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EC2D8"/>
                </a:solidFill>
                <a:latin typeface="微软雅黑"/>
                <a:ea typeface="微软雅黑"/>
              </a:rPr>
              <a:t>05 / 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"/>
            <a:ext cx="12191695" cy="411480"/>
          </a:xfrm>
          <a:prstGeom prst="rect">
            <a:avLst/>
          </a:prstGeom>
          <a:solidFill>
            <a:srgbClr val="02163B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722376"/>
            <a:ext cx="8229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9EC2D8"/>
                </a:solidFill>
                <a:latin typeface="微软雅黑"/>
                <a:ea typeface="微软雅黑"/>
              </a:rPr>
              <a:t>技能地图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615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总控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招聘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2163B"/>
                </a:solidFill>
                <a:latin typeface="微软雅黑"/>
                <a:ea typeface="微软雅黑"/>
              </a:rPr>
              <a:t>入职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71616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71616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培训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90104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0104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绩效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859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859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行政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1170432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0D8FF"/>
                </a:solidFill>
                <a:latin typeface="微软雅黑"/>
                <a:ea typeface="微软雅黑"/>
              </a:rPr>
              <a:t>03  SECOND GATE · DUAL THRESHOLD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1399032"/>
            <a:ext cx="1115568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优设标题黑"/>
                <a:ea typeface="优设标题黑"/>
              </a:rPr>
              <a:t>账号权限门＋双重完成：拦住两类假成功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" y="1901952"/>
            <a:ext cx="685800" cy="4572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1819656"/>
            <a:ext cx="101498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20" b="0">
                <a:solidFill>
                  <a:srgbClr val="9EC2D8"/>
                </a:solidFill>
                <a:latin typeface="微软雅黑"/>
                <a:ea typeface="微软雅黑"/>
              </a:rPr>
              <a:t>新门生成新 token；审批完成 ≠ 部门准备完成 ≠ 跟进完成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" y="219456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032B5C">
              <a:alpha val="97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8912" y="2194560"/>
            <a:ext cx="73152" cy="1828800"/>
          </a:xfrm>
          <a:prstGeom prst="rect">
            <a:avLst/>
          </a:prstGeom>
          <a:solidFill>
            <a:srgbClr val="FFA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" y="2304288"/>
            <a:ext cx="332841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A421"/>
                </a:solidFill>
                <a:latin typeface="微软雅黑"/>
                <a:ea typeface="微软雅黑"/>
              </a:rPr>
              <a:t>第二道｜账号权限门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" y="2651760"/>
            <a:ext cx="3328416" cy="1261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50" b="0">
                <a:solidFill>
                  <a:srgbClr val="E9F8FF"/>
                </a:solidFill>
                <a:latin typeface="微软雅黑"/>
                <a:ea typeface="微软雅黑"/>
              </a:rPr>
              <a:t>审批人：IT 安全负责人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50" b="0">
                <a:solidFill>
                  <a:srgbClr val="E9F8FF"/>
                </a:solidFill>
                <a:latin typeface="微软雅黑"/>
                <a:ea typeface="微软雅黑"/>
              </a:rPr>
              <a:t>批准 → workflow complete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50" b="0">
                <a:solidFill>
                  <a:srgbClr val="E9F8FF"/>
                </a:solidFill>
                <a:latin typeface="微软雅黑"/>
                <a:ea typeface="微软雅黑"/>
              </a:rPr>
              <a:t>拒绝 → cancelled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50" b="0">
                <a:solidFill>
                  <a:srgbClr val="E9F8FF"/>
                </a:solidFill>
                <a:latin typeface="微软雅黑"/>
                <a:ea typeface="微软雅黑"/>
              </a:rPr>
              <a:t>材料不足：不建议批准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15968" y="219456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032B5C">
              <a:alpha val="97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15968" y="2194560"/>
            <a:ext cx="73152" cy="182880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80560" y="2304288"/>
            <a:ext cx="332841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0D8FF"/>
                </a:solidFill>
                <a:latin typeface="微软雅黑"/>
                <a:ea typeface="微软雅黑"/>
              </a:rPr>
              <a:t>token 硬规则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2651760"/>
            <a:ext cx="3328416" cy="1261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50" b="0">
                <a:solidFill>
                  <a:srgbClr val="E9F8FF"/>
                </a:solidFill>
                <a:latin typeface="微软雅黑"/>
                <a:ea typeface="微软雅黑"/>
              </a:rPr>
              <a:t>每道门新 resumeToken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50" b="0">
                <a:solidFill>
                  <a:srgbClr val="E9F8FF"/>
                </a:solidFill>
                <a:latin typeface="微软雅黑"/>
                <a:ea typeface="微软雅黑"/>
              </a:rPr>
              <a:t>旧 token 不可复用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50" b="0">
                <a:solidFill>
                  <a:srgbClr val="E9F8FF"/>
                </a:solidFill>
                <a:latin typeface="微软雅黑"/>
                <a:ea typeface="微软雅黑"/>
              </a:rPr>
              <a:t>approvalId 不能代替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50" b="0">
                <a:solidFill>
                  <a:srgbClr val="E9F8FF"/>
                </a:solidFill>
                <a:latin typeface="微软雅黑"/>
                <a:ea typeface="微软雅黑"/>
              </a:rPr>
              <a:t>正文不可改写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93024" y="2194560"/>
            <a:ext cx="3529584" cy="1828800"/>
          </a:xfrm>
          <a:prstGeom prst="roundRect">
            <a:avLst>
              <a:gd name="adj" fmla="val 8000"/>
            </a:avLst>
          </a:prstGeom>
          <a:solidFill>
            <a:srgbClr val="561726">
              <a:alpha val="97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93024" y="2194560"/>
            <a:ext cx="73152" cy="1828800"/>
          </a:xfrm>
          <a:prstGeom prst="rect">
            <a:avLst/>
          </a:prstGeom>
          <a:solidFill>
            <a:srgbClr val="F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57616" y="2304288"/>
            <a:ext cx="3200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15A66"/>
                </a:solidFill>
                <a:latin typeface="微软雅黑"/>
                <a:ea typeface="微软雅黑"/>
              </a:rPr>
              <a:t>假成功 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57616" y="2651760"/>
            <a:ext cx="3200400" cy="1261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50" b="0">
                <a:solidFill>
                  <a:srgbClr val="E9F8FF"/>
                </a:solidFill>
                <a:latin typeface="微软雅黑"/>
                <a:ea typeface="微软雅黑"/>
              </a:rPr>
              <a:t>两门通过 ≠ 五节点完成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50" b="0">
                <a:solidFill>
                  <a:srgbClr val="E9F8FF"/>
                </a:solidFill>
                <a:latin typeface="微软雅黑"/>
                <a:ea typeface="微软雅黑"/>
              </a:rPr>
              <a:t>账号/设备/Buddy/培训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250" b="0">
                <a:solidFill>
                  <a:srgbClr val="E9F8FF"/>
                </a:solidFill>
                <a:latin typeface="微软雅黑"/>
                <a:ea typeface="微软雅黑"/>
              </a:rPr>
              <a:t>仍可能待办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8912" y="4297680"/>
            <a:ext cx="3200400" cy="1097280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" y="4480560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A421"/>
                </a:solidFill>
                <a:latin typeface="微软雅黑"/>
                <a:ea typeface="微软雅黑"/>
              </a:rPr>
              <a:t>Lobster 两门批准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" y="4846320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E9F8FF"/>
                </a:solidFill>
                <a:latin typeface="微软雅黑"/>
                <a:ea typeface="微软雅黑"/>
              </a:rPr>
              <a:t>workflow = complete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49039" y="461772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E9F8FF"/>
                </a:solidFill>
                <a:latin typeface="微软雅黑"/>
                <a:ea typeface="微软雅黑"/>
              </a:rPr>
              <a:t>＋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51960" y="4297680"/>
            <a:ext cx="3200400" cy="1097280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34840" y="4480560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0D8FF"/>
                </a:solidFill>
                <a:latin typeface="微软雅黑"/>
                <a:ea typeface="微软雅黑"/>
              </a:rPr>
              <a:t>HCM 五节点全绿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34840" y="4846320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E9F8FF"/>
                </a:solidFill>
                <a:latin typeface="微软雅黑"/>
                <a:ea typeface="微软雅黑"/>
              </a:rPr>
              <a:t>all nodes completed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43800" y="461772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E9F8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46720" y="4297680"/>
            <a:ext cx="3675887" cy="1097280"/>
          </a:xfrm>
          <a:prstGeom prst="roundRect">
            <a:avLst>
              <a:gd name="adj" fmla="val 8000"/>
            </a:avLst>
          </a:prstGeom>
          <a:solidFill>
            <a:srgbClr val="085057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29600" y="4480560"/>
            <a:ext cx="33101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6D098"/>
                </a:solidFill>
                <a:latin typeface="微软雅黑"/>
                <a:ea typeface="微软雅黑"/>
              </a:rPr>
              <a:t>开通 7/30/60/90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4846320"/>
            <a:ext cx="33101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E9F8FF"/>
                </a:solidFill>
                <a:latin typeface="微软雅黑"/>
                <a:ea typeface="微软雅黑"/>
              </a:rPr>
              <a:t>sync-reviews-if-ready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38912" y="5623560"/>
            <a:ext cx="11301984" cy="45720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" y="5623560"/>
            <a:ext cx="10936224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6D098"/>
                </a:solidFill>
                <a:latin typeface="微软雅黑"/>
                <a:ea typeface="微软雅黑"/>
              </a:rPr>
              <a:t>现场验证：任一节点未完成 → sync-reviews-if-ready 跳过，不挂 Cron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941832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0" y="2834640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0" y="5522975"/>
            <a:ext cx="12191695" cy="475489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803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79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640" y="135331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267004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95160" y="161848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0" y="4389120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555955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0584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小慧 · HR数字员工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24231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40233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方案规划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5623560" y="109728"/>
            <a:ext cx="1527048" cy="356616"/>
          </a:xfrm>
          <a:prstGeom prst="parallelogram">
            <a:avLst/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2163B"/>
                </a:solidFill>
                <a:latin typeface="微软雅黑"/>
                <a:ea typeface="微软雅黑"/>
              </a:rPr>
              <a:t>技能演示</a:t>
            </a:r>
          </a:p>
        </p:txBody>
      </p:sp>
      <p:sp>
        <p:nvSpPr>
          <p:cNvPr id="23" name="Parallelogram 22"/>
          <p:cNvSpPr/>
          <p:nvPr/>
        </p:nvSpPr>
        <p:spPr>
          <a:xfrm>
            <a:off x="72237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完整流程</a:t>
            </a:r>
          </a:p>
        </p:txBody>
      </p:sp>
      <p:sp>
        <p:nvSpPr>
          <p:cNvPr id="25" name="Parallelogram 24"/>
          <p:cNvSpPr/>
          <p:nvPr/>
        </p:nvSpPr>
        <p:spPr>
          <a:xfrm>
            <a:off x="88239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成果展望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6768" y="109728"/>
            <a:ext cx="10515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EC2D8"/>
                </a:solidFill>
                <a:latin typeface="微软雅黑"/>
                <a:ea typeface="微软雅黑"/>
              </a:rPr>
              <a:t>06 / 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"/>
            <a:ext cx="12191695" cy="411480"/>
          </a:xfrm>
          <a:prstGeom prst="rect">
            <a:avLst/>
          </a:prstGeom>
          <a:solidFill>
            <a:srgbClr val="02163B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722376"/>
            <a:ext cx="8229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9EC2D8"/>
                </a:solidFill>
                <a:latin typeface="微软雅黑"/>
                <a:ea typeface="微软雅黑"/>
              </a:rPr>
              <a:t>技能地图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615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总控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招聘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2163B"/>
                </a:solidFill>
                <a:latin typeface="微软雅黑"/>
                <a:ea typeface="微软雅黑"/>
              </a:rPr>
              <a:t>入职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71616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71616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培训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90104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0104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绩效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859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859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行政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1170432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0D8FF"/>
                </a:solidFill>
                <a:latin typeface="微软雅黑"/>
                <a:ea typeface="微软雅黑"/>
              </a:rPr>
              <a:t>03  CRON · FEISHU DELIVERY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1399032"/>
            <a:ext cx="1115568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优设标题黑"/>
                <a:ea typeface="优设标题黑"/>
              </a:rPr>
              <a:t>到期不是自动完成：Cron主动催办，HR回填闭环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" y="1901952"/>
            <a:ext cx="685800" cy="4572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1819656"/>
            <a:ext cx="101498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20" b="0">
                <a:solidFill>
                  <a:srgbClr val="9EC2D8"/>
                </a:solidFill>
                <a:latin typeface="微软雅黑"/>
                <a:ea typeface="微软雅黑"/>
              </a:rPr>
              <a:t>一次性定时任务在隔离会话运行，飞书只负责通知，不直接修改跟进结果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" y="2194560"/>
            <a:ext cx="5577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0D8FF"/>
                </a:solidFill>
                <a:latin typeface="微软雅黑"/>
                <a:ea typeface="微软雅黑"/>
              </a:rPr>
              <a:t>触发链路｜五节点全绿后才注册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8912" y="2578608"/>
            <a:ext cx="5394960" cy="5120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" y="2670048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80" b="1">
                <a:solidFill>
                  <a:srgbClr val="00D8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2642616"/>
            <a:ext cx="190195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E9F8FF"/>
                </a:solidFill>
                <a:latin typeface="微软雅黑"/>
                <a:ea typeface="微软雅黑"/>
              </a:rPr>
              <a:t>五节点全绿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71800" y="2642616"/>
            <a:ext cx="26060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30" b="0">
                <a:solidFill>
                  <a:srgbClr val="9EC2D8"/>
                </a:solidFill>
                <a:latin typeface="微软雅黑"/>
                <a:ea typeface="微软雅黑"/>
              </a:rPr>
              <a:t>sync-reviews-if-ready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127248" y="3090672"/>
            <a:ext cx="0" cy="109728"/>
          </a:xfrm>
          <a:prstGeom prst="line">
            <a:avLst/>
          </a:prstGeom>
          <a:ln w="10160">
            <a:solidFill>
              <a:srgbClr val="1268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38912" y="3209544"/>
            <a:ext cx="5394960" cy="5120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504" y="3300984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80" b="1">
                <a:solidFill>
                  <a:srgbClr val="00D8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" y="3273552"/>
            <a:ext cx="190195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E9F8FF"/>
                </a:solidFill>
                <a:latin typeface="微软雅黑"/>
                <a:ea typeface="微软雅黑"/>
              </a:rPr>
              <a:t>注册一次性 Cron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71800" y="3273552"/>
            <a:ext cx="26060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30" b="0">
                <a:solidFill>
                  <a:srgbClr val="9EC2D8"/>
                </a:solidFill>
                <a:latin typeface="微软雅黑"/>
                <a:ea typeface="微软雅黑"/>
              </a:rPr>
              <a:t>7 / 30 / 60 / 90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127248" y="3721608"/>
            <a:ext cx="0" cy="109728"/>
          </a:xfrm>
          <a:prstGeom prst="line">
            <a:avLst/>
          </a:prstGeom>
          <a:ln w="10160">
            <a:solidFill>
              <a:srgbClr val="1268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438912" y="3840479"/>
            <a:ext cx="5394960" cy="5120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" y="3931919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80" b="1">
                <a:solidFill>
                  <a:srgbClr val="00D8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" y="3904487"/>
            <a:ext cx="190195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E9F8FF"/>
                </a:solidFill>
                <a:latin typeface="微软雅黑"/>
                <a:ea typeface="微软雅黑"/>
              </a:rPr>
              <a:t>到期触发 Agent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71800" y="3904487"/>
            <a:ext cx="26060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30" b="0">
                <a:solidFill>
                  <a:srgbClr val="9EC2D8"/>
                </a:solidFill>
                <a:latin typeface="微软雅黑"/>
                <a:ea typeface="微软雅黑"/>
              </a:rPr>
              <a:t>隔离会话运行 review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127248" y="4352543"/>
            <a:ext cx="0" cy="109728"/>
          </a:xfrm>
          <a:prstGeom prst="line">
            <a:avLst/>
          </a:prstGeom>
          <a:ln w="10160">
            <a:solidFill>
              <a:srgbClr val="1268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438912" y="4471416"/>
            <a:ext cx="5394960" cy="5120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3504" y="4562856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80" b="1">
                <a:solidFill>
                  <a:srgbClr val="00D8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" y="4535424"/>
            <a:ext cx="190195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E9F8FF"/>
                </a:solidFill>
                <a:latin typeface="微软雅黑"/>
                <a:ea typeface="微软雅黑"/>
              </a:rPr>
              <a:t>飞书 announce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71800" y="4535424"/>
            <a:ext cx="26060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30" b="0">
                <a:solidFill>
                  <a:srgbClr val="9EC2D8"/>
                </a:solidFill>
                <a:latin typeface="微软雅黑"/>
                <a:ea typeface="微软雅黑"/>
              </a:rPr>
              <a:t>推送重点与待回填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127248" y="4983480"/>
            <a:ext cx="0" cy="109728"/>
          </a:xfrm>
          <a:prstGeom prst="line">
            <a:avLst/>
          </a:prstGeom>
          <a:ln w="10160">
            <a:solidFill>
              <a:srgbClr val="1268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438912" y="5102352"/>
            <a:ext cx="5394960" cy="5120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03504" y="5193792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80" b="1">
                <a:solidFill>
                  <a:srgbClr val="26D098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" y="5166360"/>
            <a:ext cx="190195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E9F8FF"/>
                </a:solidFill>
                <a:latin typeface="微软雅黑"/>
                <a:ea typeface="微软雅黑"/>
              </a:rPr>
              <a:t>HR 确认后回填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71800" y="5166360"/>
            <a:ext cx="26060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30" b="0">
                <a:solidFill>
                  <a:srgbClr val="9EC2D8"/>
                </a:solidFill>
                <a:latin typeface="微软雅黑"/>
                <a:ea typeface="微软雅黑"/>
              </a:rPr>
              <a:t>CLI record 才完成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38912" y="5843016"/>
            <a:ext cx="5394960" cy="356616"/>
          </a:xfrm>
          <a:prstGeom prst="roundRect">
            <a:avLst>
              <a:gd name="adj" fmla="val 8000"/>
            </a:avLst>
          </a:prstGeom>
          <a:solidFill>
            <a:srgbClr val="085057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1792" y="5843016"/>
            <a:ext cx="5029200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6D098"/>
                </a:solidFill>
                <a:latin typeface="微软雅黑"/>
                <a:ea typeface="微软雅黑"/>
              </a:rPr>
              <a:t>边界：推送成功 ≠ 跟进完成｜尚未回填保持 due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108192" y="2194560"/>
            <a:ext cx="5632704" cy="4005072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9360" y="2331720"/>
            <a:ext cx="52303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26D098"/>
                </a:solidFill>
                <a:latin typeface="微软雅黑"/>
                <a:ea typeface="微软雅黑"/>
              </a:rPr>
              <a:t>真实推送证据｜员工2 · 第7天</a:t>
            </a:r>
          </a:p>
        </p:txBody>
      </p:sp>
      <p:pic>
        <p:nvPicPr>
          <p:cNvPr id="75" name="Picture 74" descr="feishu-review-day7-employee2-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2688336"/>
            <a:ext cx="2377011" cy="333756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318504" y="5925312"/>
            <a:ext cx="52303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40" b="1">
                <a:solidFill>
                  <a:srgbClr val="9EC2D8"/>
                </a:solidFill>
                <a:latin typeface="微软雅黑"/>
                <a:ea typeface="微软雅黑"/>
              </a:rPr>
              <a:t>HCM：onboarding｜五节点：completed｜Review：due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941832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0" y="2834640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0" y="5522975"/>
            <a:ext cx="12191695" cy="475489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803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79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640" y="135331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267004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95160" y="161848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0" y="4389120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555955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0584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小慧 · HR数字员工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24231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40233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方案规划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5623560" y="109728"/>
            <a:ext cx="1527048" cy="356616"/>
          </a:xfrm>
          <a:prstGeom prst="parallelogram">
            <a:avLst/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2163B"/>
                </a:solidFill>
                <a:latin typeface="微软雅黑"/>
                <a:ea typeface="微软雅黑"/>
              </a:rPr>
              <a:t>技能演示</a:t>
            </a:r>
          </a:p>
        </p:txBody>
      </p:sp>
      <p:sp>
        <p:nvSpPr>
          <p:cNvPr id="23" name="Parallelogram 22"/>
          <p:cNvSpPr/>
          <p:nvPr/>
        </p:nvSpPr>
        <p:spPr>
          <a:xfrm>
            <a:off x="72237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完整流程</a:t>
            </a:r>
          </a:p>
        </p:txBody>
      </p:sp>
      <p:sp>
        <p:nvSpPr>
          <p:cNvPr id="25" name="Parallelogram 24"/>
          <p:cNvSpPr/>
          <p:nvPr/>
        </p:nvSpPr>
        <p:spPr>
          <a:xfrm>
            <a:off x="88239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成果展望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6768" y="109728"/>
            <a:ext cx="10515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EC2D8"/>
                </a:solidFill>
                <a:latin typeface="微软雅黑"/>
                <a:ea typeface="微软雅黑"/>
              </a:rPr>
              <a:t>07 / 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"/>
            <a:ext cx="12191695" cy="411480"/>
          </a:xfrm>
          <a:prstGeom prst="rect">
            <a:avLst/>
          </a:prstGeom>
          <a:solidFill>
            <a:srgbClr val="02163B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722376"/>
            <a:ext cx="8229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9EC2D8"/>
                </a:solidFill>
                <a:latin typeface="微软雅黑"/>
                <a:ea typeface="微软雅黑"/>
              </a:rPr>
              <a:t>技能地图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615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总控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招聘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2163B"/>
                </a:solidFill>
                <a:latin typeface="微软雅黑"/>
                <a:ea typeface="微软雅黑"/>
              </a:rPr>
              <a:t>入职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71616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71616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培训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90104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0104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绩效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859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859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行政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1170432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0D8FF"/>
                </a:solidFill>
                <a:latin typeface="微软雅黑"/>
                <a:ea typeface="微软雅黑"/>
              </a:rPr>
              <a:t>03  FOLLOW-UP · 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1399032"/>
            <a:ext cx="1115568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优设标题黑"/>
                <a:ea typeface="优设标题黑"/>
              </a:rPr>
              <a:t>跟进只提醒，完成靠回填；所有结论都能追溯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" y="1901952"/>
            <a:ext cx="685800" cy="4572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1819656"/>
            <a:ext cx="101498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20" b="0">
                <a:solidFill>
                  <a:srgbClr val="9EC2D8"/>
                </a:solidFill>
                <a:latin typeface="微软雅黑"/>
                <a:ea typeface="微软雅黑"/>
              </a:rPr>
              <a:t>本页收束证据；自然语言查询留给完整流程联调，避免重复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" y="2194560"/>
            <a:ext cx="3840480" cy="2331720"/>
          </a:xfrm>
          <a:prstGeom prst="roundRect">
            <a:avLst>
              <a:gd name="adj" fmla="val 8000"/>
            </a:avLst>
          </a:prstGeom>
          <a:solidFill>
            <a:srgbClr val="032B5C">
              <a:alpha val="97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8912" y="2194560"/>
            <a:ext cx="73152" cy="2331720"/>
          </a:xfrm>
          <a:prstGeom prst="rect">
            <a:avLst/>
          </a:prstGeom>
          <a:solidFill>
            <a:srgbClr val="26D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" y="2304288"/>
            <a:ext cx="351129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26D098"/>
                </a:solidFill>
                <a:latin typeface="微软雅黑"/>
                <a:ea typeface="微软雅黑"/>
              </a:rPr>
              <a:t>入职后跟进边界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" y="2651760"/>
            <a:ext cx="3511296" cy="1764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300" b="0">
                <a:solidFill>
                  <a:srgbClr val="E9F8FF"/>
                </a:solidFill>
                <a:latin typeface="微软雅黑"/>
                <a:ea typeface="微软雅黑"/>
              </a:rPr>
              <a:t>7 / 30 / 60 / 90 天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300" b="0">
                <a:solidFill>
                  <a:srgbClr val="E9F8FF"/>
                </a:solidFill>
                <a:latin typeface="微软雅黑"/>
                <a:ea typeface="微软雅黑"/>
              </a:rPr>
              <a:t>Cron 只产生 needs_review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300" b="0">
                <a:solidFill>
                  <a:srgbClr val="E9F8FF"/>
                </a:solidFill>
                <a:latin typeface="微软雅黑"/>
                <a:ea typeface="微软雅黑"/>
              </a:rPr>
              <a:t>HR 确认沟通后 CLI 回填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300" b="0">
                <a:solidFill>
                  <a:srgbClr val="E9F8FF"/>
                </a:solidFill>
                <a:latin typeface="微软雅黑"/>
                <a:ea typeface="微软雅黑"/>
              </a:rPr>
              <a:t>查询与看板只读，不挂 Cron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26280" y="2194560"/>
            <a:ext cx="7196328" cy="233172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09160" y="2331720"/>
            <a:ext cx="6812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D8FF"/>
                </a:solidFill>
                <a:latin typeface="微软雅黑"/>
                <a:ea typeface="微软雅黑"/>
              </a:rPr>
              <a:t>真实证据｜看板 + workflow 事件</a:t>
            </a:r>
          </a:p>
        </p:txBody>
      </p:sp>
      <p:pic>
        <p:nvPicPr>
          <p:cNvPr id="52" name="Picture 51" descr="onboarding-dashboard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697480"/>
            <a:ext cx="4160520" cy="16002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052560" y="2788920"/>
            <a:ext cx="246888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88000"/>
              </a:lnSpc>
              <a:spcAft>
                <a:spcPts val="200"/>
              </a:spcAft>
            </a:pPr>
            <a:r>
              <a:rPr sz="1050" b="0">
                <a:solidFill>
                  <a:srgbClr val="E9F8FF"/>
                </a:solidFill>
                <a:latin typeface="Courier New"/>
                <a:ea typeface="Courier New"/>
              </a:rPr>
              <a:t>contract_gate  halted</a:t>
            </a:r>
          </a:p>
          <a:p>
            <a:pPr algn="l">
              <a:lnSpc>
                <a:spcPct val="88000"/>
              </a:lnSpc>
              <a:spcAft>
                <a:spcPts val="200"/>
              </a:spcAft>
            </a:pPr>
            <a:r>
              <a:rPr sz="1050" b="0">
                <a:solidFill>
                  <a:srgbClr val="E9F8FF"/>
                </a:solidFill>
                <a:latin typeface="Courier New"/>
                <a:ea typeface="Courier New"/>
              </a:rPr>
              <a:t>contract_gate  approved</a:t>
            </a:r>
          </a:p>
          <a:p>
            <a:pPr algn="l">
              <a:lnSpc>
                <a:spcPct val="88000"/>
              </a:lnSpc>
              <a:spcAft>
                <a:spcPts val="200"/>
              </a:spcAft>
            </a:pPr>
            <a:r>
              <a:rPr sz="1050" b="0">
                <a:solidFill>
                  <a:srgbClr val="E9F8FF"/>
                </a:solidFill>
                <a:latin typeface="Courier New"/>
                <a:ea typeface="Courier New"/>
              </a:rPr>
              <a:t>account_gate   halted</a:t>
            </a:r>
          </a:p>
          <a:p>
            <a:pPr algn="l">
              <a:lnSpc>
                <a:spcPct val="88000"/>
              </a:lnSpc>
              <a:spcAft>
                <a:spcPts val="200"/>
              </a:spcAft>
            </a:pPr>
            <a:r>
              <a:rPr sz="1050" b="0">
                <a:solidFill>
                  <a:srgbClr val="E9F8FF"/>
                </a:solidFill>
                <a:latin typeface="Courier New"/>
                <a:ea typeface="Courier New"/>
              </a:rPr>
              <a:t>account_gate   approved</a:t>
            </a:r>
          </a:p>
          <a:p>
            <a:pPr algn="l">
              <a:lnSpc>
                <a:spcPct val="88000"/>
              </a:lnSpc>
              <a:spcAft>
                <a:spcPts val="200"/>
              </a:spcAft>
            </a:pPr>
            <a:r>
              <a:rPr sz="1050" b="0">
                <a:solidFill>
                  <a:srgbClr val="E9F8FF"/>
                </a:solidFill>
                <a:latin typeface="Courier New"/>
                <a:ea typeface="Courier New"/>
              </a:rPr>
              <a:t>complete       completed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8912" y="4754880"/>
            <a:ext cx="11301984" cy="1325880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493776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A421"/>
                </a:solidFill>
                <a:latin typeface="微软雅黑"/>
                <a:ea typeface="微软雅黑"/>
              </a:rPr>
              <a:t>交接完整流程联调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534924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E9F8FF"/>
                </a:solidFill>
                <a:latin typeface="微软雅黑"/>
                <a:ea typeface="微软雅黑"/>
              </a:rPr>
              <a:t>后面从 Router 入口查询员工1入职进度：只验证正确分发与结果返回。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E9F8FF"/>
                </a:solidFill>
                <a:latin typeface="微软雅黑"/>
                <a:ea typeface="微软雅黑"/>
              </a:rPr>
              <a:t>不再修改 HCM、不再走两道审批门、不再讲解 Lobster 与法律依据。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小慧 · 入职模块技能演示跨部门编排版</dc:title>
  <dc:subject>跨部门时间轴、等待部门、Lobster人工门、双重完成与跟进闭环</dc:subject>
  <dc:creator>小慧项目团队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