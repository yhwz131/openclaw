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。培训Agent不是再让模型写一篇长文，而是按用户指定范围生成前后承接、能够验收的物料。八类只是能力上限，点名几份就生成几份。Agent生成草稿，脚本负责范围、顺序和结构，HR与讲师负责最终审核。当前使用现有脱敏业务素材，不表述为真实企业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钟。ADDIE过程由脚本编排：第一阶段一次生成需求分析和课程设计，后续按规定读取上游，七次调用形成八类物料。--only只选择点名阶段，缺上游就停止。04与05共同读取03，06读取01中的目标和05。确定的是顺序、输入和失败条件，不是正文完全确定。已有文件只按存在与长度skip，最终是否合格仍看质量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10秒。generate_pack在落盘时展开题目标识、强制AI辅助标注并处理缺上游停止。self_check检查文件、T1到T5、目标矩阵、题目覆盖和AI标识。机器通过不等于内容正确；阶段是否真正承接、制度数字是否忠于源材料、材料是否可用于授课仍由Agent和讲师复核。以劳动合同法第九条为例，源依据进入T1，再进入对应T1的测试题，形成可追溯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约2分30秒。业务方只要05学员手册和06测试题，因此指定--only 05,06；现有目录已有产物，现场要重生成必须显式--force。脚本只运行t4和t5，未点名文件不重写，最后输出FILES、MISSING、self_check_exit和RESULT。打开测试题只展示T1到T5、AI标识，避开企业微信和假期余额等旧冲突内容。唯一代码讲解是从期望T1到T5减去已出现目标，有缺失就加入问题并使自检失败。缺必要上游时脚本halt，不擅自补全。若外部模型响应慢，去掉--force展示断点skip与自检，并明确未重新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01 /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04  TRAINING · NAMED 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培训 Agent：用户点名几份，系统就生成几份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八类是ADDIE能力上限，不是默认产物；当前使用现有脱敏业务素材验证流程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76272"/>
            <a:ext cx="1645920" cy="53035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2176272"/>
            <a:ext cx="16459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1">
                <a:solidFill>
                  <a:srgbClr val="00D8FF"/>
                </a:solidFill>
                <a:latin typeface="微软雅黑"/>
                <a:ea typeface="微软雅黑"/>
              </a:rPr>
              <a:t>点名交付物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084832" y="2441448"/>
            <a:ext cx="182880" cy="0"/>
          </a:xfrm>
          <a:prstGeom prst="line">
            <a:avLst/>
          </a:prstGeom>
          <a:ln w="1397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304288" y="2176272"/>
            <a:ext cx="1645920" cy="53035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04288" y="2176272"/>
            <a:ext cx="16459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1">
                <a:solidFill>
                  <a:srgbClr val="00D8FF"/>
                </a:solidFill>
                <a:latin typeface="微软雅黑"/>
                <a:ea typeface="微软雅黑"/>
              </a:rPr>
              <a:t>读取业务素材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0208" y="2441448"/>
            <a:ext cx="182880" cy="0"/>
          </a:xfrm>
          <a:prstGeom prst="line">
            <a:avLst/>
          </a:prstGeom>
          <a:ln w="1397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169664" y="2176272"/>
            <a:ext cx="1645920" cy="53035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9664" y="2176272"/>
            <a:ext cx="16459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1">
                <a:solidFill>
                  <a:srgbClr val="FFA421"/>
                </a:solidFill>
                <a:latin typeface="微软雅黑"/>
                <a:ea typeface="微软雅黑"/>
              </a:rPr>
              <a:t>ADDIE编排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15584" y="2441448"/>
            <a:ext cx="182880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035040" y="2176272"/>
            <a:ext cx="1645920" cy="53035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2176272"/>
            <a:ext cx="16459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1">
                <a:solidFill>
                  <a:srgbClr val="FFA421"/>
                </a:solidFill>
                <a:latin typeface="微软雅黑"/>
                <a:ea typeface="微软雅黑"/>
              </a:rPr>
              <a:t>指定物料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680960" y="2441448"/>
            <a:ext cx="182880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900416" y="2176272"/>
            <a:ext cx="1645920" cy="53035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00416" y="2176272"/>
            <a:ext cx="16459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1">
                <a:solidFill>
                  <a:srgbClr val="26D098"/>
                </a:solidFill>
                <a:latin typeface="微软雅黑"/>
                <a:ea typeface="微软雅黑"/>
              </a:rPr>
              <a:t>结构自检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546336" y="2441448"/>
            <a:ext cx="182880" cy="0"/>
          </a:xfrm>
          <a:prstGeom prst="line">
            <a:avLst/>
          </a:prstGeom>
          <a:ln w="13970">
            <a:solidFill>
              <a:srgbClr val="26D0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765792" y="2176272"/>
            <a:ext cx="1645920" cy="530352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65792" y="2176272"/>
            <a:ext cx="16459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1">
                <a:solidFill>
                  <a:srgbClr val="8C7CFF"/>
                </a:solidFill>
                <a:latin typeface="微软雅黑"/>
                <a:ea typeface="微软雅黑"/>
              </a:rPr>
              <a:t>讲师审核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3035808"/>
            <a:ext cx="1938528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3035808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0D8FF"/>
                </a:solidFill>
                <a:latin typeface="微软雅黑"/>
                <a:ea typeface="微软雅黑"/>
              </a:rPr>
              <a:t>01 需求分析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578608" y="3035808"/>
            <a:ext cx="1938528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78608" y="3035808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0D8FF"/>
                </a:solidFill>
                <a:latin typeface="微软雅黑"/>
                <a:ea typeface="微软雅黑"/>
              </a:rPr>
              <a:t>02 课程设计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718304" y="3035808"/>
            <a:ext cx="1938528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18304" y="3035808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0D8FF"/>
                </a:solidFill>
                <a:latin typeface="微软雅黑"/>
                <a:ea typeface="微软雅黑"/>
              </a:rPr>
              <a:t>03 PPT大纲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0" y="3035808"/>
            <a:ext cx="1938528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3035808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0D8FF"/>
                </a:solidFill>
                <a:latin typeface="微软雅黑"/>
                <a:ea typeface="微软雅黑"/>
              </a:rPr>
              <a:t>04 讲师手册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8912" y="3538728"/>
            <a:ext cx="1938528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3538728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6D098"/>
                </a:solidFill>
                <a:latin typeface="微软雅黑"/>
                <a:ea typeface="微软雅黑"/>
              </a:rPr>
              <a:t>05 学员手册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578608" y="3538728"/>
            <a:ext cx="1938528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578608" y="3538728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6D098"/>
                </a:solidFill>
                <a:latin typeface="微软雅黑"/>
                <a:ea typeface="微软雅黑"/>
              </a:rPr>
              <a:t>06 课后测试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18304" y="3538728"/>
            <a:ext cx="1938528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18304" y="3538728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6D098"/>
                </a:solidFill>
                <a:latin typeface="微软雅黑"/>
                <a:ea typeface="微软雅黑"/>
              </a:rPr>
              <a:t>07 交付指南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858000" y="3538728"/>
            <a:ext cx="1938528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0" y="3538728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6D098"/>
                </a:solidFill>
                <a:latin typeface="微软雅黑"/>
                <a:ea typeface="微软雅黑"/>
              </a:rPr>
              <a:t>08 评估反馈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25712" y="2999232"/>
            <a:ext cx="2615184" cy="1298448"/>
          </a:xfrm>
          <a:prstGeom prst="roundRect">
            <a:avLst>
              <a:gd name="adj" fmla="val 8000"/>
            </a:avLst>
          </a:prstGeom>
          <a:solidFill>
            <a:srgbClr val="201B55">
              <a:alpha val="97000"/>
            </a:srgbClr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25712" y="2999232"/>
            <a:ext cx="73152" cy="1298448"/>
          </a:xfrm>
          <a:prstGeom prst="rect">
            <a:avLst/>
          </a:prstGeom>
          <a:solidFill>
            <a:srgbClr val="8C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08592" y="3127248"/>
            <a:ext cx="22494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C7CFF"/>
                </a:solidFill>
                <a:latin typeface="微软雅黑"/>
                <a:ea typeface="微软雅黑"/>
              </a:rPr>
              <a:t>责任边界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08592" y="3529584"/>
            <a:ext cx="224942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微软雅黑"/>
                <a:ea typeface="微软雅黑"/>
              </a:rPr>
              <a:t>Agent｜生成草稿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微软雅黑"/>
                <a:ea typeface="微软雅黑"/>
              </a:rPr>
              <a:t>脚本｜范围与结构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微软雅黑"/>
                <a:ea typeface="微软雅黑"/>
              </a:rPr>
              <a:t>讲师｜内容与交付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38912" y="4718304"/>
            <a:ext cx="11301984" cy="113385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8368" y="489204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A421"/>
                </a:solidFill>
                <a:latin typeface="微软雅黑"/>
                <a:ea typeface="微软雅黑"/>
              </a:rPr>
              <a:t>不是“自动生成八份材料”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0" y="4828032"/>
            <a:ext cx="78181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20" b="0">
                <a:solidFill>
                  <a:srgbClr val="E9F8FF"/>
                </a:solidFill>
                <a:latin typeface="微软雅黑"/>
                <a:ea typeface="微软雅黑"/>
              </a:rPr>
              <a:t>用户决定生成范围｜缺依据不补写｜生成文件仍是AI辅助草稿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20" b="0">
                <a:solidFill>
                  <a:srgbClr val="E9F8FF"/>
                </a:solidFill>
                <a:latin typeface="微软雅黑"/>
                <a:ea typeface="微软雅黑"/>
              </a:rPr>
              <a:t>未经HR与讲师审核，不进入正式交付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02 /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04  ADDIE · DETERMINISTIC ORCHESTRATION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确定性编排：前阶段输出，成为后阶段指定输入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确定的是调用顺序、文件依赖和失败条件，不是宣称LLM每次生成的正文完全相同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2295144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A + 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2596896"/>
            <a:ext cx="142646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E9F8FF"/>
                </a:solidFill>
                <a:latin typeface="微软雅黑"/>
                <a:ea typeface="微软雅黑"/>
              </a:rPr>
              <a:t>01需求分析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E9F8FF"/>
                </a:solidFill>
                <a:latin typeface="微软雅黑"/>
                <a:ea typeface="微软雅黑"/>
              </a:rPr>
              <a:t>02课程设计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084832" y="2679192"/>
            <a:ext cx="182880" cy="0"/>
          </a:xfrm>
          <a:prstGeom prst="line">
            <a:avLst/>
          </a:prstGeom>
          <a:ln w="1397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304288" y="2194560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14016" y="2295144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14016" y="2596896"/>
            <a:ext cx="142646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E9F8FF"/>
                </a:solidFill>
                <a:latin typeface="微软雅黑"/>
                <a:ea typeface="微软雅黑"/>
              </a:rPr>
              <a:t>03 PPT大纲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950208" y="2679192"/>
            <a:ext cx="182880" cy="0"/>
          </a:xfrm>
          <a:prstGeom prst="line">
            <a:avLst/>
          </a:prstGeom>
          <a:ln w="1397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169664" y="2194560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79392" y="2295144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A421"/>
                </a:solidFill>
                <a:latin typeface="微软雅黑"/>
                <a:ea typeface="微软雅黑"/>
              </a:rPr>
              <a:t>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79392" y="2596896"/>
            <a:ext cx="142646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E9F8FF"/>
                </a:solidFill>
                <a:latin typeface="微软雅黑"/>
                <a:ea typeface="微软雅黑"/>
              </a:rPr>
              <a:t>04讲师手册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E9F8FF"/>
                </a:solidFill>
                <a:latin typeface="微软雅黑"/>
                <a:ea typeface="微软雅黑"/>
              </a:rPr>
              <a:t>05学员手册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15584" y="2679192"/>
            <a:ext cx="182880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035040" y="2194560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2295144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A421"/>
                </a:solidFill>
                <a:latin typeface="微软雅黑"/>
                <a:ea typeface="微软雅黑"/>
              </a:rPr>
              <a:t>D + 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44768" y="2596896"/>
            <a:ext cx="142646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E9F8FF"/>
                </a:solidFill>
                <a:latin typeface="微软雅黑"/>
                <a:ea typeface="微软雅黑"/>
              </a:rPr>
              <a:t>06课后测试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680960" y="2679192"/>
            <a:ext cx="182880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7900416" y="2194560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10144" y="2295144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6D098"/>
                </a:solidFill>
                <a:latin typeface="微软雅黑"/>
                <a:ea typeface="微软雅黑"/>
              </a:rPr>
              <a:t>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10144" y="2596896"/>
            <a:ext cx="142646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E9F8FF"/>
                </a:solidFill>
                <a:latin typeface="微软雅黑"/>
                <a:ea typeface="微软雅黑"/>
              </a:rPr>
              <a:t>07交付指南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546336" y="2679192"/>
            <a:ext cx="182880" cy="0"/>
          </a:xfrm>
          <a:prstGeom prst="line">
            <a:avLst/>
          </a:prstGeom>
          <a:ln w="13970">
            <a:solidFill>
              <a:srgbClr val="26D0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9765792" y="2194560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75520" y="2295144"/>
            <a:ext cx="142646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6D098"/>
                </a:solidFill>
                <a:latin typeface="微软雅黑"/>
                <a:ea typeface="微软雅黑"/>
              </a:rPr>
              <a:t>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2596896"/>
            <a:ext cx="142646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E9F8FF"/>
                </a:solidFill>
                <a:latin typeface="微软雅黑"/>
                <a:ea typeface="微软雅黑"/>
              </a:rPr>
              <a:t>08评估反馈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8912" y="3511296"/>
            <a:ext cx="3584448" cy="1389888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8912" y="3511296"/>
            <a:ext cx="73152" cy="1389888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2" y="3639312"/>
            <a:ext cx="32186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D8FF"/>
                </a:solidFill>
                <a:latin typeface="微软雅黑"/>
                <a:ea typeface="微软雅黑"/>
              </a:rPr>
              <a:t>点名生成｜--only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" y="4041648"/>
            <a:ext cx="3218688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用户只要05、06，就只选择对应阶段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缺必要上游立即停止，不扩成全套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7680" y="3511296"/>
            <a:ext cx="3584448" cy="1389888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7680" y="3511296"/>
            <a:ext cx="73152" cy="1389888"/>
          </a:xfrm>
          <a:prstGeom prst="rect">
            <a:avLst/>
          </a:prstGeom>
          <a:solidFill>
            <a:srgbClr val="FFA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80560" y="3639312"/>
            <a:ext cx="32186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A421"/>
                </a:solidFill>
                <a:latin typeface="微软雅黑"/>
                <a:ea typeface="微软雅黑"/>
              </a:rPr>
              <a:t>单一内容源｜防漂移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80560" y="4041648"/>
            <a:ext cx="3218688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04、05共同读取03 PPT大纲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06读取01中的T1—T5与05学员手册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56448" y="3511296"/>
            <a:ext cx="3584448" cy="1389888"/>
          </a:xfrm>
          <a:prstGeom prst="roundRect">
            <a:avLst>
              <a:gd name="adj" fmla="val 8000"/>
            </a:avLst>
          </a:prstGeom>
          <a:solidFill>
            <a:srgbClr val="085057">
              <a:alpha val="97000"/>
            </a:srgbClr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56448" y="3511296"/>
            <a:ext cx="73152" cy="1389888"/>
          </a:xfrm>
          <a:prstGeom prst="rect">
            <a:avLst/>
          </a:prstGeom>
          <a:solidFill>
            <a:srgbClr val="26D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39328" y="3639312"/>
            <a:ext cx="32186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6D098"/>
                </a:solidFill>
                <a:latin typeface="微软雅黑"/>
                <a:ea typeface="微软雅黑"/>
              </a:rPr>
              <a:t>断点与重生成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39328" y="4041648"/>
            <a:ext cx="3218688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已有且长度达标的文件默认skip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skip≠合格｜重生成必须显式--force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8912" y="5193792"/>
            <a:ext cx="11301984" cy="74980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5193792"/>
            <a:ext cx="1088136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80" b="1">
                <a:solidFill>
                  <a:srgbClr val="8C7CFF"/>
                </a:solidFill>
                <a:latin typeface="微软雅黑"/>
                <a:ea typeface="微软雅黑"/>
              </a:rPr>
              <a:t>7次阶段调用 → 8类物料｜阶段一一次产生01+02｜后续阶段只读取规定上游，不依赖会话记忆承接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03 /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04  QUALITY GATE · MACHINE + HUMAN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生成不等于交付：结构由机器检查，内容由讲师终审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把机器能稳定判断的规则写进脚本；语义准确性、业务可用性和最终发布仍由人确认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3520440" cy="2322576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" y="2194560"/>
            <a:ext cx="73152" cy="2322576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2322576"/>
            <a:ext cx="3154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D8FF"/>
                </a:solidFill>
                <a:latin typeface="微软雅黑"/>
                <a:ea typeface="微软雅黑"/>
              </a:rPr>
              <a:t>落盘强制｜generate_pack.py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2724912"/>
            <a:ext cx="3154680" cy="1682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【T1】→【对应培训目标T1】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每份强制追加AI辅助标识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缺必要上游输出halted_at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只按点名范围写文件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34256" y="2194560"/>
            <a:ext cx="3520440" cy="2322576"/>
          </a:xfrm>
          <a:prstGeom prst="roundRect">
            <a:avLst>
              <a:gd name="adj" fmla="val 8000"/>
            </a:avLst>
          </a:prstGeom>
          <a:solidFill>
            <a:srgbClr val="085057">
              <a:alpha val="97000"/>
            </a:srgbClr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34256" y="2194560"/>
            <a:ext cx="73152" cy="2322576"/>
          </a:xfrm>
          <a:prstGeom prst="rect">
            <a:avLst/>
          </a:prstGeom>
          <a:solidFill>
            <a:srgbClr val="26D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17136" y="2322576"/>
            <a:ext cx="3154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6D098"/>
                </a:solidFill>
                <a:latin typeface="微软雅黑"/>
                <a:ea typeface="微软雅黑"/>
              </a:rPr>
              <a:t>机器自检｜self_check.py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17136" y="2724912"/>
            <a:ext cx="3154680" cy="1682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文件存在且有效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T1—T5是否齐全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目标矩阵与题目覆盖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AI辅助标识是否存在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2194560"/>
            <a:ext cx="3511296" cy="2322576"/>
          </a:xfrm>
          <a:prstGeom prst="roundRect">
            <a:avLst>
              <a:gd name="adj" fmla="val 8000"/>
            </a:avLst>
          </a:prstGeom>
          <a:solidFill>
            <a:srgbClr val="201B55">
              <a:alpha val="97000"/>
            </a:srgbClr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2194560"/>
            <a:ext cx="73152" cy="2322576"/>
          </a:xfrm>
          <a:prstGeom prst="rect">
            <a:avLst/>
          </a:prstGeom>
          <a:solidFill>
            <a:srgbClr val="8C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0" y="2322576"/>
            <a:ext cx="314553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C7CFF"/>
                </a:solidFill>
                <a:latin typeface="微软雅黑"/>
                <a:ea typeface="微软雅黑"/>
              </a:rPr>
              <a:t>人工终审｜Agent + 讲师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724912"/>
            <a:ext cx="3145536" cy="1682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阶段语义是否真正承接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制度数字是否忠于源材料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讲师手册是否只有要点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50" b="0">
                <a:solidFill>
                  <a:srgbClr val="E9F8FF"/>
                </a:solidFill>
                <a:latin typeface="微软雅黑"/>
                <a:ea typeface="微软雅黑"/>
              </a:rPr>
              <a:t>是否适合真实授课与发布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8912" y="4828032"/>
            <a:ext cx="2651760" cy="84124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7784" y="4919472"/>
            <a:ext cx="7132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00D8FF"/>
                </a:solidFill>
                <a:latin typeface="微软雅黑"/>
                <a:ea typeface="微软雅黑"/>
              </a:rPr>
              <a:t>源材料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" y="5221224"/>
            <a:ext cx="232257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E9F8FF"/>
                </a:solidFill>
                <a:latin typeface="微软雅黑"/>
                <a:ea typeface="微软雅黑"/>
              </a:rPr>
              <a:t>《劳动合同法》第九条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090672" y="5248656"/>
            <a:ext cx="182880" cy="0"/>
          </a:xfrm>
          <a:prstGeom prst="line">
            <a:avLst/>
          </a:prstGeom>
          <a:ln w="1397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319272" y="4828032"/>
            <a:ext cx="2651760" cy="84124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38144" y="4919472"/>
            <a:ext cx="7132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A421"/>
                </a:solidFill>
                <a:latin typeface="微软雅黑"/>
                <a:ea typeface="微软雅黑"/>
              </a:rPr>
              <a:t>培训目标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83864" y="5221224"/>
            <a:ext cx="232257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E9F8FF"/>
                </a:solidFill>
                <a:latin typeface="微软雅黑"/>
                <a:ea typeface="微软雅黑"/>
              </a:rPr>
              <a:t>T1｜理解入职合规原则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971032" y="5248656"/>
            <a:ext cx="182880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199631" y="4828032"/>
            <a:ext cx="2651760" cy="84124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18503" y="4919472"/>
            <a:ext cx="7132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26D098"/>
                </a:solidFill>
                <a:latin typeface="微软雅黑"/>
                <a:ea typeface="微软雅黑"/>
              </a:rPr>
              <a:t>课后考核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64223" y="5221224"/>
            <a:ext cx="232257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E9F8FF"/>
                </a:solidFill>
                <a:latin typeface="微软雅黑"/>
                <a:ea typeface="微软雅黑"/>
              </a:rPr>
              <a:t>题目标注对应培训目标T1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851391" y="5248656"/>
            <a:ext cx="182880" cy="0"/>
          </a:xfrm>
          <a:prstGeom prst="line">
            <a:avLst/>
          </a:prstGeom>
          <a:ln w="13970">
            <a:solidFill>
              <a:srgbClr val="26D0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079992" y="4828032"/>
            <a:ext cx="2651760" cy="84124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98864" y="4919472"/>
            <a:ext cx="7132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8C7CFF"/>
                </a:solidFill>
                <a:latin typeface="微软雅黑"/>
                <a:ea typeface="微软雅黑"/>
              </a:rPr>
              <a:t>交付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4584" y="5221224"/>
            <a:ext cx="232257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E9F8FF"/>
                </a:solidFill>
                <a:latin typeface="微软雅黑"/>
                <a:ea typeface="微软雅黑"/>
              </a:rPr>
              <a:t>讲师复核后发布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04 /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4663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04  NAMED GENERATION · LIVE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只生成05、06：范围不扩张，缺上游就停止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现场需求：围绕入职流程，只重新生成学员手册和课后测试题；本页保留全场唯一一段代码讲解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6583680" cy="749808"/>
          </a:xfrm>
          <a:prstGeom prst="roundRect">
            <a:avLst>
              <a:gd name="adj" fmla="val 8000"/>
            </a:avLst>
          </a:prstGeom>
          <a:solidFill>
            <a:srgbClr val="00112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322576"/>
            <a:ext cx="618134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40" b="1">
                <a:solidFill>
                  <a:srgbClr val="00D8FF"/>
                </a:solidFill>
                <a:latin typeface="微软雅黑"/>
                <a:ea typeface="微软雅黑"/>
              </a:rPr>
              <a:t>主命令｜已有上游与产物，显式 --force 重生成点名文件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2615184"/>
            <a:ext cx="61813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80" b="0">
                <a:solidFill>
                  <a:srgbClr val="E9F8FF"/>
                </a:solidFill>
                <a:latin typeface="Courier New"/>
                <a:ea typeface="Courier New"/>
              </a:rPr>
              <a:t>bash scripts/training-run.sh generate --theme 入职流程 --only 05,06 --force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78624" y="2194560"/>
            <a:ext cx="4462272" cy="74980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70648" y="2331720"/>
            <a:ext cx="4069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A421"/>
                </a:solidFill>
                <a:latin typeface="微软雅黑"/>
                <a:ea typeface="微软雅黑"/>
              </a:rPr>
              <a:t>只运行 t4（05）+ t5（06）｜未点名文件不重写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8912" y="32461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" y="3401568"/>
            <a:ext cx="411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0D8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" y="3364992"/>
            <a:ext cx="2697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40" b="1">
                <a:solidFill>
                  <a:srgbClr val="E9F8FF"/>
                </a:solidFill>
                <a:latin typeface="微软雅黑"/>
                <a:ea typeface="微软雅黑"/>
              </a:rPr>
              <a:t>范围验证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3840480"/>
            <a:ext cx="316382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60" b="0">
                <a:solidFill>
                  <a:srgbClr val="E9F8FF"/>
                </a:solidFill>
                <a:latin typeface="微软雅黑"/>
                <a:ea typeface="微软雅黑"/>
              </a:rPr>
              <a:t>FILES只统计05、06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60" b="0">
                <a:solidFill>
                  <a:srgbClr val="E9F8FF"/>
                </a:solidFill>
                <a:latin typeface="微软雅黑"/>
                <a:ea typeface="微软雅黑"/>
              </a:rPr>
              <a:t>未点名01—04、07、08不重写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61104" y="32461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085057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25696" y="3401568"/>
            <a:ext cx="411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6D098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55464" y="3364992"/>
            <a:ext cx="2697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40" b="1">
                <a:solidFill>
                  <a:srgbClr val="E9F8FF"/>
                </a:solidFill>
                <a:latin typeface="微软雅黑"/>
                <a:ea typeface="微软雅黑"/>
              </a:rPr>
              <a:t>质量验证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62272" y="3840480"/>
            <a:ext cx="316382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60" b="0">
                <a:solidFill>
                  <a:srgbClr val="E9F8FF"/>
                </a:solidFill>
                <a:latin typeface="微软雅黑"/>
                <a:ea typeface="微软雅黑"/>
              </a:rPr>
              <a:t>检查T1—T5与AI标识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60" b="0">
                <a:solidFill>
                  <a:srgbClr val="E9F8FF"/>
                </a:solidFill>
                <a:latin typeface="微软雅黑"/>
                <a:ea typeface="微软雅黑"/>
              </a:rPr>
              <a:t>self_check_exit决定RESULT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83296" y="324612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561726"/>
          </a:solidFill>
          <a:ln w="12700">
            <a:solidFill>
              <a:srgbClr val="F15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47888" y="3401568"/>
            <a:ext cx="411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15A66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77656" y="3364992"/>
            <a:ext cx="2697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40" b="1">
                <a:solidFill>
                  <a:srgbClr val="E9F8FF"/>
                </a:solidFill>
                <a:latin typeface="微软雅黑"/>
                <a:ea typeface="微软雅黑"/>
              </a:rPr>
              <a:t>失败守卫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3840480"/>
            <a:ext cx="3163824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60" b="0">
                <a:solidFill>
                  <a:srgbClr val="E9F8FF"/>
                </a:solidFill>
                <a:latin typeface="微软雅黑"/>
                <a:ea typeface="微软雅黑"/>
              </a:rPr>
              <a:t>缺03或01等必要上游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60" b="0">
                <a:solidFill>
                  <a:srgbClr val="E9F8FF"/>
                </a:solidFill>
                <a:latin typeface="微软雅黑"/>
                <a:ea typeface="微软雅黑"/>
              </a:rPr>
              <a:t>halted_at + RESULT: failure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4846320"/>
            <a:ext cx="7589520" cy="1097280"/>
          </a:xfrm>
          <a:prstGeom prst="roundRect">
            <a:avLst>
              <a:gd name="adj" fmla="val 8000"/>
            </a:avLst>
          </a:prstGeom>
          <a:solidFill>
            <a:srgbClr val="00112C"/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4965192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40" b="1">
                <a:solidFill>
                  <a:srgbClr val="8C7CFF"/>
                </a:solidFill>
                <a:latin typeface="微软雅黑"/>
                <a:ea typeface="微软雅黑"/>
              </a:rPr>
              <a:t>唯一代码｜目标覆盖差集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248656"/>
            <a:ext cx="716889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75000"/>
              </a:lnSpc>
              <a:spcAft>
                <a:spcPts val="200"/>
              </a:spcAft>
            </a:pPr>
            <a:r>
              <a:rPr sz="810" b="0">
                <a:solidFill>
                  <a:srgbClr val="E9F8FF"/>
                </a:solidFill>
                <a:latin typeface="Courier New"/>
                <a:ea typeface="Courier New"/>
              </a:rPr>
              <a:t>found = set(T_GOAL.findall(text))</a:t>
            </a:r>
          </a:p>
          <a:p>
            <a:pPr algn="l">
              <a:lnSpc>
                <a:spcPct val="75000"/>
              </a:lnSpc>
              <a:spcAft>
                <a:spcPts val="200"/>
              </a:spcAft>
            </a:pPr>
            <a:r>
              <a:rPr sz="810" b="0">
                <a:solidFill>
                  <a:srgbClr val="E9F8FF"/>
                </a:solidFill>
                <a:latin typeface="Courier New"/>
                <a:ea typeface="Courier New"/>
              </a:rPr>
              <a:t>expected = {str(i) for i in range(1, 6)}</a:t>
            </a:r>
          </a:p>
          <a:p>
            <a:pPr algn="l">
              <a:lnSpc>
                <a:spcPct val="75000"/>
              </a:lnSpc>
              <a:spcAft>
                <a:spcPts val="200"/>
              </a:spcAft>
            </a:pPr>
            <a:r>
              <a:rPr sz="810" b="0">
                <a:solidFill>
                  <a:srgbClr val="E9F8FF"/>
                </a:solidFill>
                <a:latin typeface="Courier New"/>
                <a:ea typeface="Courier New"/>
              </a:rPr>
              <a:t>missing = sorted(expected - found)</a:t>
            </a:r>
          </a:p>
          <a:p>
            <a:pPr algn="l">
              <a:lnSpc>
                <a:spcPct val="75000"/>
              </a:lnSpc>
              <a:spcAft>
                <a:spcPts val="200"/>
              </a:spcAft>
            </a:pPr>
            <a:r>
              <a:rPr sz="810" b="0">
                <a:solidFill>
                  <a:srgbClr val="E9F8FF"/>
                </a:solidFill>
                <a:latin typeface="Courier New"/>
                <a:ea typeface="Courier New"/>
              </a:rPr>
              <a:t>if missing: problems.append('测试题未覆盖培训目标T' + ','.join(missing))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02752" y="4846320"/>
            <a:ext cx="3438144" cy="1097280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85632" y="4974336"/>
            <a:ext cx="3063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FA421"/>
                </a:solidFill>
                <a:latin typeface="微软雅黑"/>
                <a:ea typeface="微软雅黑"/>
              </a:rPr>
              <a:t>现场备用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85632" y="5276088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E9F8FF"/>
                </a:solidFill>
                <a:latin typeface="微软雅黑"/>
                <a:ea typeface="微软雅黑"/>
              </a:rPr>
              <a:t>模型响应慢：去掉 --force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E9F8FF"/>
                </a:solidFill>
                <a:latin typeface="微软雅黑"/>
                <a:ea typeface="微软雅黑"/>
              </a:rPr>
              <a:t>验证断点skip + partial自检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E9F8FF"/>
                </a:solidFill>
                <a:latin typeface="微软雅黑"/>
                <a:ea typeface="微软雅黑"/>
              </a:rPr>
              <a:t>明确说明“未重新生成”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小慧 · 培训模块技能演示完善版</dc:title>
  <dc:subject>点名生成、确定性编排、素材边界、结构自检与讲师终审</dc:subject>
  <dc:creator>小慧项目团队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